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9" d="100"/>
          <a:sy n="59" d="100"/>
        </p:scale>
        <p:origin x="940"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tin Mali" userId="883c5bcd70896aa9" providerId="LiveId" clId="{75BF80D2-5BF6-44F2-A173-C765B1D31DF5}"/>
    <pc:docChg chg="undo custSel modSld">
      <pc:chgData name="Nitin Mali" userId="883c5bcd70896aa9" providerId="LiveId" clId="{75BF80D2-5BF6-44F2-A173-C765B1D31DF5}" dt="2026-08-24T14:28:41.377" v="345"/>
      <pc:docMkLst>
        <pc:docMk/>
      </pc:docMkLst>
      <pc:sldChg chg="addSp delSp modSp mod">
        <pc:chgData name="Nitin Mali" userId="883c5bcd70896aa9" providerId="LiveId" clId="{75BF80D2-5BF6-44F2-A173-C765B1D31DF5}" dt="2026-08-24T14:27:59.973" v="327"/>
        <pc:sldMkLst>
          <pc:docMk/>
          <pc:sldMk cId="0" sldId="256"/>
        </pc:sldMkLst>
        <pc:spChg chg="mod">
          <ac:chgData name="Nitin Mali" userId="883c5bcd70896aa9" providerId="LiveId" clId="{75BF80D2-5BF6-44F2-A173-C765B1D31DF5}" dt="2026-08-24T14:27:59.973" v="327"/>
          <ac:spMkLst>
            <pc:docMk/>
            <pc:sldMk cId="0" sldId="256"/>
            <ac:spMk id="4" creationId="{00000000-0000-0000-0000-000000000000}"/>
          </ac:spMkLst>
        </pc:spChg>
        <pc:spChg chg="add del mod">
          <ac:chgData name="Nitin Mali" userId="883c5bcd70896aa9" providerId="LiveId" clId="{75BF80D2-5BF6-44F2-A173-C765B1D31DF5}" dt="2026-08-24T14:21:35.604" v="161" actId="20577"/>
          <ac:spMkLst>
            <pc:docMk/>
            <pc:sldMk cId="0" sldId="256"/>
            <ac:spMk id="7" creationId="{00000000-0000-0000-0000-000000000000}"/>
          </ac:spMkLst>
        </pc:spChg>
      </pc:sldChg>
      <pc:sldChg chg="delSp modSp mod">
        <pc:chgData name="Nitin Mali" userId="883c5bcd70896aa9" providerId="LiveId" clId="{75BF80D2-5BF6-44F2-A173-C765B1D31DF5}" dt="2026-08-24T14:28:17.025" v="333"/>
        <pc:sldMkLst>
          <pc:docMk/>
          <pc:sldMk cId="0" sldId="258"/>
        </pc:sldMkLst>
        <pc:spChg chg="del mod">
          <ac:chgData name="Nitin Mali" userId="883c5bcd70896aa9" providerId="LiveId" clId="{75BF80D2-5BF6-44F2-A173-C765B1D31DF5}" dt="2026-08-24T14:28:17.025" v="333"/>
          <ac:spMkLst>
            <pc:docMk/>
            <pc:sldMk cId="0" sldId="258"/>
            <ac:spMk id="18" creationId="{00000000-0000-0000-0000-000000000000}"/>
          </ac:spMkLst>
        </pc:spChg>
      </pc:sldChg>
      <pc:sldChg chg="delSp modSp mod">
        <pc:chgData name="Nitin Mali" userId="883c5bcd70896aa9" providerId="LiveId" clId="{75BF80D2-5BF6-44F2-A173-C765B1D31DF5}" dt="2026-08-24T14:28:14.620" v="330"/>
        <pc:sldMkLst>
          <pc:docMk/>
          <pc:sldMk cId="0" sldId="259"/>
        </pc:sldMkLst>
        <pc:spChg chg="del mod">
          <ac:chgData name="Nitin Mali" userId="883c5bcd70896aa9" providerId="LiveId" clId="{75BF80D2-5BF6-44F2-A173-C765B1D31DF5}" dt="2026-08-24T14:28:14.620" v="330"/>
          <ac:spMkLst>
            <pc:docMk/>
            <pc:sldMk cId="0" sldId="259"/>
            <ac:spMk id="26" creationId="{00000000-0000-0000-0000-000000000000}"/>
          </ac:spMkLst>
        </pc:spChg>
      </pc:sldChg>
      <pc:sldChg chg="delSp modSp mod">
        <pc:chgData name="Nitin Mali" userId="883c5bcd70896aa9" providerId="LiveId" clId="{75BF80D2-5BF6-44F2-A173-C765B1D31DF5}" dt="2026-08-24T14:22:37.771" v="165"/>
        <pc:sldMkLst>
          <pc:docMk/>
          <pc:sldMk cId="0" sldId="260"/>
        </pc:sldMkLst>
        <pc:spChg chg="del mod">
          <ac:chgData name="Nitin Mali" userId="883c5bcd70896aa9" providerId="LiveId" clId="{75BF80D2-5BF6-44F2-A173-C765B1D31DF5}" dt="2026-08-24T14:22:37.771" v="165"/>
          <ac:spMkLst>
            <pc:docMk/>
            <pc:sldMk cId="0" sldId="260"/>
            <ac:spMk id="15" creationId="{00000000-0000-0000-0000-000000000000}"/>
          </ac:spMkLst>
        </pc:spChg>
      </pc:sldChg>
      <pc:sldChg chg="delSp modSp mod">
        <pc:chgData name="Nitin Mali" userId="883c5bcd70896aa9" providerId="LiveId" clId="{75BF80D2-5BF6-44F2-A173-C765B1D31DF5}" dt="2026-08-24T14:22:42.839" v="168"/>
        <pc:sldMkLst>
          <pc:docMk/>
          <pc:sldMk cId="0" sldId="262"/>
        </pc:sldMkLst>
        <pc:spChg chg="del mod">
          <ac:chgData name="Nitin Mali" userId="883c5bcd70896aa9" providerId="LiveId" clId="{75BF80D2-5BF6-44F2-A173-C765B1D31DF5}" dt="2026-08-24T14:22:42.839" v="168"/>
          <ac:spMkLst>
            <pc:docMk/>
            <pc:sldMk cId="0" sldId="262"/>
            <ac:spMk id="24" creationId="{00000000-0000-0000-0000-000000000000}"/>
          </ac:spMkLst>
        </pc:spChg>
      </pc:sldChg>
      <pc:sldChg chg="delSp modSp mod">
        <pc:chgData name="Nitin Mali" userId="883c5bcd70896aa9" providerId="LiveId" clId="{75BF80D2-5BF6-44F2-A173-C765B1D31DF5}" dt="2026-08-24T14:28:29.649" v="336"/>
        <pc:sldMkLst>
          <pc:docMk/>
          <pc:sldMk cId="0" sldId="265"/>
        </pc:sldMkLst>
        <pc:spChg chg="del mod">
          <ac:chgData name="Nitin Mali" userId="883c5bcd70896aa9" providerId="LiveId" clId="{75BF80D2-5BF6-44F2-A173-C765B1D31DF5}" dt="2026-08-24T14:28:29.649" v="336"/>
          <ac:spMkLst>
            <pc:docMk/>
            <pc:sldMk cId="0" sldId="265"/>
            <ac:spMk id="27" creationId="{00000000-0000-0000-0000-000000000000}"/>
          </ac:spMkLst>
        </pc:spChg>
      </pc:sldChg>
      <pc:sldChg chg="delSp modSp mod">
        <pc:chgData name="Nitin Mali" userId="883c5bcd70896aa9" providerId="LiveId" clId="{75BF80D2-5BF6-44F2-A173-C765B1D31DF5}" dt="2026-08-24T14:28:33.742" v="339"/>
        <pc:sldMkLst>
          <pc:docMk/>
          <pc:sldMk cId="0" sldId="268"/>
        </pc:sldMkLst>
        <pc:spChg chg="del mod">
          <ac:chgData name="Nitin Mali" userId="883c5bcd70896aa9" providerId="LiveId" clId="{75BF80D2-5BF6-44F2-A173-C765B1D31DF5}" dt="2026-08-24T14:28:33.742" v="339"/>
          <ac:spMkLst>
            <pc:docMk/>
            <pc:sldMk cId="0" sldId="268"/>
            <ac:spMk id="37" creationId="{00000000-0000-0000-0000-000000000000}"/>
          </ac:spMkLst>
        </pc:spChg>
      </pc:sldChg>
      <pc:sldChg chg="delSp modSp mod">
        <pc:chgData name="Nitin Mali" userId="883c5bcd70896aa9" providerId="LiveId" clId="{75BF80D2-5BF6-44F2-A173-C765B1D31DF5}" dt="2026-08-24T14:28:37.080" v="342"/>
        <pc:sldMkLst>
          <pc:docMk/>
          <pc:sldMk cId="0" sldId="271"/>
        </pc:sldMkLst>
        <pc:spChg chg="del mod">
          <ac:chgData name="Nitin Mali" userId="883c5bcd70896aa9" providerId="LiveId" clId="{75BF80D2-5BF6-44F2-A173-C765B1D31DF5}" dt="2026-08-24T14:28:37.080" v="342"/>
          <ac:spMkLst>
            <pc:docMk/>
            <pc:sldMk cId="0" sldId="271"/>
            <ac:spMk id="49" creationId="{00000000-0000-0000-0000-000000000000}"/>
          </ac:spMkLst>
        </pc:spChg>
      </pc:sldChg>
      <pc:sldChg chg="delSp modSp mod">
        <pc:chgData name="Nitin Mali" userId="883c5bcd70896aa9" providerId="LiveId" clId="{75BF80D2-5BF6-44F2-A173-C765B1D31DF5}" dt="2026-08-24T14:28:41.377" v="345"/>
        <pc:sldMkLst>
          <pc:docMk/>
          <pc:sldMk cId="0" sldId="272"/>
        </pc:sldMkLst>
        <pc:spChg chg="del mod">
          <ac:chgData name="Nitin Mali" userId="883c5bcd70896aa9" providerId="LiveId" clId="{75BF80D2-5BF6-44F2-A173-C765B1D31DF5}" dt="2026-08-24T14:28:41.377" v="345"/>
          <ac:spMkLst>
            <pc:docMk/>
            <pc:sldMk cId="0" sldId="272"/>
            <ac:spMk id="18" creationId="{00000000-0000-0000-0000-000000000000}"/>
          </ac:spMkLst>
        </pc:spChg>
      </pc:sldChg>
      <pc:sldChg chg="delSp modSp mod">
        <pc:chgData name="Nitin Mali" userId="883c5bcd70896aa9" providerId="LiveId" clId="{75BF80D2-5BF6-44F2-A173-C765B1D31DF5}" dt="2026-08-24T14:22:59.364" v="171"/>
        <pc:sldMkLst>
          <pc:docMk/>
          <pc:sldMk cId="0" sldId="278"/>
        </pc:sldMkLst>
        <pc:spChg chg="del mod">
          <ac:chgData name="Nitin Mali" userId="883c5bcd70896aa9" providerId="LiveId" clId="{75BF80D2-5BF6-44F2-A173-C765B1D31DF5}" dt="2026-08-24T14:22:59.364" v="171"/>
          <ac:spMkLst>
            <pc:docMk/>
            <pc:sldMk cId="0" sldId="278"/>
            <ac:spMk id="7" creationId="{00000000-0000-0000-0000-000000000000}"/>
          </ac:spMkLst>
        </pc:spChg>
      </pc:sldChg>
      <pc:sldChg chg="modSp mod">
        <pc:chgData name="Nitin Mali" userId="883c5bcd70896aa9" providerId="LiveId" clId="{75BF80D2-5BF6-44F2-A173-C765B1D31DF5}" dt="2026-08-24T14:25:14.527" v="325" actId="20577"/>
        <pc:sldMkLst>
          <pc:docMk/>
          <pc:sldMk cId="0" sldId="280"/>
        </pc:sldMkLst>
        <pc:spChg chg="mod">
          <ac:chgData name="Nitin Mali" userId="883c5bcd70896aa9" providerId="LiveId" clId="{75BF80D2-5BF6-44F2-A173-C765B1D31DF5}" dt="2026-08-24T14:25:14.527" v="325" actId="20577"/>
          <ac:spMkLst>
            <pc:docMk/>
            <pc:sldMk cId="0" sldId="280"/>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1383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project as an AI-assisted study workflow. Replace all bracketed academic metadata before submission. The repository does not provide student, institution, guide, or submission information.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product in one sentence: users upload study content, AI transforms it into study artifacts, and activity is recorded for progress views. The target audience is inferred from the UI and README wording; validate the intended academic segment if needed.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motivation as a workflow problem, not a quantified market claim. Do not add adoption or learning-outcome statistics because the repository contains none.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State the problem clearly and avoid claiming that the system has proven to improve grades. The implemented response is integration: source documents feed summaries, quizzes, flashcards, and tutor context.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 precise: the codebase supports the proposed workflow, but it does not provide a formal comparative evaluation or named existing-system study. Add those only from your report or research sources.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left to right. The key design idea is continuity: the uploaded material is the common context for AI-generated activities, while user activity is persisted for feedback.</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implementation-aligned objectives. They are not outcome metrics. Explain that achievement should be demonstrated through feature walkthroughs and tests, while learning impact requires a separate evaluation.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Distinguish what the code implements from requirements that should be specified in the report. The repository describes local Docker development, not a verified production deployment.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choices in terms of the actual code: FastAPI and async SQLAlchemy support the API/data path, Clerk handles identity, the OpenAI SDK supports configurable providers, and vanilla JS keeps frontend setup lightweight.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Describe the two external dependencies explicitly: Clerk for identity and an OpenAI-compatible LLM provider for generation. The application layer connects the browser to MySQL and the AI layer through REST and SSE.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Emphasize the asynchronous boundary: the upload response is not blocked by extraction. AI generation only proceeds for documents whose processing status is ready. Activity logging and learning progress are persisted alongside study actions.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to orient the examiner before the detailed demonstration. Each module corresponds to a frontend page or backend router/service visible in the repository.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migration defines 11 tables, although the README architecture sketch says 10 tables. Present the migration as the source of truth and flag the README count discrepancy for correction before submission. Primary keys are string UUID-style IDs; foreign keys connect users and learning artifacts.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technical core. Explain the three control points: safe ingestion, deterministic progress updates, and prompt-driven AI generation. The formulas are directly represented in learning_service.py and flashcards.py.</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the actual running application here during the defense. The source files prove that these screens exist, but screenshots are evidence of rendered behavior and were not included in the workspace.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Describe the tests as unit-style and standalone. Do not claim integration, UI, performance, or security test completion unless you run and document those checks. The README badge is a claim that should be verified in the current environment.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intentionally honest. Demonstrate working behavior live or add captured evidence. Do not fill the empty evidence categories with invented metrics.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Separate implementation from recommendation. The repository documents these controls, but production security posture and operational reliability are not demonstrated by the supplied files alone.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limitations are grounded in the repository. The table-count discrepancy is a documentation issue, not necessarily a runtime defect, and should be reconciled before the viva.</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future work connected to current architecture. Prioritize evidence, durable processing, evaluation, and operations before adding unrelated technologies.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not present repository-wide implementation as individual contribution unless it is true. Replace the required fields with the student's own documented work.</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by answering the examiner's four questions: what problem, what was built, what technical design, and what evidence remains to be added. Avoid claiming learning improvement without an evaluation.</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references are repository evidence sources. Add formal external references only if they were actually used. Do not list a paper, dataset, or website merely because it is related to the topic.</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Answer in terms of the implementation. For questions about student contribution, performance, screenshots, deployment, or evaluation, use the required information markers until those facts are documented.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Invite questions. Keep the live demonstration or repository open for follow-up questions about routes, schema, security, and algorithms.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hyperlink" Target="mailto:malinitin.jd@gmail.com" TargetMode="External"/><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F3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82880"/>
          </a:xfrm>
          <a:prstGeom prst="rect">
            <a:avLst/>
          </a:prstGeom>
          <a:solidFill>
            <a:srgbClr val="EB695B"/>
          </a:solidFill>
          <a:ln w="8890">
            <a:solidFill>
              <a:srgbClr val="EB6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503920" y="182880"/>
            <a:ext cx="3685032" cy="6675120"/>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2514" y="658368"/>
            <a:ext cx="5486400" cy="206210"/>
          </a:xfrm>
          <a:prstGeom prst="rect">
            <a:avLst/>
          </a:prstGeom>
          <a:noFill/>
        </p:spPr>
        <p:txBody>
          <a:bodyPr wrap="square" lIns="36576" tIns="18288" rIns="36576" bIns="18288">
            <a:spAutoFit/>
          </a:bodyPr>
          <a:lstStyle/>
          <a:p>
            <a:pPr algn="l"/>
            <a:r>
              <a:rPr lang="en-US" sz="1100" b="1" dirty="0">
                <a:solidFill>
                  <a:srgbClr val="EDB547"/>
                </a:solidFill>
                <a:latin typeface="Aptos"/>
              </a:rPr>
              <a:t>Internship Project Presentation</a:t>
            </a:r>
            <a:endParaRPr sz="1100" b="1" dirty="0">
              <a:solidFill>
                <a:srgbClr val="EDB547"/>
              </a:solidFill>
              <a:latin typeface="Aptos"/>
            </a:endParaRPr>
          </a:p>
        </p:txBody>
      </p:sp>
      <p:sp>
        <p:nvSpPr>
          <p:cNvPr id="5" name="TextBox 4"/>
          <p:cNvSpPr txBox="1"/>
          <p:nvPr/>
        </p:nvSpPr>
        <p:spPr>
          <a:xfrm>
            <a:off x="658368" y="1417320"/>
            <a:ext cx="6949440" cy="1417320"/>
          </a:xfrm>
          <a:prstGeom prst="rect">
            <a:avLst/>
          </a:prstGeom>
          <a:noFill/>
        </p:spPr>
        <p:txBody>
          <a:bodyPr wrap="square" lIns="36576" tIns="18288" rIns="36576" bIns="18288">
            <a:spAutoFit/>
          </a:bodyPr>
          <a:lstStyle/>
          <a:p>
            <a:pPr algn="l"/>
            <a:r>
              <a:rPr sz="3800" b="1">
                <a:solidFill>
                  <a:srgbClr val="FFFFFF"/>
                </a:solidFill>
                <a:latin typeface="Aptos"/>
              </a:rPr>
              <a:t>AI-Powered
Study Buddy</a:t>
            </a:r>
          </a:p>
        </p:txBody>
      </p:sp>
      <p:sp>
        <p:nvSpPr>
          <p:cNvPr id="6" name="TextBox 5"/>
          <p:cNvSpPr txBox="1"/>
          <p:nvPr/>
        </p:nvSpPr>
        <p:spPr>
          <a:xfrm>
            <a:off x="713232" y="3246120"/>
            <a:ext cx="6492240" cy="502920"/>
          </a:xfrm>
          <a:prstGeom prst="rect">
            <a:avLst/>
          </a:prstGeom>
          <a:noFill/>
        </p:spPr>
        <p:txBody>
          <a:bodyPr wrap="square" lIns="36576" tIns="18288" rIns="36576" bIns="18288">
            <a:spAutoFit/>
          </a:bodyPr>
          <a:lstStyle/>
          <a:p>
            <a:pPr algn="l"/>
            <a:r>
              <a:rPr sz="1900" b="0">
                <a:solidFill>
                  <a:srgbClr val="CEDCE8"/>
                </a:solidFill>
                <a:latin typeface="Aptos"/>
              </a:rPr>
              <a:t>A full-stack learning assistant for document-grounded study</a:t>
            </a:r>
          </a:p>
        </p:txBody>
      </p:sp>
      <p:sp>
        <p:nvSpPr>
          <p:cNvPr id="7" name="TextBox 6"/>
          <p:cNvSpPr txBox="1"/>
          <p:nvPr/>
        </p:nvSpPr>
        <p:spPr>
          <a:xfrm>
            <a:off x="731520" y="4582886"/>
            <a:ext cx="6126480" cy="683264"/>
          </a:xfrm>
          <a:prstGeom prst="rect">
            <a:avLst/>
          </a:prstGeom>
          <a:noFill/>
        </p:spPr>
        <p:txBody>
          <a:bodyPr wrap="square" lIns="36576" tIns="18288" rIns="36576" bIns="18288">
            <a:spAutoFit/>
          </a:bodyPr>
          <a:lstStyle/>
          <a:p>
            <a:pPr algn="l"/>
            <a:r>
              <a:rPr sz="1400" b="0" dirty="0">
                <a:solidFill>
                  <a:srgbClr val="FFFFFF"/>
                </a:solidFill>
                <a:latin typeface="Aptos"/>
              </a:rPr>
              <a:t>Student: </a:t>
            </a:r>
            <a:r>
              <a:rPr lang="en-US" sz="1400" dirty="0">
                <a:solidFill>
                  <a:srgbClr val="FFFFFF"/>
                </a:solidFill>
                <a:latin typeface="Aptos"/>
              </a:rPr>
              <a:t>Nitin Mali</a:t>
            </a:r>
            <a:r>
              <a:rPr sz="1400" b="0" dirty="0">
                <a:solidFill>
                  <a:srgbClr val="FFFFFF"/>
                </a:solidFill>
                <a:latin typeface="Aptos"/>
              </a:rPr>
              <a:t>
</a:t>
            </a:r>
            <a:r>
              <a:rPr lang="en-US" sz="1400" dirty="0">
                <a:solidFill>
                  <a:srgbClr val="FFFFFF"/>
                </a:solidFill>
                <a:latin typeface="Aptos"/>
              </a:rPr>
              <a:t>Internship Id</a:t>
            </a:r>
            <a:r>
              <a:rPr sz="1400" b="0" dirty="0">
                <a:solidFill>
                  <a:srgbClr val="FFFFFF"/>
                </a:solidFill>
                <a:latin typeface="Aptos"/>
              </a:rPr>
              <a:t>:</a:t>
            </a:r>
            <a:r>
              <a:rPr lang="en-US" sz="1400" b="0" dirty="0">
                <a:solidFill>
                  <a:srgbClr val="FFFFFF"/>
                </a:solidFill>
                <a:latin typeface="Aptos"/>
              </a:rPr>
              <a:t> INTERNSHIP_17793481406a0eb2acc8261</a:t>
            </a:r>
            <a:r>
              <a:rPr sz="1400" b="0" dirty="0">
                <a:solidFill>
                  <a:srgbClr val="FFFFFF"/>
                </a:solidFill>
                <a:latin typeface="Aptos"/>
              </a:rPr>
              <a:t> 
Academic year / submission date: </a:t>
            </a:r>
            <a:r>
              <a:rPr lang="en-US" sz="1400" b="0" dirty="0">
                <a:solidFill>
                  <a:srgbClr val="FFFFFF"/>
                </a:solidFill>
                <a:latin typeface="Aptos"/>
              </a:rPr>
              <a:t>Aug 2026</a:t>
            </a:r>
            <a:endParaRPr sz="1400" b="0" dirty="0">
              <a:solidFill>
                <a:srgbClr val="FFFFFF"/>
              </a:solidFill>
              <a:latin typeface="Aptos"/>
            </a:endParaRPr>
          </a:p>
        </p:txBody>
      </p:sp>
      <p:sp>
        <p:nvSpPr>
          <p:cNvPr id="8" name="Rounded Rectangle 7"/>
          <p:cNvSpPr/>
          <p:nvPr/>
        </p:nvSpPr>
        <p:spPr>
          <a:xfrm>
            <a:off x="8961120" y="1097280"/>
            <a:ext cx="2468880" cy="685800"/>
          </a:xfrm>
          <a:prstGeom prst="roundRect">
            <a:avLst/>
          </a:prstGeom>
          <a:solidFill>
            <a:srgbClr val="FFF6DC"/>
          </a:solidFill>
          <a:ln w="8890">
            <a:solidFill>
              <a:srgbClr val="EDB5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034272" y="1170432"/>
            <a:ext cx="2322576" cy="539496"/>
          </a:xfrm>
          <a:prstGeom prst="rect">
            <a:avLst/>
          </a:prstGeom>
          <a:noFill/>
        </p:spPr>
        <p:txBody>
          <a:bodyPr wrap="square" lIns="36576" tIns="18288" rIns="36576" bIns="18288">
            <a:spAutoFit/>
          </a:bodyPr>
          <a:lstStyle/>
          <a:p>
            <a:pPr algn="ctr"/>
            <a:r>
              <a:rPr sz="1300" b="1">
                <a:solidFill>
                  <a:srgbClr val="0F1F38"/>
                </a:solidFill>
                <a:latin typeface="Aptos"/>
              </a:rPr>
              <a:t>UPLOAD</a:t>
            </a:r>
          </a:p>
        </p:txBody>
      </p:sp>
      <p:sp>
        <p:nvSpPr>
          <p:cNvPr id="10" name="Rounded Rectangle 9"/>
          <p:cNvSpPr/>
          <p:nvPr/>
        </p:nvSpPr>
        <p:spPr>
          <a:xfrm>
            <a:off x="8961120" y="2148840"/>
            <a:ext cx="2468880" cy="685800"/>
          </a:xfrm>
          <a:prstGeom prst="roundRect">
            <a:avLst/>
          </a:prstGeom>
          <a:solidFill>
            <a:srgbClr val="E1F6F5"/>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34272" y="2221992"/>
            <a:ext cx="2322576" cy="539496"/>
          </a:xfrm>
          <a:prstGeom prst="rect">
            <a:avLst/>
          </a:prstGeom>
          <a:noFill/>
        </p:spPr>
        <p:txBody>
          <a:bodyPr wrap="square" lIns="36576" tIns="18288" rIns="36576" bIns="18288">
            <a:spAutoFit/>
          </a:bodyPr>
          <a:lstStyle/>
          <a:p>
            <a:pPr algn="ctr"/>
            <a:r>
              <a:rPr sz="1300" b="1">
                <a:solidFill>
                  <a:srgbClr val="0F1F38"/>
                </a:solidFill>
                <a:latin typeface="Aptos"/>
              </a:rPr>
              <a:t>UNDERSTAND</a:t>
            </a:r>
          </a:p>
        </p:txBody>
      </p:sp>
      <p:sp>
        <p:nvSpPr>
          <p:cNvPr id="12" name="Rounded Rectangle 11"/>
          <p:cNvSpPr/>
          <p:nvPr/>
        </p:nvSpPr>
        <p:spPr>
          <a:xfrm>
            <a:off x="8961120" y="3200400"/>
            <a:ext cx="2468880" cy="685800"/>
          </a:xfrm>
          <a:prstGeom prst="roundRect">
            <a:avLst/>
          </a:prstGeom>
          <a:solidFill>
            <a:srgbClr val="FDEBE8"/>
          </a:solidFill>
          <a:ln w="8890">
            <a:solidFill>
              <a:srgbClr val="EB6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034272" y="3273552"/>
            <a:ext cx="2322576" cy="539496"/>
          </a:xfrm>
          <a:prstGeom prst="rect">
            <a:avLst/>
          </a:prstGeom>
          <a:noFill/>
        </p:spPr>
        <p:txBody>
          <a:bodyPr wrap="square" lIns="36576" tIns="18288" rIns="36576" bIns="18288">
            <a:spAutoFit/>
          </a:bodyPr>
          <a:lstStyle/>
          <a:p>
            <a:pPr algn="ctr"/>
            <a:r>
              <a:rPr sz="1300" b="1">
                <a:solidFill>
                  <a:srgbClr val="0F1F38"/>
                </a:solidFill>
                <a:latin typeface="Aptos"/>
              </a:rPr>
              <a:t>PRACTICE</a:t>
            </a:r>
          </a:p>
        </p:txBody>
      </p:sp>
      <p:sp>
        <p:nvSpPr>
          <p:cNvPr id="14" name="Rounded Rectangle 13"/>
          <p:cNvSpPr/>
          <p:nvPr/>
        </p:nvSpPr>
        <p:spPr>
          <a:xfrm>
            <a:off x="8961120" y="4251960"/>
            <a:ext cx="2468880" cy="685800"/>
          </a:xfrm>
          <a:prstGeom prst="roundRect">
            <a:avLst/>
          </a:prstGeom>
          <a:solidFill>
            <a:srgbClr val="FFFFFF"/>
          </a:solidFill>
          <a:ln w="8890">
            <a:solidFill>
              <a:srgbClr val="EDB5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034272" y="4325112"/>
            <a:ext cx="2322576" cy="539496"/>
          </a:xfrm>
          <a:prstGeom prst="rect">
            <a:avLst/>
          </a:prstGeom>
          <a:noFill/>
        </p:spPr>
        <p:txBody>
          <a:bodyPr wrap="square" lIns="36576" tIns="18288" rIns="36576" bIns="18288">
            <a:spAutoFit/>
          </a:bodyPr>
          <a:lstStyle/>
          <a:p>
            <a:pPr algn="ctr"/>
            <a:r>
              <a:rPr sz="1300" b="1">
                <a:solidFill>
                  <a:srgbClr val="0F1F38"/>
                </a:solidFill>
                <a:latin typeface="Aptos"/>
              </a:rPr>
              <a:t>IMPROVE</a:t>
            </a:r>
          </a:p>
        </p:txBody>
      </p:sp>
      <p:cxnSp>
        <p:nvCxnSpPr>
          <p:cNvPr id="16" name="Connector 15"/>
          <p:cNvCxnSpPr/>
          <p:nvPr/>
        </p:nvCxnSpPr>
        <p:spPr>
          <a:xfrm>
            <a:off x="10195560" y="1783080"/>
            <a:ext cx="0" cy="320040"/>
          </a:xfrm>
          <a:prstGeom prst="line">
            <a:avLst/>
          </a:prstGeom>
          <a:ln w="2286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195560" y="2834640"/>
            <a:ext cx="0" cy="320040"/>
          </a:xfrm>
          <a:prstGeom prst="line">
            <a:avLst/>
          </a:prstGeom>
          <a:ln w="2286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195560" y="3886200"/>
            <a:ext cx="0" cy="320040"/>
          </a:xfrm>
          <a:prstGeom prst="line">
            <a:avLst/>
          </a:prstGeom>
          <a:ln w="22860">
            <a:solidFill>
              <a:srgbClr val="FFFFF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47472"/>
            <a:ext cx="4114800" cy="228600"/>
          </a:xfrm>
          <a:prstGeom prst="rect">
            <a:avLst/>
          </a:prstGeom>
          <a:noFill/>
        </p:spPr>
        <p:txBody>
          <a:bodyPr wrap="square" lIns="36576" tIns="18288" rIns="36576" bIns="18288">
            <a:spAutoFit/>
          </a:bodyPr>
          <a:lstStyle/>
          <a:p>
            <a:pPr algn="l"/>
            <a:r>
              <a:rPr sz="900" b="1">
                <a:solidFill>
                  <a:srgbClr val="009196"/>
                </a:solidFill>
                <a:latin typeface="Aptos"/>
              </a:rPr>
              <a:t>PROJECT DEFENSE</a:t>
            </a:r>
          </a:p>
        </p:txBody>
      </p:sp>
      <p:sp>
        <p:nvSpPr>
          <p:cNvPr id="4" name="TextBox 3"/>
          <p:cNvSpPr txBox="1"/>
          <p:nvPr/>
        </p:nvSpPr>
        <p:spPr>
          <a:xfrm>
            <a:off x="502920" y="658368"/>
            <a:ext cx="10881360" cy="502920"/>
          </a:xfrm>
          <a:prstGeom prst="rect">
            <a:avLst/>
          </a:prstGeom>
          <a:noFill/>
        </p:spPr>
        <p:txBody>
          <a:bodyPr wrap="square" lIns="36576" tIns="18288" rIns="36576" bIns="18288">
            <a:spAutoFit/>
          </a:bodyPr>
          <a:lstStyle/>
          <a:p>
            <a:pPr algn="l"/>
            <a:r>
              <a:rPr sz="2700" b="1">
                <a:solidFill>
                  <a:srgbClr val="0F1F38"/>
                </a:solidFill>
                <a:latin typeface="Aptos"/>
              </a:rPr>
              <a:t>Project Overview</a:t>
            </a:r>
          </a:p>
        </p:txBody>
      </p:sp>
      <p:sp>
        <p:nvSpPr>
          <p:cNvPr id="5" name="TextBox 4"/>
          <p:cNvSpPr txBox="1"/>
          <p:nvPr/>
        </p:nvSpPr>
        <p:spPr>
          <a:xfrm>
            <a:off x="11201400" y="6473952"/>
            <a:ext cx="457200" cy="182880"/>
          </a:xfrm>
          <a:prstGeom prst="rect">
            <a:avLst/>
          </a:prstGeom>
          <a:noFill/>
        </p:spPr>
        <p:txBody>
          <a:bodyPr wrap="square" lIns="36576" tIns="18288" rIns="36576" bIns="18288">
            <a:spAutoFit/>
          </a:bodyPr>
          <a:lstStyle/>
          <a:p>
            <a:pPr algn="r"/>
            <a:r>
              <a:rPr sz="900" b="1">
                <a:solidFill>
                  <a:srgbClr val="5D6C7D"/>
                </a:solidFill>
                <a:latin typeface="Aptos"/>
              </a:rPr>
              <a:t>02</a:t>
            </a:r>
          </a:p>
        </p:txBody>
      </p:sp>
      <p:sp>
        <p:nvSpPr>
          <p:cNvPr id="6" name="TextBox 5"/>
          <p:cNvSpPr txBox="1"/>
          <p:nvPr/>
        </p:nvSpPr>
        <p:spPr>
          <a:xfrm>
            <a:off x="548640" y="1325880"/>
            <a:ext cx="7498079" cy="457200"/>
          </a:xfrm>
          <a:prstGeom prst="rect">
            <a:avLst/>
          </a:prstGeom>
          <a:noFill/>
        </p:spPr>
        <p:txBody>
          <a:bodyPr wrap="square" lIns="36576" tIns="18288" rIns="36576" bIns="18288">
            <a:spAutoFit/>
          </a:bodyPr>
          <a:lstStyle/>
          <a:p>
            <a:pPr algn="l"/>
            <a:r>
              <a:rPr sz="2000" b="1">
                <a:solidFill>
                  <a:srgbClr val="0F1F38"/>
                </a:solidFill>
                <a:latin typeface="Aptos"/>
              </a:rPr>
              <a:t>Study Buddy turns a student's own study material into a connected learning loop.</a:t>
            </a:r>
          </a:p>
        </p:txBody>
      </p:sp>
      <p:sp>
        <p:nvSpPr>
          <p:cNvPr id="7" name="Rounded Rectangle 6"/>
          <p:cNvSpPr/>
          <p:nvPr/>
        </p:nvSpPr>
        <p:spPr>
          <a:xfrm>
            <a:off x="731520" y="2240280"/>
            <a:ext cx="2057400" cy="914400"/>
          </a:xfrm>
          <a:prstGeom prst="roundRect">
            <a:avLst/>
          </a:prstGeom>
          <a:solidFill>
            <a:srgbClr val="FFF6DC"/>
          </a:solidFill>
          <a:ln w="8890">
            <a:solidFill>
              <a:srgbClr val="EDB5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4672" y="2313432"/>
            <a:ext cx="1911095" cy="768096"/>
          </a:xfrm>
          <a:prstGeom prst="rect">
            <a:avLst/>
          </a:prstGeom>
          <a:noFill/>
        </p:spPr>
        <p:txBody>
          <a:bodyPr wrap="square" lIns="36576" tIns="18288" rIns="36576" bIns="18288">
            <a:spAutoFit/>
          </a:bodyPr>
          <a:lstStyle/>
          <a:p>
            <a:pPr algn="ctr"/>
            <a:r>
              <a:rPr sz="1300" b="1">
                <a:solidFill>
                  <a:srgbClr val="0F1F38"/>
                </a:solidFill>
                <a:latin typeface="Aptos"/>
              </a:rPr>
              <a:t>STUDY
MATERIAL</a:t>
            </a:r>
          </a:p>
        </p:txBody>
      </p:sp>
      <p:sp>
        <p:nvSpPr>
          <p:cNvPr id="9" name="Rounded Rectangle 8"/>
          <p:cNvSpPr/>
          <p:nvPr/>
        </p:nvSpPr>
        <p:spPr>
          <a:xfrm>
            <a:off x="3246120" y="2240280"/>
            <a:ext cx="2057400" cy="914400"/>
          </a:xfrm>
          <a:prstGeom prst="roundRect">
            <a:avLst/>
          </a:prstGeom>
          <a:solidFill>
            <a:srgbClr val="E1F6F5"/>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19272" y="2313432"/>
            <a:ext cx="1911095" cy="768096"/>
          </a:xfrm>
          <a:prstGeom prst="rect">
            <a:avLst/>
          </a:prstGeom>
          <a:noFill/>
        </p:spPr>
        <p:txBody>
          <a:bodyPr wrap="square" lIns="36576" tIns="18288" rIns="36576" bIns="18288">
            <a:spAutoFit/>
          </a:bodyPr>
          <a:lstStyle/>
          <a:p>
            <a:pPr algn="ctr"/>
            <a:r>
              <a:rPr sz="1300" b="1">
                <a:solidFill>
                  <a:srgbClr val="0F1F38"/>
                </a:solidFill>
                <a:latin typeface="Aptos"/>
              </a:rPr>
              <a:t>AI
PROCESSING</a:t>
            </a:r>
          </a:p>
        </p:txBody>
      </p:sp>
      <p:sp>
        <p:nvSpPr>
          <p:cNvPr id="11" name="Rounded Rectangle 10"/>
          <p:cNvSpPr/>
          <p:nvPr/>
        </p:nvSpPr>
        <p:spPr>
          <a:xfrm>
            <a:off x="5760720" y="2240280"/>
            <a:ext cx="2057400" cy="914400"/>
          </a:xfrm>
          <a:prstGeom prst="roundRect">
            <a:avLst/>
          </a:prstGeom>
          <a:solidFill>
            <a:srgbClr val="FDEBE8"/>
          </a:solidFill>
          <a:ln w="8890">
            <a:solidFill>
              <a:srgbClr val="EB6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33872" y="2313432"/>
            <a:ext cx="1911095" cy="768096"/>
          </a:xfrm>
          <a:prstGeom prst="rect">
            <a:avLst/>
          </a:prstGeom>
          <a:noFill/>
        </p:spPr>
        <p:txBody>
          <a:bodyPr wrap="square" lIns="36576" tIns="18288" rIns="36576" bIns="18288">
            <a:spAutoFit/>
          </a:bodyPr>
          <a:lstStyle/>
          <a:p>
            <a:pPr algn="ctr"/>
            <a:r>
              <a:rPr sz="1300" b="1">
                <a:solidFill>
                  <a:srgbClr val="0F1F38"/>
                </a:solidFill>
                <a:latin typeface="Aptos"/>
              </a:rPr>
              <a:t>ACTIVE
PRACTICE</a:t>
            </a:r>
          </a:p>
        </p:txBody>
      </p:sp>
      <p:sp>
        <p:nvSpPr>
          <p:cNvPr id="13" name="Rounded Rectangle 12"/>
          <p:cNvSpPr/>
          <p:nvPr/>
        </p:nvSpPr>
        <p:spPr>
          <a:xfrm>
            <a:off x="8275320" y="2240280"/>
            <a:ext cx="2057400" cy="914400"/>
          </a:xfrm>
          <a:prstGeom prst="roundRect">
            <a:avLst/>
          </a:prstGeom>
          <a:solidFill>
            <a:srgbClr val="FFFFFF"/>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48472" y="2313432"/>
            <a:ext cx="1911095" cy="768096"/>
          </a:xfrm>
          <a:prstGeom prst="rect">
            <a:avLst/>
          </a:prstGeom>
          <a:noFill/>
        </p:spPr>
        <p:txBody>
          <a:bodyPr wrap="square" lIns="36576" tIns="18288" rIns="36576" bIns="18288">
            <a:spAutoFit/>
          </a:bodyPr>
          <a:lstStyle/>
          <a:p>
            <a:pPr algn="ctr"/>
            <a:r>
              <a:rPr sz="1300" b="1">
                <a:solidFill>
                  <a:srgbClr val="0F1F38"/>
                </a:solidFill>
                <a:latin typeface="Aptos"/>
              </a:rPr>
              <a:t>PROGRESS
FEEDBACK</a:t>
            </a:r>
          </a:p>
        </p:txBody>
      </p:sp>
      <p:cxnSp>
        <p:nvCxnSpPr>
          <p:cNvPr id="15" name="Connector 14"/>
          <p:cNvCxnSpPr/>
          <p:nvPr/>
        </p:nvCxnSpPr>
        <p:spPr>
          <a:xfrm>
            <a:off x="2788920" y="2697480"/>
            <a:ext cx="411480" cy="0"/>
          </a:xfrm>
          <a:prstGeom prst="line">
            <a:avLst/>
          </a:prstGeom>
          <a:ln w="22860">
            <a:solidFill>
              <a:srgbClr val="00919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303520" y="2697480"/>
            <a:ext cx="411480" cy="0"/>
          </a:xfrm>
          <a:prstGeom prst="line">
            <a:avLst/>
          </a:prstGeom>
          <a:ln w="22860">
            <a:solidFill>
              <a:srgbClr val="00919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818120" y="2697480"/>
            <a:ext cx="411480" cy="0"/>
          </a:xfrm>
          <a:prstGeom prst="line">
            <a:avLst/>
          </a:prstGeom>
          <a:ln w="22860">
            <a:solidFill>
              <a:srgbClr val="009196"/>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31520" y="3886200"/>
            <a:ext cx="3246120" cy="1417320"/>
          </a:xfrm>
          <a:prstGeom prst="roundRect">
            <a:avLst/>
          </a:prstGeom>
          <a:solidFill>
            <a:srgbClr val="FFF6DC"/>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31520" y="3886200"/>
            <a:ext cx="73152" cy="1417320"/>
          </a:xfrm>
          <a:prstGeom prst="rect">
            <a:avLst/>
          </a:prstGeom>
          <a:solidFill>
            <a:srgbClr val="EDB547"/>
          </a:solidFill>
          <a:ln w="8890">
            <a:solidFill>
              <a:srgbClr val="EDB5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32688" y="4050791"/>
            <a:ext cx="2880360" cy="274320"/>
          </a:xfrm>
          <a:prstGeom prst="rect">
            <a:avLst/>
          </a:prstGeom>
          <a:noFill/>
        </p:spPr>
        <p:txBody>
          <a:bodyPr wrap="square" lIns="36576" tIns="18288" rIns="36576" bIns="18288">
            <a:spAutoFit/>
          </a:bodyPr>
          <a:lstStyle/>
          <a:p>
            <a:pPr algn="l"/>
            <a:r>
              <a:rPr sz="1500" b="1">
                <a:solidFill>
                  <a:srgbClr val="0F1F38"/>
                </a:solidFill>
                <a:latin typeface="Aptos"/>
              </a:rPr>
              <a:t>Inputs</a:t>
            </a:r>
          </a:p>
        </p:txBody>
      </p:sp>
      <p:sp>
        <p:nvSpPr>
          <p:cNvPr id="21" name="TextBox 20"/>
          <p:cNvSpPr txBox="1"/>
          <p:nvPr/>
        </p:nvSpPr>
        <p:spPr>
          <a:xfrm>
            <a:off x="932688" y="4453128"/>
            <a:ext cx="2880360" cy="722376"/>
          </a:xfrm>
          <a:prstGeom prst="rect">
            <a:avLst/>
          </a:prstGeom>
          <a:noFill/>
        </p:spPr>
        <p:txBody>
          <a:bodyPr wrap="square" lIns="36576" tIns="18288" rIns="36576" bIns="18288">
            <a:spAutoFit/>
          </a:bodyPr>
          <a:lstStyle/>
          <a:p>
            <a:pPr algn="l"/>
            <a:r>
              <a:rPr sz="1400" b="0">
                <a:solidFill>
                  <a:srgbClr val="202B38"/>
                </a:solidFill>
                <a:latin typeface="Aptos"/>
              </a:rPr>
              <a:t>PDF, DOCX, TXT, or Markdown files; optional document context for tutor questions.</a:t>
            </a:r>
          </a:p>
        </p:txBody>
      </p:sp>
      <p:sp>
        <p:nvSpPr>
          <p:cNvPr id="22" name="Rounded Rectangle 21"/>
          <p:cNvSpPr/>
          <p:nvPr/>
        </p:nvSpPr>
        <p:spPr>
          <a:xfrm>
            <a:off x="4434840" y="3886200"/>
            <a:ext cx="3246120" cy="1417320"/>
          </a:xfrm>
          <a:prstGeom prst="roundRect">
            <a:avLst/>
          </a:prstGeom>
          <a:solidFill>
            <a:srgbClr val="E1F6F5"/>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434840" y="3886200"/>
            <a:ext cx="73152" cy="1417320"/>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636007" y="4050791"/>
            <a:ext cx="2880360" cy="274320"/>
          </a:xfrm>
          <a:prstGeom prst="rect">
            <a:avLst/>
          </a:prstGeom>
          <a:noFill/>
        </p:spPr>
        <p:txBody>
          <a:bodyPr wrap="square" lIns="36576" tIns="18288" rIns="36576" bIns="18288">
            <a:spAutoFit/>
          </a:bodyPr>
          <a:lstStyle/>
          <a:p>
            <a:pPr algn="l"/>
            <a:r>
              <a:rPr sz="1500" b="1">
                <a:solidFill>
                  <a:srgbClr val="0F1F38"/>
                </a:solidFill>
                <a:latin typeface="Aptos"/>
              </a:rPr>
              <a:t>Core capabilities</a:t>
            </a:r>
          </a:p>
        </p:txBody>
      </p:sp>
      <p:sp>
        <p:nvSpPr>
          <p:cNvPr id="25" name="TextBox 24"/>
          <p:cNvSpPr txBox="1"/>
          <p:nvPr/>
        </p:nvSpPr>
        <p:spPr>
          <a:xfrm>
            <a:off x="4636007" y="4453128"/>
            <a:ext cx="2880360" cy="722376"/>
          </a:xfrm>
          <a:prstGeom prst="rect">
            <a:avLst/>
          </a:prstGeom>
          <a:noFill/>
        </p:spPr>
        <p:txBody>
          <a:bodyPr wrap="square" lIns="36576" tIns="18288" rIns="36576" bIns="18288">
            <a:spAutoFit/>
          </a:bodyPr>
          <a:lstStyle/>
          <a:p>
            <a:pPr algn="l"/>
            <a:r>
              <a:rPr sz="1400" b="0">
                <a:solidFill>
                  <a:srgbClr val="202B38"/>
                </a:solidFill>
                <a:latin typeface="Aptos"/>
              </a:rPr>
              <a:t>Summaries, quizzes, flashcards, streaming AI tutor, and document management.</a:t>
            </a:r>
          </a:p>
        </p:txBody>
      </p:sp>
      <p:sp>
        <p:nvSpPr>
          <p:cNvPr id="26" name="Rounded Rectangle 25"/>
          <p:cNvSpPr/>
          <p:nvPr/>
        </p:nvSpPr>
        <p:spPr>
          <a:xfrm>
            <a:off x="8138160" y="3886200"/>
            <a:ext cx="3246120" cy="1417320"/>
          </a:xfrm>
          <a:prstGeom prst="roundRect">
            <a:avLst/>
          </a:prstGeom>
          <a:solidFill>
            <a:srgbClr val="FDEBE8"/>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138160" y="3886200"/>
            <a:ext cx="73152" cy="1417320"/>
          </a:xfrm>
          <a:prstGeom prst="rect">
            <a:avLst/>
          </a:prstGeom>
          <a:solidFill>
            <a:srgbClr val="EB695B"/>
          </a:solidFill>
          <a:ln w="8890">
            <a:solidFill>
              <a:srgbClr val="EB6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339328" y="4050791"/>
            <a:ext cx="2880360" cy="274320"/>
          </a:xfrm>
          <a:prstGeom prst="rect">
            <a:avLst/>
          </a:prstGeom>
          <a:noFill/>
        </p:spPr>
        <p:txBody>
          <a:bodyPr wrap="square" lIns="36576" tIns="18288" rIns="36576" bIns="18288">
            <a:spAutoFit/>
          </a:bodyPr>
          <a:lstStyle/>
          <a:p>
            <a:pPr algn="l"/>
            <a:r>
              <a:rPr sz="1500" b="1">
                <a:solidFill>
                  <a:srgbClr val="0F1F38"/>
                </a:solidFill>
                <a:latin typeface="Aptos"/>
              </a:rPr>
              <a:t>Audience</a:t>
            </a:r>
          </a:p>
        </p:txBody>
      </p:sp>
      <p:sp>
        <p:nvSpPr>
          <p:cNvPr id="29" name="TextBox 28"/>
          <p:cNvSpPr txBox="1"/>
          <p:nvPr/>
        </p:nvSpPr>
        <p:spPr>
          <a:xfrm>
            <a:off x="8339328" y="4453128"/>
            <a:ext cx="2880360" cy="722376"/>
          </a:xfrm>
          <a:prstGeom prst="rect">
            <a:avLst/>
          </a:prstGeom>
          <a:noFill/>
        </p:spPr>
        <p:txBody>
          <a:bodyPr wrap="square" lIns="36576" tIns="18288" rIns="36576" bIns="18288">
            <a:spAutoFit/>
          </a:bodyPr>
          <a:lstStyle/>
          <a:p>
            <a:pPr algn="l"/>
            <a:r>
              <a:rPr sz="1400" b="0">
                <a:solidFill>
                  <a:srgbClr val="202B38"/>
                </a:solidFill>
                <a:latin typeface="Aptos"/>
              </a:rPr>
              <a:t>Students who want one workspace for turning notes into study activities.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47472"/>
            <a:ext cx="4114800" cy="228600"/>
          </a:xfrm>
          <a:prstGeom prst="rect">
            <a:avLst/>
          </a:prstGeom>
          <a:noFill/>
        </p:spPr>
        <p:txBody>
          <a:bodyPr wrap="square" lIns="36576" tIns="18288" rIns="36576" bIns="18288">
            <a:spAutoFit/>
          </a:bodyPr>
          <a:lstStyle/>
          <a:p>
            <a:pPr algn="l"/>
            <a:r>
              <a:rPr sz="900" b="1">
                <a:solidFill>
                  <a:srgbClr val="009196"/>
                </a:solidFill>
                <a:latin typeface="Aptos"/>
              </a:rPr>
              <a:t>PROJECT DEFENSE</a:t>
            </a:r>
          </a:p>
        </p:txBody>
      </p:sp>
      <p:sp>
        <p:nvSpPr>
          <p:cNvPr id="4" name="TextBox 3"/>
          <p:cNvSpPr txBox="1"/>
          <p:nvPr/>
        </p:nvSpPr>
        <p:spPr>
          <a:xfrm>
            <a:off x="502920" y="658368"/>
            <a:ext cx="10881360" cy="502920"/>
          </a:xfrm>
          <a:prstGeom prst="rect">
            <a:avLst/>
          </a:prstGeom>
          <a:noFill/>
        </p:spPr>
        <p:txBody>
          <a:bodyPr wrap="square" lIns="36576" tIns="18288" rIns="36576" bIns="18288">
            <a:spAutoFit/>
          </a:bodyPr>
          <a:lstStyle/>
          <a:p>
            <a:pPr algn="l"/>
            <a:r>
              <a:rPr sz="2700" b="1">
                <a:solidFill>
                  <a:srgbClr val="0F1F38"/>
                </a:solidFill>
                <a:latin typeface="Aptos"/>
              </a:rPr>
              <a:t>Background and Motivation</a:t>
            </a:r>
          </a:p>
        </p:txBody>
      </p:sp>
      <p:sp>
        <p:nvSpPr>
          <p:cNvPr id="5" name="TextBox 4"/>
          <p:cNvSpPr txBox="1"/>
          <p:nvPr/>
        </p:nvSpPr>
        <p:spPr>
          <a:xfrm>
            <a:off x="11201400" y="6473952"/>
            <a:ext cx="457200" cy="182880"/>
          </a:xfrm>
          <a:prstGeom prst="rect">
            <a:avLst/>
          </a:prstGeom>
          <a:noFill/>
        </p:spPr>
        <p:txBody>
          <a:bodyPr wrap="square" lIns="36576" tIns="18288" rIns="36576" bIns="18288">
            <a:spAutoFit/>
          </a:bodyPr>
          <a:lstStyle/>
          <a:p>
            <a:pPr algn="r"/>
            <a:r>
              <a:rPr sz="900" b="1">
                <a:solidFill>
                  <a:srgbClr val="5D6C7D"/>
                </a:solidFill>
                <a:latin typeface="Aptos"/>
              </a:rPr>
              <a:t>03</a:t>
            </a:r>
          </a:p>
        </p:txBody>
      </p:sp>
      <p:sp>
        <p:nvSpPr>
          <p:cNvPr id="6" name="Rounded Rectangle 5"/>
          <p:cNvSpPr/>
          <p:nvPr/>
        </p:nvSpPr>
        <p:spPr>
          <a:xfrm>
            <a:off x="685800" y="1417320"/>
            <a:ext cx="3429000" cy="3611880"/>
          </a:xfrm>
          <a:prstGeom prst="roundRect">
            <a:avLst/>
          </a:prstGeom>
          <a:solidFill>
            <a:srgbClr val="FDEBE8"/>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417320"/>
            <a:ext cx="73152" cy="3611880"/>
          </a:xfrm>
          <a:prstGeom prst="rect">
            <a:avLst/>
          </a:prstGeom>
          <a:solidFill>
            <a:srgbClr val="EB695B"/>
          </a:solidFill>
          <a:ln w="8890">
            <a:solidFill>
              <a:srgbClr val="EB6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581912"/>
            <a:ext cx="3063240" cy="274320"/>
          </a:xfrm>
          <a:prstGeom prst="rect">
            <a:avLst/>
          </a:prstGeom>
          <a:noFill/>
        </p:spPr>
        <p:txBody>
          <a:bodyPr wrap="square" lIns="36576" tIns="18288" rIns="36576" bIns="18288">
            <a:spAutoFit/>
          </a:bodyPr>
          <a:lstStyle/>
          <a:p>
            <a:pPr algn="l"/>
            <a:r>
              <a:rPr sz="1500" b="1">
                <a:solidFill>
                  <a:srgbClr val="0F1F38"/>
                </a:solidFill>
                <a:latin typeface="Aptos"/>
              </a:rPr>
              <a:t>The study friction</a:t>
            </a:r>
          </a:p>
        </p:txBody>
      </p:sp>
      <p:sp>
        <p:nvSpPr>
          <p:cNvPr id="9" name="TextBox 8"/>
          <p:cNvSpPr txBox="1"/>
          <p:nvPr/>
        </p:nvSpPr>
        <p:spPr>
          <a:xfrm>
            <a:off x="886968" y="1984248"/>
            <a:ext cx="3063240" cy="2916936"/>
          </a:xfrm>
          <a:prstGeom prst="rect">
            <a:avLst/>
          </a:prstGeom>
          <a:noFill/>
        </p:spPr>
        <p:txBody>
          <a:bodyPr wrap="square" lIns="36576" tIns="18288" rIns="36576" bIns="18288">
            <a:spAutoFit/>
          </a:bodyPr>
          <a:lstStyle/>
          <a:p>
            <a:pPr algn="l"/>
            <a:r>
              <a:rPr sz="1600" b="0">
                <a:solidFill>
                  <a:srgbClr val="202B38"/>
                </a:solidFill>
                <a:latin typeface="Aptos"/>
              </a:rPr>
              <a:t>Students often move between notes, a summarizer, a quiz tool, flashcards, and a progress tracker. That breaks context and makes revision effort harder to organize.</a:t>
            </a:r>
          </a:p>
        </p:txBody>
      </p:sp>
      <p:sp>
        <p:nvSpPr>
          <p:cNvPr id="10" name="Rounded Rectangle 9"/>
          <p:cNvSpPr/>
          <p:nvPr/>
        </p:nvSpPr>
        <p:spPr>
          <a:xfrm>
            <a:off x="4389120" y="1417320"/>
            <a:ext cx="3429000" cy="3611880"/>
          </a:xfrm>
          <a:prstGeom prst="roundRect">
            <a:avLst/>
          </a:prstGeom>
          <a:solidFill>
            <a:srgbClr val="E1F6F5"/>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417320"/>
            <a:ext cx="73152" cy="3611880"/>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90288" y="1581912"/>
            <a:ext cx="3063240" cy="274320"/>
          </a:xfrm>
          <a:prstGeom prst="rect">
            <a:avLst/>
          </a:prstGeom>
          <a:noFill/>
        </p:spPr>
        <p:txBody>
          <a:bodyPr wrap="square" lIns="36576" tIns="18288" rIns="36576" bIns="18288">
            <a:spAutoFit/>
          </a:bodyPr>
          <a:lstStyle/>
          <a:p>
            <a:pPr algn="l"/>
            <a:r>
              <a:rPr sz="1500" b="1">
                <a:solidFill>
                  <a:srgbClr val="0F1F38"/>
                </a:solidFill>
                <a:latin typeface="Aptos"/>
              </a:rPr>
              <a:t>The project response</a:t>
            </a:r>
          </a:p>
        </p:txBody>
      </p:sp>
      <p:sp>
        <p:nvSpPr>
          <p:cNvPr id="13" name="TextBox 12"/>
          <p:cNvSpPr txBox="1"/>
          <p:nvPr/>
        </p:nvSpPr>
        <p:spPr>
          <a:xfrm>
            <a:off x="4590288" y="1984248"/>
            <a:ext cx="3063240" cy="2916936"/>
          </a:xfrm>
          <a:prstGeom prst="rect">
            <a:avLst/>
          </a:prstGeom>
          <a:noFill/>
        </p:spPr>
        <p:txBody>
          <a:bodyPr wrap="square" lIns="36576" tIns="18288" rIns="36576" bIns="18288">
            <a:spAutoFit/>
          </a:bodyPr>
          <a:lstStyle/>
          <a:p>
            <a:pPr algn="l"/>
            <a:r>
              <a:rPr sz="1600" b="0">
                <a:solidFill>
                  <a:srgbClr val="202B38"/>
                </a:solidFill>
                <a:latin typeface="Aptos"/>
              </a:rPr>
              <a:t>Study Buddy keeps source material and the resulting learning activities connected through a single authenticated application.</a:t>
            </a:r>
          </a:p>
        </p:txBody>
      </p:sp>
      <p:sp>
        <p:nvSpPr>
          <p:cNvPr id="14" name="Rounded Rectangle 13"/>
          <p:cNvSpPr/>
          <p:nvPr/>
        </p:nvSpPr>
        <p:spPr>
          <a:xfrm>
            <a:off x="8092440" y="1417320"/>
            <a:ext cx="3429000" cy="3611880"/>
          </a:xfrm>
          <a:prstGeom prst="roundRect">
            <a:avLst/>
          </a:prstGeom>
          <a:solidFill>
            <a:srgbClr val="FFF6DC"/>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92440" y="1417320"/>
            <a:ext cx="73152" cy="3611880"/>
          </a:xfrm>
          <a:prstGeom prst="rect">
            <a:avLst/>
          </a:prstGeom>
          <a:solidFill>
            <a:srgbClr val="EDB547"/>
          </a:solidFill>
          <a:ln w="8890">
            <a:solidFill>
              <a:srgbClr val="EDB5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93608" y="1581912"/>
            <a:ext cx="3063240" cy="274320"/>
          </a:xfrm>
          <a:prstGeom prst="rect">
            <a:avLst/>
          </a:prstGeom>
          <a:noFill/>
        </p:spPr>
        <p:txBody>
          <a:bodyPr wrap="square" lIns="36576" tIns="18288" rIns="36576" bIns="18288">
            <a:spAutoFit/>
          </a:bodyPr>
          <a:lstStyle/>
          <a:p>
            <a:pPr algn="l"/>
            <a:r>
              <a:rPr sz="1500" b="1">
                <a:solidFill>
                  <a:srgbClr val="0F1F38"/>
                </a:solidFill>
                <a:latin typeface="Aptos"/>
              </a:rPr>
              <a:t>Why it matters</a:t>
            </a:r>
          </a:p>
        </p:txBody>
      </p:sp>
      <p:sp>
        <p:nvSpPr>
          <p:cNvPr id="17" name="TextBox 16"/>
          <p:cNvSpPr txBox="1"/>
          <p:nvPr/>
        </p:nvSpPr>
        <p:spPr>
          <a:xfrm>
            <a:off x="8293608" y="1984248"/>
            <a:ext cx="3063240" cy="2916936"/>
          </a:xfrm>
          <a:prstGeom prst="rect">
            <a:avLst/>
          </a:prstGeom>
          <a:noFill/>
        </p:spPr>
        <p:txBody>
          <a:bodyPr wrap="square" lIns="36576" tIns="18288" rIns="36576" bIns="18288">
            <a:spAutoFit/>
          </a:bodyPr>
          <a:lstStyle/>
          <a:p>
            <a:pPr algn="l"/>
            <a:r>
              <a:rPr sz="1600" b="0">
                <a:solidFill>
                  <a:srgbClr val="202B38"/>
                </a:solidFill>
                <a:latin typeface="Aptos"/>
              </a:rPr>
              <a:t>The workflow supports both understanding and retrieval practice: explain a concept, test recall, schedule review, and inspect progress.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47472"/>
            <a:ext cx="4114800" cy="228600"/>
          </a:xfrm>
          <a:prstGeom prst="rect">
            <a:avLst/>
          </a:prstGeom>
          <a:noFill/>
        </p:spPr>
        <p:txBody>
          <a:bodyPr wrap="square" lIns="36576" tIns="18288" rIns="36576" bIns="18288">
            <a:spAutoFit/>
          </a:bodyPr>
          <a:lstStyle/>
          <a:p>
            <a:pPr algn="l"/>
            <a:r>
              <a:rPr sz="900" b="1">
                <a:solidFill>
                  <a:srgbClr val="009196"/>
                </a:solidFill>
                <a:latin typeface="Aptos"/>
              </a:rPr>
              <a:t>PROJECT DEFENSE</a:t>
            </a:r>
          </a:p>
        </p:txBody>
      </p:sp>
      <p:sp>
        <p:nvSpPr>
          <p:cNvPr id="4" name="TextBox 3"/>
          <p:cNvSpPr txBox="1"/>
          <p:nvPr/>
        </p:nvSpPr>
        <p:spPr>
          <a:xfrm>
            <a:off x="502920" y="658368"/>
            <a:ext cx="10881360" cy="502920"/>
          </a:xfrm>
          <a:prstGeom prst="rect">
            <a:avLst/>
          </a:prstGeom>
          <a:noFill/>
        </p:spPr>
        <p:txBody>
          <a:bodyPr wrap="square" lIns="36576" tIns="18288" rIns="36576" bIns="18288">
            <a:spAutoFit/>
          </a:bodyPr>
          <a:lstStyle/>
          <a:p>
            <a:pPr algn="l"/>
            <a:r>
              <a:rPr sz="2700" b="1">
                <a:solidFill>
                  <a:srgbClr val="0F1F38"/>
                </a:solidFill>
                <a:latin typeface="Aptos"/>
              </a:rPr>
              <a:t>Problem Statement</a:t>
            </a:r>
          </a:p>
        </p:txBody>
      </p:sp>
      <p:sp>
        <p:nvSpPr>
          <p:cNvPr id="5" name="TextBox 4"/>
          <p:cNvSpPr txBox="1"/>
          <p:nvPr/>
        </p:nvSpPr>
        <p:spPr>
          <a:xfrm>
            <a:off x="11201400" y="6473952"/>
            <a:ext cx="457200" cy="182880"/>
          </a:xfrm>
          <a:prstGeom prst="rect">
            <a:avLst/>
          </a:prstGeom>
          <a:noFill/>
        </p:spPr>
        <p:txBody>
          <a:bodyPr wrap="square" lIns="36576" tIns="18288" rIns="36576" bIns="18288">
            <a:spAutoFit/>
          </a:bodyPr>
          <a:lstStyle/>
          <a:p>
            <a:pPr algn="r"/>
            <a:r>
              <a:rPr sz="900" b="1">
                <a:solidFill>
                  <a:srgbClr val="5D6C7D"/>
                </a:solidFill>
                <a:latin typeface="Aptos"/>
              </a:rPr>
              <a:t>04</a:t>
            </a:r>
          </a:p>
        </p:txBody>
      </p:sp>
      <p:sp>
        <p:nvSpPr>
          <p:cNvPr id="6" name="Rounded Rectangle 5"/>
          <p:cNvSpPr/>
          <p:nvPr/>
        </p:nvSpPr>
        <p:spPr>
          <a:xfrm>
            <a:off x="731520" y="1828800"/>
            <a:ext cx="2468880" cy="1097280"/>
          </a:xfrm>
          <a:prstGeom prst="roundRect">
            <a:avLst/>
          </a:prstGeom>
          <a:solidFill>
            <a:srgbClr val="FDEBE8"/>
          </a:solidFill>
          <a:ln w="8890">
            <a:solidFill>
              <a:srgbClr val="EB6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901952"/>
            <a:ext cx="2322576" cy="950976"/>
          </a:xfrm>
          <a:prstGeom prst="rect">
            <a:avLst/>
          </a:prstGeom>
          <a:noFill/>
        </p:spPr>
        <p:txBody>
          <a:bodyPr wrap="square" lIns="36576" tIns="18288" rIns="36576" bIns="18288">
            <a:spAutoFit/>
          </a:bodyPr>
          <a:lstStyle/>
          <a:p>
            <a:pPr algn="ctr"/>
            <a:r>
              <a:rPr sz="1300" b="1">
                <a:solidFill>
                  <a:srgbClr val="0F1F38"/>
                </a:solidFill>
                <a:latin typeface="Aptos"/>
              </a:rPr>
              <a:t>FRAGMENTED
STUDY TOOLS</a:t>
            </a:r>
          </a:p>
        </p:txBody>
      </p:sp>
      <p:sp>
        <p:nvSpPr>
          <p:cNvPr id="8" name="Rounded Rectangle 7"/>
          <p:cNvSpPr/>
          <p:nvPr/>
        </p:nvSpPr>
        <p:spPr>
          <a:xfrm>
            <a:off x="4846320" y="1828800"/>
            <a:ext cx="2468880" cy="1097280"/>
          </a:xfrm>
          <a:prstGeom prst="roundRect">
            <a:avLst/>
          </a:prstGeom>
          <a:solidFill>
            <a:srgbClr val="FFF6DC"/>
          </a:solidFill>
          <a:ln w="8890">
            <a:solidFill>
              <a:srgbClr val="EDB5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919472" y="1901952"/>
            <a:ext cx="2322576" cy="950976"/>
          </a:xfrm>
          <a:prstGeom prst="rect">
            <a:avLst/>
          </a:prstGeom>
          <a:noFill/>
        </p:spPr>
        <p:txBody>
          <a:bodyPr wrap="square" lIns="36576" tIns="18288" rIns="36576" bIns="18288">
            <a:spAutoFit/>
          </a:bodyPr>
          <a:lstStyle/>
          <a:p>
            <a:pPr algn="ctr"/>
            <a:r>
              <a:rPr sz="1300" b="1">
                <a:solidFill>
                  <a:srgbClr val="0F1F38"/>
                </a:solidFill>
                <a:latin typeface="Aptos"/>
              </a:rPr>
              <a:t>LOW-CONTEXT
REVISION</a:t>
            </a:r>
          </a:p>
        </p:txBody>
      </p:sp>
      <p:sp>
        <p:nvSpPr>
          <p:cNvPr id="10" name="Rounded Rectangle 9"/>
          <p:cNvSpPr/>
          <p:nvPr/>
        </p:nvSpPr>
        <p:spPr>
          <a:xfrm>
            <a:off x="8961120" y="1828800"/>
            <a:ext cx="2468880" cy="1097280"/>
          </a:xfrm>
          <a:prstGeom prst="roundRect">
            <a:avLst/>
          </a:prstGeom>
          <a:solidFill>
            <a:srgbClr val="E1F6F5"/>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34272" y="1901952"/>
            <a:ext cx="2322576" cy="950976"/>
          </a:xfrm>
          <a:prstGeom prst="rect">
            <a:avLst/>
          </a:prstGeom>
          <a:noFill/>
        </p:spPr>
        <p:txBody>
          <a:bodyPr wrap="square" lIns="36576" tIns="18288" rIns="36576" bIns="18288">
            <a:spAutoFit/>
          </a:bodyPr>
          <a:lstStyle/>
          <a:p>
            <a:pPr algn="ctr"/>
            <a:r>
              <a:rPr sz="1300" b="1">
                <a:solidFill>
                  <a:srgbClr val="0F1F38"/>
                </a:solidFill>
                <a:latin typeface="Aptos"/>
              </a:rPr>
              <a:t>WEAK
FEEDBACK LOOP</a:t>
            </a:r>
          </a:p>
        </p:txBody>
      </p:sp>
      <p:cxnSp>
        <p:nvCxnSpPr>
          <p:cNvPr id="12" name="Connector 11"/>
          <p:cNvCxnSpPr/>
          <p:nvPr/>
        </p:nvCxnSpPr>
        <p:spPr>
          <a:xfrm>
            <a:off x="3246120" y="2377440"/>
            <a:ext cx="1508760" cy="0"/>
          </a:xfrm>
          <a:prstGeom prst="line">
            <a:avLst/>
          </a:prstGeom>
          <a:ln w="22860">
            <a:solidFill>
              <a:srgbClr val="EB695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360920" y="2377440"/>
            <a:ext cx="1508760" cy="0"/>
          </a:xfrm>
          <a:prstGeom prst="line">
            <a:avLst/>
          </a:prstGeom>
          <a:ln w="22860">
            <a:solidFill>
              <a:srgbClr val="EDB547"/>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31520" y="3794760"/>
            <a:ext cx="3200400" cy="1143000"/>
          </a:xfrm>
          <a:prstGeom prst="round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31520" y="3794760"/>
            <a:ext cx="73152" cy="1143000"/>
          </a:xfrm>
          <a:prstGeom prst="rect">
            <a:avLst/>
          </a:prstGeom>
          <a:solidFill>
            <a:srgbClr val="EB695B"/>
          </a:solidFill>
          <a:ln w="8890">
            <a:solidFill>
              <a:srgbClr val="EB6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32688" y="3959352"/>
            <a:ext cx="2834640" cy="274320"/>
          </a:xfrm>
          <a:prstGeom prst="rect">
            <a:avLst/>
          </a:prstGeom>
          <a:noFill/>
        </p:spPr>
        <p:txBody>
          <a:bodyPr wrap="square" lIns="36576" tIns="18288" rIns="36576" bIns="18288">
            <a:spAutoFit/>
          </a:bodyPr>
          <a:lstStyle/>
          <a:p>
            <a:pPr algn="l"/>
            <a:r>
              <a:rPr sz="1500" b="1">
                <a:solidFill>
                  <a:srgbClr val="0F1F38"/>
                </a:solidFill>
                <a:latin typeface="Aptos"/>
              </a:rPr>
              <a:t>Problem</a:t>
            </a:r>
          </a:p>
        </p:txBody>
      </p:sp>
      <p:sp>
        <p:nvSpPr>
          <p:cNvPr id="17" name="TextBox 16"/>
          <p:cNvSpPr txBox="1"/>
          <p:nvPr/>
        </p:nvSpPr>
        <p:spPr>
          <a:xfrm>
            <a:off x="932688" y="4361688"/>
            <a:ext cx="2834640" cy="448056"/>
          </a:xfrm>
          <a:prstGeom prst="rect">
            <a:avLst/>
          </a:prstGeom>
          <a:noFill/>
        </p:spPr>
        <p:txBody>
          <a:bodyPr wrap="square" lIns="36576" tIns="18288" rIns="36576" bIns="18288">
            <a:spAutoFit/>
          </a:bodyPr>
          <a:lstStyle/>
          <a:p>
            <a:pPr algn="l"/>
            <a:r>
              <a:rPr sz="1500" b="0">
                <a:solidFill>
                  <a:srgbClr val="202B38"/>
                </a:solidFill>
                <a:latin typeface="Aptos"/>
              </a:rPr>
              <a:t>Study content and study actions are disconnected.</a:t>
            </a:r>
          </a:p>
        </p:txBody>
      </p:sp>
      <p:sp>
        <p:nvSpPr>
          <p:cNvPr id="18" name="Rounded Rectangle 17"/>
          <p:cNvSpPr/>
          <p:nvPr/>
        </p:nvSpPr>
        <p:spPr>
          <a:xfrm>
            <a:off x="4480560" y="3794760"/>
            <a:ext cx="3200400" cy="1143000"/>
          </a:xfrm>
          <a:prstGeom prst="round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480560" y="3794760"/>
            <a:ext cx="73152" cy="1143000"/>
          </a:xfrm>
          <a:prstGeom prst="rect">
            <a:avLst/>
          </a:prstGeom>
          <a:solidFill>
            <a:srgbClr val="EDB547"/>
          </a:solidFill>
          <a:ln w="8890">
            <a:solidFill>
              <a:srgbClr val="EDB5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681728" y="3959352"/>
            <a:ext cx="2834640" cy="274320"/>
          </a:xfrm>
          <a:prstGeom prst="rect">
            <a:avLst/>
          </a:prstGeom>
          <a:noFill/>
        </p:spPr>
        <p:txBody>
          <a:bodyPr wrap="square" lIns="36576" tIns="18288" rIns="36576" bIns="18288">
            <a:spAutoFit/>
          </a:bodyPr>
          <a:lstStyle/>
          <a:p>
            <a:pPr algn="l"/>
            <a:r>
              <a:rPr sz="1500" b="1">
                <a:solidFill>
                  <a:srgbClr val="0F1F38"/>
                </a:solidFill>
                <a:latin typeface="Aptos"/>
              </a:rPr>
              <a:t>Impact</a:t>
            </a:r>
          </a:p>
        </p:txBody>
      </p:sp>
      <p:sp>
        <p:nvSpPr>
          <p:cNvPr id="21" name="TextBox 20"/>
          <p:cNvSpPr txBox="1"/>
          <p:nvPr/>
        </p:nvSpPr>
        <p:spPr>
          <a:xfrm>
            <a:off x="4681728" y="4361688"/>
            <a:ext cx="2834640" cy="448056"/>
          </a:xfrm>
          <a:prstGeom prst="rect">
            <a:avLst/>
          </a:prstGeom>
          <a:noFill/>
        </p:spPr>
        <p:txBody>
          <a:bodyPr wrap="square" lIns="36576" tIns="18288" rIns="36576" bIns="18288">
            <a:spAutoFit/>
          </a:bodyPr>
          <a:lstStyle/>
          <a:p>
            <a:pPr algn="l"/>
            <a:r>
              <a:rPr sz="1500" b="0">
                <a:solidFill>
                  <a:srgbClr val="202B38"/>
                </a:solidFill>
                <a:latin typeface="Aptos"/>
              </a:rPr>
              <a:t>Students spend effort preparing material instead of practicing it.</a:t>
            </a:r>
          </a:p>
        </p:txBody>
      </p:sp>
      <p:sp>
        <p:nvSpPr>
          <p:cNvPr id="22" name="Rounded Rectangle 21"/>
          <p:cNvSpPr/>
          <p:nvPr/>
        </p:nvSpPr>
        <p:spPr>
          <a:xfrm>
            <a:off x="8229600" y="3794760"/>
            <a:ext cx="3200400" cy="1143000"/>
          </a:xfrm>
          <a:prstGeom prst="round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229600" y="3794760"/>
            <a:ext cx="73152" cy="1143000"/>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430768" y="3959352"/>
            <a:ext cx="2834640" cy="274320"/>
          </a:xfrm>
          <a:prstGeom prst="rect">
            <a:avLst/>
          </a:prstGeom>
          <a:noFill/>
        </p:spPr>
        <p:txBody>
          <a:bodyPr wrap="square" lIns="36576" tIns="18288" rIns="36576" bIns="18288">
            <a:spAutoFit/>
          </a:bodyPr>
          <a:lstStyle/>
          <a:p>
            <a:pPr algn="l"/>
            <a:r>
              <a:rPr sz="1500" b="1">
                <a:solidFill>
                  <a:srgbClr val="0F1F38"/>
                </a:solidFill>
                <a:latin typeface="Aptos"/>
              </a:rPr>
              <a:t>Need</a:t>
            </a:r>
          </a:p>
        </p:txBody>
      </p:sp>
      <p:sp>
        <p:nvSpPr>
          <p:cNvPr id="25" name="TextBox 24"/>
          <p:cNvSpPr txBox="1"/>
          <p:nvPr/>
        </p:nvSpPr>
        <p:spPr>
          <a:xfrm>
            <a:off x="8430768" y="4361688"/>
            <a:ext cx="2834640" cy="448056"/>
          </a:xfrm>
          <a:prstGeom prst="rect">
            <a:avLst/>
          </a:prstGeom>
          <a:noFill/>
        </p:spPr>
        <p:txBody>
          <a:bodyPr wrap="square" lIns="36576" tIns="18288" rIns="36576" bIns="18288">
            <a:spAutoFit/>
          </a:bodyPr>
          <a:lstStyle/>
          <a:p>
            <a:pPr algn="l"/>
            <a:r>
              <a:rPr sz="1500" b="0">
                <a:solidFill>
                  <a:srgbClr val="202B38"/>
                </a:solidFill>
                <a:latin typeface="Aptos"/>
              </a:rPr>
              <a:t>A unified, content-aware study assistant with feedback.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47472"/>
            <a:ext cx="4114800" cy="228600"/>
          </a:xfrm>
          <a:prstGeom prst="rect">
            <a:avLst/>
          </a:prstGeom>
          <a:noFill/>
        </p:spPr>
        <p:txBody>
          <a:bodyPr wrap="square" lIns="36576" tIns="18288" rIns="36576" bIns="18288">
            <a:spAutoFit/>
          </a:bodyPr>
          <a:lstStyle/>
          <a:p>
            <a:pPr algn="l"/>
            <a:r>
              <a:rPr sz="900" b="1">
                <a:solidFill>
                  <a:srgbClr val="009196"/>
                </a:solidFill>
                <a:latin typeface="Aptos"/>
              </a:rPr>
              <a:t>PROJECT DEFENSE</a:t>
            </a:r>
          </a:p>
        </p:txBody>
      </p:sp>
      <p:sp>
        <p:nvSpPr>
          <p:cNvPr id="4" name="TextBox 3"/>
          <p:cNvSpPr txBox="1"/>
          <p:nvPr/>
        </p:nvSpPr>
        <p:spPr>
          <a:xfrm>
            <a:off x="502920" y="658368"/>
            <a:ext cx="10881360" cy="502920"/>
          </a:xfrm>
          <a:prstGeom prst="rect">
            <a:avLst/>
          </a:prstGeom>
          <a:noFill/>
        </p:spPr>
        <p:txBody>
          <a:bodyPr wrap="square" lIns="36576" tIns="18288" rIns="36576" bIns="18288">
            <a:spAutoFit/>
          </a:bodyPr>
          <a:lstStyle/>
          <a:p>
            <a:pPr algn="l"/>
            <a:r>
              <a:rPr sz="2700" b="1">
                <a:solidFill>
                  <a:srgbClr val="0F1F38"/>
                </a:solidFill>
                <a:latin typeface="Aptos"/>
              </a:rPr>
              <a:t>Existing Approach and Project Gap</a:t>
            </a:r>
          </a:p>
        </p:txBody>
      </p:sp>
      <p:sp>
        <p:nvSpPr>
          <p:cNvPr id="5" name="TextBox 4"/>
          <p:cNvSpPr txBox="1"/>
          <p:nvPr/>
        </p:nvSpPr>
        <p:spPr>
          <a:xfrm>
            <a:off x="11201400" y="6473952"/>
            <a:ext cx="457200" cy="182880"/>
          </a:xfrm>
          <a:prstGeom prst="rect">
            <a:avLst/>
          </a:prstGeom>
          <a:noFill/>
        </p:spPr>
        <p:txBody>
          <a:bodyPr wrap="square" lIns="36576" tIns="18288" rIns="36576" bIns="18288">
            <a:spAutoFit/>
          </a:bodyPr>
          <a:lstStyle/>
          <a:p>
            <a:pPr algn="r"/>
            <a:r>
              <a:rPr sz="900" b="1">
                <a:solidFill>
                  <a:srgbClr val="5D6C7D"/>
                </a:solidFill>
                <a:latin typeface="Aptos"/>
              </a:rPr>
              <a:t>05</a:t>
            </a:r>
          </a:p>
        </p:txBody>
      </p:sp>
      <p:sp>
        <p:nvSpPr>
          <p:cNvPr id="6" name="TextBox 5"/>
          <p:cNvSpPr txBox="1"/>
          <p:nvPr/>
        </p:nvSpPr>
        <p:spPr>
          <a:xfrm>
            <a:off x="594360" y="1234440"/>
            <a:ext cx="10881360" cy="411480"/>
          </a:xfrm>
          <a:prstGeom prst="rect">
            <a:avLst/>
          </a:prstGeom>
          <a:noFill/>
        </p:spPr>
        <p:txBody>
          <a:bodyPr wrap="square" lIns="36576" tIns="18288" rIns="36576" bIns="18288">
            <a:spAutoFit/>
          </a:bodyPr>
          <a:lstStyle/>
          <a:p>
            <a:pPr algn="l"/>
            <a:r>
              <a:rPr sz="1300" b="0">
                <a:solidFill>
                  <a:srgbClr val="5D6C7D"/>
                </a:solidFill>
                <a:latin typeface="Aptos"/>
              </a:rPr>
              <a:t>The repository does not name a specific competitor or baseline system. This comparison describes the workflow gap, not measured superiority.</a:t>
            </a:r>
          </a:p>
        </p:txBody>
      </p:sp>
      <p:sp>
        <p:nvSpPr>
          <p:cNvPr id="7" name="Rounded Rectangle 6"/>
          <p:cNvSpPr/>
          <p:nvPr/>
        </p:nvSpPr>
        <p:spPr>
          <a:xfrm>
            <a:off x="731520" y="1920240"/>
            <a:ext cx="4937760" cy="3063240"/>
          </a:xfrm>
          <a:prstGeom prst="roundRect">
            <a:avLst/>
          </a:prstGeom>
          <a:solidFill>
            <a:srgbClr val="FDEBE8"/>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20240"/>
            <a:ext cx="73152" cy="3063240"/>
          </a:xfrm>
          <a:prstGeom prst="rect">
            <a:avLst/>
          </a:prstGeom>
          <a:solidFill>
            <a:srgbClr val="EB695B"/>
          </a:solidFill>
          <a:ln w="8890">
            <a:solidFill>
              <a:srgbClr val="EB6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2084832"/>
            <a:ext cx="4572000" cy="274320"/>
          </a:xfrm>
          <a:prstGeom prst="rect">
            <a:avLst/>
          </a:prstGeom>
          <a:noFill/>
        </p:spPr>
        <p:txBody>
          <a:bodyPr wrap="square" lIns="36576" tIns="18288" rIns="36576" bIns="18288">
            <a:spAutoFit/>
          </a:bodyPr>
          <a:lstStyle/>
          <a:p>
            <a:pPr algn="l"/>
            <a:r>
              <a:rPr sz="1500" b="1">
                <a:solidFill>
                  <a:srgbClr val="0F1F38"/>
                </a:solidFill>
                <a:latin typeface="Aptos"/>
              </a:rPr>
              <a:t>Typical fragmented approach</a:t>
            </a:r>
          </a:p>
        </p:txBody>
      </p:sp>
      <p:sp>
        <p:nvSpPr>
          <p:cNvPr id="10" name="TextBox 9"/>
          <p:cNvSpPr txBox="1"/>
          <p:nvPr/>
        </p:nvSpPr>
        <p:spPr>
          <a:xfrm>
            <a:off x="932688" y="2487168"/>
            <a:ext cx="4572000" cy="2368296"/>
          </a:xfrm>
          <a:prstGeom prst="rect">
            <a:avLst/>
          </a:prstGeom>
          <a:noFill/>
        </p:spPr>
        <p:txBody>
          <a:bodyPr wrap="square" lIns="36576" tIns="18288" rIns="36576" bIns="18288">
            <a:spAutoFit/>
          </a:bodyPr>
          <a:lstStyle/>
          <a:p>
            <a:pPr algn="l"/>
            <a:r>
              <a:rPr sz="1600" b="0">
                <a:solidFill>
                  <a:srgbClr val="202B38"/>
                </a:solidFill>
                <a:latin typeface="Aptos"/>
              </a:rPr>
              <a:t>- Notes stored separately
- Manual summary and question creation
- Practice history split across tools
- Little connection between source content and feedback</a:t>
            </a:r>
          </a:p>
        </p:txBody>
      </p:sp>
      <p:sp>
        <p:nvSpPr>
          <p:cNvPr id="11" name="Rounded Rectangle 10"/>
          <p:cNvSpPr/>
          <p:nvPr/>
        </p:nvSpPr>
        <p:spPr>
          <a:xfrm>
            <a:off x="6492240" y="1920240"/>
            <a:ext cx="4937760" cy="3063240"/>
          </a:xfrm>
          <a:prstGeom prst="roundRect">
            <a:avLst/>
          </a:prstGeom>
          <a:solidFill>
            <a:srgbClr val="E1F6F5"/>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492240" y="1920240"/>
            <a:ext cx="73152" cy="3063240"/>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93407" y="2084832"/>
            <a:ext cx="4572000" cy="274320"/>
          </a:xfrm>
          <a:prstGeom prst="rect">
            <a:avLst/>
          </a:prstGeom>
          <a:noFill/>
        </p:spPr>
        <p:txBody>
          <a:bodyPr wrap="square" lIns="36576" tIns="18288" rIns="36576" bIns="18288">
            <a:spAutoFit/>
          </a:bodyPr>
          <a:lstStyle/>
          <a:p>
            <a:pPr algn="l"/>
            <a:r>
              <a:rPr sz="1500" b="1">
                <a:solidFill>
                  <a:srgbClr val="0F1F38"/>
                </a:solidFill>
                <a:latin typeface="Aptos"/>
              </a:rPr>
              <a:t>Study Buddy approach</a:t>
            </a:r>
          </a:p>
        </p:txBody>
      </p:sp>
      <p:sp>
        <p:nvSpPr>
          <p:cNvPr id="14" name="TextBox 13"/>
          <p:cNvSpPr txBox="1"/>
          <p:nvPr/>
        </p:nvSpPr>
        <p:spPr>
          <a:xfrm>
            <a:off x="6693407" y="2487168"/>
            <a:ext cx="4572000" cy="2368296"/>
          </a:xfrm>
          <a:prstGeom prst="rect">
            <a:avLst/>
          </a:prstGeom>
          <a:noFill/>
        </p:spPr>
        <p:txBody>
          <a:bodyPr wrap="square" lIns="36576" tIns="18288" rIns="36576" bIns="18288">
            <a:spAutoFit/>
          </a:bodyPr>
          <a:lstStyle/>
          <a:p>
            <a:pPr algn="l"/>
            <a:r>
              <a:rPr sz="1600" b="0">
                <a:solidFill>
                  <a:srgbClr val="202B38"/>
                </a:solidFill>
                <a:latin typeface="Aptos"/>
              </a:rPr>
              <a:t>- Upload and process source material
- Generate summaries, quizzes, and flashcards
- Ask a document-aware tutor
- Record study activity and topic progress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47472"/>
            <a:ext cx="4114800" cy="228600"/>
          </a:xfrm>
          <a:prstGeom prst="rect">
            <a:avLst/>
          </a:prstGeom>
          <a:noFill/>
        </p:spPr>
        <p:txBody>
          <a:bodyPr wrap="square" lIns="36576" tIns="18288" rIns="36576" bIns="18288">
            <a:spAutoFit/>
          </a:bodyPr>
          <a:lstStyle/>
          <a:p>
            <a:pPr algn="l"/>
            <a:r>
              <a:rPr sz="900" b="1">
                <a:solidFill>
                  <a:srgbClr val="009196"/>
                </a:solidFill>
                <a:latin typeface="Aptos"/>
              </a:rPr>
              <a:t>PROJECT DEFENSE</a:t>
            </a:r>
          </a:p>
        </p:txBody>
      </p:sp>
      <p:sp>
        <p:nvSpPr>
          <p:cNvPr id="4" name="TextBox 3"/>
          <p:cNvSpPr txBox="1"/>
          <p:nvPr/>
        </p:nvSpPr>
        <p:spPr>
          <a:xfrm>
            <a:off x="502920" y="658368"/>
            <a:ext cx="10881360" cy="502920"/>
          </a:xfrm>
          <a:prstGeom prst="rect">
            <a:avLst/>
          </a:prstGeom>
          <a:noFill/>
        </p:spPr>
        <p:txBody>
          <a:bodyPr wrap="square" lIns="36576" tIns="18288" rIns="36576" bIns="18288">
            <a:spAutoFit/>
          </a:bodyPr>
          <a:lstStyle/>
          <a:p>
            <a:pPr algn="l"/>
            <a:r>
              <a:rPr sz="2700" b="1">
                <a:solidFill>
                  <a:srgbClr val="0F1F38"/>
                </a:solidFill>
                <a:latin typeface="Aptos"/>
              </a:rPr>
              <a:t>Proposed System</a:t>
            </a:r>
          </a:p>
        </p:txBody>
      </p:sp>
      <p:sp>
        <p:nvSpPr>
          <p:cNvPr id="5" name="TextBox 4"/>
          <p:cNvSpPr txBox="1"/>
          <p:nvPr/>
        </p:nvSpPr>
        <p:spPr>
          <a:xfrm>
            <a:off x="11201400" y="6473952"/>
            <a:ext cx="457200" cy="182880"/>
          </a:xfrm>
          <a:prstGeom prst="rect">
            <a:avLst/>
          </a:prstGeom>
          <a:noFill/>
        </p:spPr>
        <p:txBody>
          <a:bodyPr wrap="square" lIns="36576" tIns="18288" rIns="36576" bIns="18288">
            <a:spAutoFit/>
          </a:bodyPr>
          <a:lstStyle/>
          <a:p>
            <a:pPr algn="r"/>
            <a:r>
              <a:rPr sz="900" b="1">
                <a:solidFill>
                  <a:srgbClr val="5D6C7D"/>
                </a:solidFill>
                <a:latin typeface="Aptos"/>
              </a:rPr>
              <a:t>06</a:t>
            </a:r>
          </a:p>
        </p:txBody>
      </p:sp>
      <p:sp>
        <p:nvSpPr>
          <p:cNvPr id="6" name="TextBox 5"/>
          <p:cNvSpPr txBox="1"/>
          <p:nvPr/>
        </p:nvSpPr>
        <p:spPr>
          <a:xfrm>
            <a:off x="640080" y="1234440"/>
            <a:ext cx="10515600" cy="365760"/>
          </a:xfrm>
          <a:prstGeom prst="rect">
            <a:avLst/>
          </a:prstGeom>
          <a:noFill/>
        </p:spPr>
        <p:txBody>
          <a:bodyPr wrap="square" lIns="36576" tIns="18288" rIns="36576" bIns="18288">
            <a:spAutoFit/>
          </a:bodyPr>
          <a:lstStyle/>
          <a:p>
            <a:pPr algn="l"/>
            <a:r>
              <a:rPr sz="1900" b="1">
                <a:solidFill>
                  <a:srgbClr val="0F1F38"/>
                </a:solidFill>
                <a:latin typeface="Aptos"/>
              </a:rPr>
              <a:t>One authenticated workspace connects content ingestion, AI generation, practice, and analytics.</a:t>
            </a:r>
          </a:p>
        </p:txBody>
      </p:sp>
      <p:sp>
        <p:nvSpPr>
          <p:cNvPr id="7" name="Rounded Rectangle 6"/>
          <p:cNvSpPr/>
          <p:nvPr/>
        </p:nvSpPr>
        <p:spPr>
          <a:xfrm>
            <a:off x="685800" y="2103120"/>
            <a:ext cx="1920240" cy="914400"/>
          </a:xfrm>
          <a:prstGeom prst="roundRect">
            <a:avLst/>
          </a:prstGeom>
          <a:solidFill>
            <a:srgbClr val="FFF6DC"/>
          </a:solidFill>
          <a:ln w="8890">
            <a:solidFill>
              <a:srgbClr val="EDB5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58952" y="2176272"/>
            <a:ext cx="1773936" cy="768096"/>
          </a:xfrm>
          <a:prstGeom prst="rect">
            <a:avLst/>
          </a:prstGeom>
          <a:noFill/>
        </p:spPr>
        <p:txBody>
          <a:bodyPr wrap="square" lIns="36576" tIns="18288" rIns="36576" bIns="18288">
            <a:spAutoFit/>
          </a:bodyPr>
          <a:lstStyle/>
          <a:p>
            <a:pPr algn="ctr"/>
            <a:r>
              <a:rPr sz="1300" b="1">
                <a:solidFill>
                  <a:srgbClr val="0F1F38"/>
                </a:solidFill>
                <a:latin typeface="Aptos"/>
              </a:rPr>
              <a:t>UPLOAD
DOCUMENT</a:t>
            </a:r>
          </a:p>
        </p:txBody>
      </p:sp>
      <p:sp>
        <p:nvSpPr>
          <p:cNvPr id="9" name="Rounded Rectangle 8"/>
          <p:cNvSpPr/>
          <p:nvPr/>
        </p:nvSpPr>
        <p:spPr>
          <a:xfrm>
            <a:off x="2971800" y="2103120"/>
            <a:ext cx="1920240" cy="914400"/>
          </a:xfrm>
          <a:prstGeom prst="roundRect">
            <a:avLst/>
          </a:prstGeom>
          <a:solidFill>
            <a:srgbClr val="E1F6F5"/>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044952" y="2176272"/>
            <a:ext cx="1773936" cy="768096"/>
          </a:xfrm>
          <a:prstGeom prst="rect">
            <a:avLst/>
          </a:prstGeom>
          <a:noFill/>
        </p:spPr>
        <p:txBody>
          <a:bodyPr wrap="square" lIns="36576" tIns="18288" rIns="36576" bIns="18288">
            <a:spAutoFit/>
          </a:bodyPr>
          <a:lstStyle/>
          <a:p>
            <a:pPr algn="ctr"/>
            <a:r>
              <a:rPr sz="1300" b="1">
                <a:solidFill>
                  <a:srgbClr val="0F1F38"/>
                </a:solidFill>
                <a:latin typeface="Aptos"/>
              </a:rPr>
              <a:t>EXTRACT
TEXT</a:t>
            </a:r>
          </a:p>
        </p:txBody>
      </p:sp>
      <p:sp>
        <p:nvSpPr>
          <p:cNvPr id="11" name="Rounded Rectangle 10"/>
          <p:cNvSpPr/>
          <p:nvPr/>
        </p:nvSpPr>
        <p:spPr>
          <a:xfrm>
            <a:off x="5257800" y="2103120"/>
            <a:ext cx="1920240" cy="914400"/>
          </a:xfrm>
          <a:prstGeom prst="roundRect">
            <a:avLst/>
          </a:prstGeom>
          <a:solidFill>
            <a:srgbClr val="FDEBE8"/>
          </a:solidFill>
          <a:ln w="8890">
            <a:solidFill>
              <a:srgbClr val="EB6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30952" y="2176272"/>
            <a:ext cx="1773936" cy="768096"/>
          </a:xfrm>
          <a:prstGeom prst="rect">
            <a:avLst/>
          </a:prstGeom>
          <a:noFill/>
        </p:spPr>
        <p:txBody>
          <a:bodyPr wrap="square" lIns="36576" tIns="18288" rIns="36576" bIns="18288">
            <a:spAutoFit/>
          </a:bodyPr>
          <a:lstStyle/>
          <a:p>
            <a:pPr algn="ctr"/>
            <a:r>
              <a:rPr sz="1300" b="1">
                <a:solidFill>
                  <a:srgbClr val="0F1F38"/>
                </a:solidFill>
                <a:latin typeface="Aptos"/>
              </a:rPr>
              <a:t>GENERATE
LEARNING</a:t>
            </a:r>
          </a:p>
        </p:txBody>
      </p:sp>
      <p:sp>
        <p:nvSpPr>
          <p:cNvPr id="13" name="Rounded Rectangle 12"/>
          <p:cNvSpPr/>
          <p:nvPr/>
        </p:nvSpPr>
        <p:spPr>
          <a:xfrm>
            <a:off x="7543800" y="2103120"/>
            <a:ext cx="1920240" cy="914400"/>
          </a:xfrm>
          <a:prstGeom prst="roundRect">
            <a:avLst/>
          </a:prstGeom>
          <a:solidFill>
            <a:srgbClr val="FFFFFF"/>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16952" y="2176272"/>
            <a:ext cx="1773936" cy="768096"/>
          </a:xfrm>
          <a:prstGeom prst="rect">
            <a:avLst/>
          </a:prstGeom>
          <a:noFill/>
        </p:spPr>
        <p:txBody>
          <a:bodyPr wrap="square" lIns="36576" tIns="18288" rIns="36576" bIns="18288">
            <a:spAutoFit/>
          </a:bodyPr>
          <a:lstStyle/>
          <a:p>
            <a:pPr algn="ctr"/>
            <a:r>
              <a:rPr sz="1300" b="1">
                <a:solidFill>
                  <a:srgbClr val="0F1F38"/>
                </a:solidFill>
                <a:latin typeface="Aptos"/>
              </a:rPr>
              <a:t>PRACTICE
AND CHAT</a:t>
            </a:r>
          </a:p>
        </p:txBody>
      </p:sp>
      <p:sp>
        <p:nvSpPr>
          <p:cNvPr id="15" name="Rounded Rectangle 14"/>
          <p:cNvSpPr/>
          <p:nvPr/>
        </p:nvSpPr>
        <p:spPr>
          <a:xfrm>
            <a:off x="9829800" y="2103120"/>
            <a:ext cx="1645920" cy="914400"/>
          </a:xfrm>
          <a:prstGeom prst="roundRect">
            <a:avLst/>
          </a:prstGeom>
          <a:solidFill>
            <a:srgbClr val="FFF6DC"/>
          </a:solidFill>
          <a:ln w="8890">
            <a:solidFill>
              <a:srgbClr val="EDB5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902952" y="2176272"/>
            <a:ext cx="1499616" cy="768096"/>
          </a:xfrm>
          <a:prstGeom prst="rect">
            <a:avLst/>
          </a:prstGeom>
          <a:noFill/>
        </p:spPr>
        <p:txBody>
          <a:bodyPr wrap="square" lIns="36576" tIns="18288" rIns="36576" bIns="18288">
            <a:spAutoFit/>
          </a:bodyPr>
          <a:lstStyle/>
          <a:p>
            <a:pPr algn="ctr"/>
            <a:r>
              <a:rPr sz="1300" b="1">
                <a:solidFill>
                  <a:srgbClr val="0F1F38"/>
                </a:solidFill>
                <a:latin typeface="Aptos"/>
              </a:rPr>
              <a:t>TRACK
PROGRESS</a:t>
            </a:r>
          </a:p>
        </p:txBody>
      </p:sp>
      <p:cxnSp>
        <p:nvCxnSpPr>
          <p:cNvPr id="17" name="Connector 16"/>
          <p:cNvCxnSpPr/>
          <p:nvPr/>
        </p:nvCxnSpPr>
        <p:spPr>
          <a:xfrm>
            <a:off x="2606040" y="2560320"/>
            <a:ext cx="320040" cy="0"/>
          </a:xfrm>
          <a:prstGeom prst="line">
            <a:avLst/>
          </a:prstGeom>
          <a:ln w="22860">
            <a:solidFill>
              <a:srgbClr val="00919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892040" y="2560320"/>
            <a:ext cx="320039" cy="0"/>
          </a:xfrm>
          <a:prstGeom prst="line">
            <a:avLst/>
          </a:prstGeom>
          <a:ln w="22860">
            <a:solidFill>
              <a:srgbClr val="00919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178040" y="2560320"/>
            <a:ext cx="320039" cy="0"/>
          </a:xfrm>
          <a:prstGeom prst="line">
            <a:avLst/>
          </a:prstGeom>
          <a:ln w="22860">
            <a:solidFill>
              <a:srgbClr val="00919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464040" y="2560320"/>
            <a:ext cx="320040" cy="0"/>
          </a:xfrm>
          <a:prstGeom prst="line">
            <a:avLst/>
          </a:prstGeom>
          <a:ln w="22860">
            <a:solidFill>
              <a:srgbClr val="009196"/>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14400" y="3977639"/>
            <a:ext cx="3017520" cy="1234440"/>
          </a:xfrm>
          <a:prstGeom prst="round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14400" y="3977639"/>
            <a:ext cx="73152" cy="1234440"/>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115568" y="4142231"/>
            <a:ext cx="2651760" cy="274320"/>
          </a:xfrm>
          <a:prstGeom prst="rect">
            <a:avLst/>
          </a:prstGeom>
          <a:noFill/>
        </p:spPr>
        <p:txBody>
          <a:bodyPr wrap="square" lIns="36576" tIns="18288" rIns="36576" bIns="18288">
            <a:spAutoFit/>
          </a:bodyPr>
          <a:lstStyle/>
          <a:p>
            <a:pPr algn="l"/>
            <a:r>
              <a:rPr sz="1500" b="1">
                <a:solidFill>
                  <a:srgbClr val="0F1F38"/>
                </a:solidFill>
                <a:latin typeface="Aptos"/>
              </a:rPr>
              <a:t>Content-aware</a:t>
            </a:r>
          </a:p>
        </p:txBody>
      </p:sp>
      <p:sp>
        <p:nvSpPr>
          <p:cNvPr id="24" name="TextBox 23"/>
          <p:cNvSpPr txBox="1"/>
          <p:nvPr/>
        </p:nvSpPr>
        <p:spPr>
          <a:xfrm>
            <a:off x="1115568" y="4544568"/>
            <a:ext cx="2651760" cy="539496"/>
          </a:xfrm>
          <a:prstGeom prst="rect">
            <a:avLst/>
          </a:prstGeom>
          <a:noFill/>
        </p:spPr>
        <p:txBody>
          <a:bodyPr wrap="square" lIns="36576" tIns="18288" rIns="36576" bIns="18288">
            <a:spAutoFit/>
          </a:bodyPr>
          <a:lstStyle/>
          <a:p>
            <a:pPr algn="l"/>
            <a:r>
              <a:rPr sz="1400" b="0">
                <a:solidFill>
                  <a:srgbClr val="202B38"/>
                </a:solidFill>
                <a:latin typeface="Aptos"/>
              </a:rPr>
              <a:t>Summaries, quizzes, flashcards, and tutor prompts use extracted document text.</a:t>
            </a:r>
          </a:p>
        </p:txBody>
      </p:sp>
      <p:sp>
        <p:nvSpPr>
          <p:cNvPr id="25" name="Rounded Rectangle 24"/>
          <p:cNvSpPr/>
          <p:nvPr/>
        </p:nvSpPr>
        <p:spPr>
          <a:xfrm>
            <a:off x="4572000" y="3977639"/>
            <a:ext cx="3017520" cy="1234440"/>
          </a:xfrm>
          <a:prstGeom prst="round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572000" y="3977639"/>
            <a:ext cx="73152" cy="1234440"/>
          </a:xfrm>
          <a:prstGeom prst="rect">
            <a:avLst/>
          </a:prstGeom>
          <a:solidFill>
            <a:srgbClr val="EB695B"/>
          </a:solidFill>
          <a:ln w="8890">
            <a:solidFill>
              <a:srgbClr val="EB6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773168" y="4142231"/>
            <a:ext cx="2651760" cy="274320"/>
          </a:xfrm>
          <a:prstGeom prst="rect">
            <a:avLst/>
          </a:prstGeom>
          <a:noFill/>
        </p:spPr>
        <p:txBody>
          <a:bodyPr wrap="square" lIns="36576" tIns="18288" rIns="36576" bIns="18288">
            <a:spAutoFit/>
          </a:bodyPr>
          <a:lstStyle/>
          <a:p>
            <a:pPr algn="l"/>
            <a:r>
              <a:rPr sz="1500" b="1">
                <a:solidFill>
                  <a:srgbClr val="0F1F38"/>
                </a:solidFill>
                <a:latin typeface="Aptos"/>
              </a:rPr>
              <a:t>Adaptive review</a:t>
            </a:r>
          </a:p>
        </p:txBody>
      </p:sp>
      <p:sp>
        <p:nvSpPr>
          <p:cNvPr id="28" name="TextBox 27"/>
          <p:cNvSpPr txBox="1"/>
          <p:nvPr/>
        </p:nvSpPr>
        <p:spPr>
          <a:xfrm>
            <a:off x="4773168" y="4544568"/>
            <a:ext cx="2651760" cy="539496"/>
          </a:xfrm>
          <a:prstGeom prst="rect">
            <a:avLst/>
          </a:prstGeom>
          <a:noFill/>
        </p:spPr>
        <p:txBody>
          <a:bodyPr wrap="square" lIns="36576" tIns="18288" rIns="36576" bIns="18288">
            <a:spAutoFit/>
          </a:bodyPr>
          <a:lstStyle/>
          <a:p>
            <a:pPr algn="l"/>
            <a:r>
              <a:rPr sz="1400" b="0">
                <a:solidFill>
                  <a:srgbClr val="202B38"/>
                </a:solidFill>
                <a:latin typeface="Aptos"/>
              </a:rPr>
              <a:t>SM-2 updates intervals and next review dates from quality ratings.</a:t>
            </a:r>
          </a:p>
        </p:txBody>
      </p:sp>
      <p:sp>
        <p:nvSpPr>
          <p:cNvPr id="29" name="Rounded Rectangle 28"/>
          <p:cNvSpPr/>
          <p:nvPr/>
        </p:nvSpPr>
        <p:spPr>
          <a:xfrm>
            <a:off x="8229600" y="3977639"/>
            <a:ext cx="3017520" cy="1234440"/>
          </a:xfrm>
          <a:prstGeom prst="round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8229600" y="3977639"/>
            <a:ext cx="73152" cy="1234440"/>
          </a:xfrm>
          <a:prstGeom prst="rect">
            <a:avLst/>
          </a:prstGeom>
          <a:solidFill>
            <a:srgbClr val="EDB547"/>
          </a:solidFill>
          <a:ln w="8890">
            <a:solidFill>
              <a:srgbClr val="EDB5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430768" y="4142231"/>
            <a:ext cx="2651760" cy="274320"/>
          </a:xfrm>
          <a:prstGeom prst="rect">
            <a:avLst/>
          </a:prstGeom>
          <a:noFill/>
        </p:spPr>
        <p:txBody>
          <a:bodyPr wrap="square" lIns="36576" tIns="18288" rIns="36576" bIns="18288">
            <a:spAutoFit/>
          </a:bodyPr>
          <a:lstStyle/>
          <a:p>
            <a:pPr algn="l"/>
            <a:r>
              <a:rPr sz="1500" b="1">
                <a:solidFill>
                  <a:srgbClr val="0F1F38"/>
                </a:solidFill>
                <a:latin typeface="Aptos"/>
              </a:rPr>
              <a:t>Observable activity</a:t>
            </a:r>
          </a:p>
        </p:txBody>
      </p:sp>
      <p:sp>
        <p:nvSpPr>
          <p:cNvPr id="32" name="TextBox 31"/>
          <p:cNvSpPr txBox="1"/>
          <p:nvPr/>
        </p:nvSpPr>
        <p:spPr>
          <a:xfrm>
            <a:off x="8430768" y="4544568"/>
            <a:ext cx="2651760" cy="539496"/>
          </a:xfrm>
          <a:prstGeom prst="rect">
            <a:avLst/>
          </a:prstGeom>
          <a:noFill/>
        </p:spPr>
        <p:txBody>
          <a:bodyPr wrap="square" lIns="36576" tIns="18288" rIns="36576" bIns="18288">
            <a:spAutoFit/>
          </a:bodyPr>
          <a:lstStyle/>
          <a:p>
            <a:pPr algn="l"/>
            <a:r>
              <a:rPr sz="1400" b="0">
                <a:solidFill>
                  <a:srgbClr val="202B38"/>
                </a:solidFill>
                <a:latin typeface="Aptos"/>
              </a:rPr>
              <a:t>Quiz attempts, reviews, sessions, topics, and mastery feed analytics.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47472"/>
            <a:ext cx="4114800" cy="228600"/>
          </a:xfrm>
          <a:prstGeom prst="rect">
            <a:avLst/>
          </a:prstGeom>
          <a:noFill/>
        </p:spPr>
        <p:txBody>
          <a:bodyPr wrap="square" lIns="36576" tIns="18288" rIns="36576" bIns="18288">
            <a:spAutoFit/>
          </a:bodyPr>
          <a:lstStyle/>
          <a:p>
            <a:pPr algn="l"/>
            <a:r>
              <a:rPr sz="900" b="1">
                <a:solidFill>
                  <a:srgbClr val="009196"/>
                </a:solidFill>
                <a:latin typeface="Aptos"/>
              </a:rPr>
              <a:t>PROJECT DEFENSE</a:t>
            </a:r>
          </a:p>
        </p:txBody>
      </p:sp>
      <p:sp>
        <p:nvSpPr>
          <p:cNvPr id="4" name="TextBox 3"/>
          <p:cNvSpPr txBox="1"/>
          <p:nvPr/>
        </p:nvSpPr>
        <p:spPr>
          <a:xfrm>
            <a:off x="502920" y="658368"/>
            <a:ext cx="10881360" cy="502920"/>
          </a:xfrm>
          <a:prstGeom prst="rect">
            <a:avLst/>
          </a:prstGeom>
          <a:noFill/>
        </p:spPr>
        <p:txBody>
          <a:bodyPr wrap="square" lIns="36576" tIns="18288" rIns="36576" bIns="18288">
            <a:spAutoFit/>
          </a:bodyPr>
          <a:lstStyle/>
          <a:p>
            <a:pPr algn="l"/>
            <a:r>
              <a:rPr sz="2700" b="1">
                <a:solidFill>
                  <a:srgbClr val="0F1F38"/>
                </a:solidFill>
                <a:latin typeface="Aptos"/>
              </a:rPr>
              <a:t>Project Objectives</a:t>
            </a:r>
          </a:p>
        </p:txBody>
      </p:sp>
      <p:sp>
        <p:nvSpPr>
          <p:cNvPr id="5" name="TextBox 4"/>
          <p:cNvSpPr txBox="1"/>
          <p:nvPr/>
        </p:nvSpPr>
        <p:spPr>
          <a:xfrm>
            <a:off x="11201400" y="6473952"/>
            <a:ext cx="457200" cy="182880"/>
          </a:xfrm>
          <a:prstGeom prst="rect">
            <a:avLst/>
          </a:prstGeom>
          <a:noFill/>
        </p:spPr>
        <p:txBody>
          <a:bodyPr wrap="square" lIns="36576" tIns="18288" rIns="36576" bIns="18288">
            <a:spAutoFit/>
          </a:bodyPr>
          <a:lstStyle/>
          <a:p>
            <a:pPr algn="r"/>
            <a:r>
              <a:rPr sz="900" b="1">
                <a:solidFill>
                  <a:srgbClr val="5D6C7D"/>
                </a:solidFill>
                <a:latin typeface="Aptos"/>
              </a:rPr>
              <a:t>07</a:t>
            </a:r>
          </a:p>
        </p:txBody>
      </p:sp>
      <p:sp>
        <p:nvSpPr>
          <p:cNvPr id="6" name="Rounded Rectangle 5"/>
          <p:cNvSpPr/>
          <p:nvPr/>
        </p:nvSpPr>
        <p:spPr>
          <a:xfrm>
            <a:off x="777240" y="1417320"/>
            <a:ext cx="5120640" cy="914400"/>
          </a:xfrm>
          <a:prstGeom prst="round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618488"/>
            <a:ext cx="457200" cy="320040"/>
          </a:xfrm>
          <a:prstGeom prst="rect">
            <a:avLst/>
          </a:prstGeom>
          <a:noFill/>
        </p:spPr>
        <p:txBody>
          <a:bodyPr wrap="square" lIns="36576" tIns="18288" rIns="36576" bIns="18288">
            <a:spAutoFit/>
          </a:bodyPr>
          <a:lstStyle/>
          <a:p>
            <a:pPr algn="l"/>
            <a:r>
              <a:rPr sz="1600" b="1">
                <a:solidFill>
                  <a:srgbClr val="009196"/>
                </a:solidFill>
                <a:latin typeface="Aptos"/>
              </a:rPr>
              <a:t>01</a:t>
            </a:r>
          </a:p>
        </p:txBody>
      </p:sp>
      <p:sp>
        <p:nvSpPr>
          <p:cNvPr id="8" name="TextBox 7"/>
          <p:cNvSpPr txBox="1"/>
          <p:nvPr/>
        </p:nvSpPr>
        <p:spPr>
          <a:xfrm>
            <a:off x="1554480" y="1572768"/>
            <a:ext cx="4069080" cy="502920"/>
          </a:xfrm>
          <a:prstGeom prst="rect">
            <a:avLst/>
          </a:prstGeom>
          <a:noFill/>
        </p:spPr>
        <p:txBody>
          <a:bodyPr wrap="square" lIns="36576" tIns="18288" rIns="36576" bIns="18288">
            <a:spAutoFit/>
          </a:bodyPr>
          <a:lstStyle/>
          <a:p>
            <a:pPr algn="l"/>
            <a:r>
              <a:rPr sz="1500" b="1">
                <a:solidFill>
                  <a:srgbClr val="202B38"/>
                </a:solidFill>
                <a:latin typeface="Aptos"/>
              </a:rPr>
              <a:t>Accept and process common study-document formats.</a:t>
            </a:r>
          </a:p>
        </p:txBody>
      </p:sp>
      <p:sp>
        <p:nvSpPr>
          <p:cNvPr id="9" name="Rounded Rectangle 8"/>
          <p:cNvSpPr/>
          <p:nvPr/>
        </p:nvSpPr>
        <p:spPr>
          <a:xfrm>
            <a:off x="777240" y="2743200"/>
            <a:ext cx="5120640" cy="914400"/>
          </a:xfrm>
          <a:prstGeom prst="round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0120" y="2944368"/>
            <a:ext cx="457200" cy="320040"/>
          </a:xfrm>
          <a:prstGeom prst="rect">
            <a:avLst/>
          </a:prstGeom>
          <a:noFill/>
        </p:spPr>
        <p:txBody>
          <a:bodyPr wrap="square" lIns="36576" tIns="18288" rIns="36576" bIns="18288">
            <a:spAutoFit/>
          </a:bodyPr>
          <a:lstStyle/>
          <a:p>
            <a:pPr algn="l"/>
            <a:r>
              <a:rPr sz="1600" b="1">
                <a:solidFill>
                  <a:srgbClr val="EB695B"/>
                </a:solidFill>
                <a:latin typeface="Aptos"/>
              </a:rPr>
              <a:t>02</a:t>
            </a:r>
          </a:p>
        </p:txBody>
      </p:sp>
      <p:sp>
        <p:nvSpPr>
          <p:cNvPr id="11" name="TextBox 10"/>
          <p:cNvSpPr txBox="1"/>
          <p:nvPr/>
        </p:nvSpPr>
        <p:spPr>
          <a:xfrm>
            <a:off x="1554480" y="2898648"/>
            <a:ext cx="4069080" cy="502920"/>
          </a:xfrm>
          <a:prstGeom prst="rect">
            <a:avLst/>
          </a:prstGeom>
          <a:noFill/>
        </p:spPr>
        <p:txBody>
          <a:bodyPr wrap="square" lIns="36576" tIns="18288" rIns="36576" bIns="18288">
            <a:spAutoFit/>
          </a:bodyPr>
          <a:lstStyle/>
          <a:p>
            <a:pPr algn="l"/>
            <a:r>
              <a:rPr sz="1500" b="1">
                <a:solidFill>
                  <a:srgbClr val="202B38"/>
                </a:solidFill>
                <a:latin typeface="Aptos"/>
              </a:rPr>
              <a:t>Generate summaries in five supported formats.</a:t>
            </a:r>
          </a:p>
        </p:txBody>
      </p:sp>
      <p:sp>
        <p:nvSpPr>
          <p:cNvPr id="12" name="Rounded Rectangle 11"/>
          <p:cNvSpPr/>
          <p:nvPr/>
        </p:nvSpPr>
        <p:spPr>
          <a:xfrm>
            <a:off x="777240" y="4069080"/>
            <a:ext cx="5120640" cy="914400"/>
          </a:xfrm>
          <a:prstGeom prst="round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4270248"/>
            <a:ext cx="457200" cy="320040"/>
          </a:xfrm>
          <a:prstGeom prst="rect">
            <a:avLst/>
          </a:prstGeom>
          <a:noFill/>
        </p:spPr>
        <p:txBody>
          <a:bodyPr wrap="square" lIns="36576" tIns="18288" rIns="36576" bIns="18288">
            <a:spAutoFit/>
          </a:bodyPr>
          <a:lstStyle/>
          <a:p>
            <a:pPr algn="l"/>
            <a:r>
              <a:rPr sz="1600" b="1">
                <a:solidFill>
                  <a:srgbClr val="009196"/>
                </a:solidFill>
                <a:latin typeface="Aptos"/>
              </a:rPr>
              <a:t>03</a:t>
            </a:r>
          </a:p>
        </p:txBody>
      </p:sp>
      <p:sp>
        <p:nvSpPr>
          <p:cNvPr id="14" name="TextBox 13"/>
          <p:cNvSpPr txBox="1"/>
          <p:nvPr/>
        </p:nvSpPr>
        <p:spPr>
          <a:xfrm>
            <a:off x="1554480" y="4224528"/>
            <a:ext cx="4069080" cy="502920"/>
          </a:xfrm>
          <a:prstGeom prst="rect">
            <a:avLst/>
          </a:prstGeom>
          <a:noFill/>
        </p:spPr>
        <p:txBody>
          <a:bodyPr wrap="square" lIns="36576" tIns="18288" rIns="36576" bIns="18288">
            <a:spAutoFit/>
          </a:bodyPr>
          <a:lstStyle/>
          <a:p>
            <a:pPr algn="l"/>
            <a:r>
              <a:rPr sz="1500" b="1">
                <a:solidFill>
                  <a:srgbClr val="202B38"/>
                </a:solidFill>
                <a:latin typeface="Aptos"/>
              </a:rPr>
              <a:t>Generate configurable multiple-choice quizzes with explanations.</a:t>
            </a:r>
          </a:p>
        </p:txBody>
      </p:sp>
      <p:sp>
        <p:nvSpPr>
          <p:cNvPr id="15" name="Rounded Rectangle 14"/>
          <p:cNvSpPr/>
          <p:nvPr/>
        </p:nvSpPr>
        <p:spPr>
          <a:xfrm>
            <a:off x="6172200" y="1417320"/>
            <a:ext cx="5120640" cy="914400"/>
          </a:xfrm>
          <a:prstGeom prst="round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55080" y="1618488"/>
            <a:ext cx="457200" cy="320040"/>
          </a:xfrm>
          <a:prstGeom prst="rect">
            <a:avLst/>
          </a:prstGeom>
          <a:noFill/>
        </p:spPr>
        <p:txBody>
          <a:bodyPr wrap="square" lIns="36576" tIns="18288" rIns="36576" bIns="18288">
            <a:spAutoFit/>
          </a:bodyPr>
          <a:lstStyle/>
          <a:p>
            <a:pPr algn="l"/>
            <a:r>
              <a:rPr sz="1600" b="1">
                <a:solidFill>
                  <a:srgbClr val="EB695B"/>
                </a:solidFill>
                <a:latin typeface="Aptos"/>
              </a:rPr>
              <a:t>04</a:t>
            </a:r>
          </a:p>
        </p:txBody>
      </p:sp>
      <p:sp>
        <p:nvSpPr>
          <p:cNvPr id="17" name="TextBox 16"/>
          <p:cNvSpPr txBox="1"/>
          <p:nvPr/>
        </p:nvSpPr>
        <p:spPr>
          <a:xfrm>
            <a:off x="6949440" y="1572768"/>
            <a:ext cx="4069080" cy="502920"/>
          </a:xfrm>
          <a:prstGeom prst="rect">
            <a:avLst/>
          </a:prstGeom>
          <a:noFill/>
        </p:spPr>
        <p:txBody>
          <a:bodyPr wrap="square" lIns="36576" tIns="18288" rIns="36576" bIns="18288">
            <a:spAutoFit/>
          </a:bodyPr>
          <a:lstStyle/>
          <a:p>
            <a:pPr algn="l"/>
            <a:r>
              <a:rPr sz="1500" b="1">
                <a:solidFill>
                  <a:srgbClr val="202B38"/>
                </a:solidFill>
                <a:latin typeface="Aptos"/>
              </a:rPr>
              <a:t>Generate flashcards and schedule reviews with SM-2.</a:t>
            </a:r>
          </a:p>
        </p:txBody>
      </p:sp>
      <p:sp>
        <p:nvSpPr>
          <p:cNvPr id="18" name="Rounded Rectangle 17"/>
          <p:cNvSpPr/>
          <p:nvPr/>
        </p:nvSpPr>
        <p:spPr>
          <a:xfrm>
            <a:off x="6172200" y="2743200"/>
            <a:ext cx="5120640" cy="914400"/>
          </a:xfrm>
          <a:prstGeom prst="round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55080" y="2944368"/>
            <a:ext cx="457200" cy="320040"/>
          </a:xfrm>
          <a:prstGeom prst="rect">
            <a:avLst/>
          </a:prstGeom>
          <a:noFill/>
        </p:spPr>
        <p:txBody>
          <a:bodyPr wrap="square" lIns="36576" tIns="18288" rIns="36576" bIns="18288">
            <a:spAutoFit/>
          </a:bodyPr>
          <a:lstStyle/>
          <a:p>
            <a:pPr algn="l"/>
            <a:r>
              <a:rPr sz="1600" b="1">
                <a:solidFill>
                  <a:srgbClr val="009196"/>
                </a:solidFill>
                <a:latin typeface="Aptos"/>
              </a:rPr>
              <a:t>05</a:t>
            </a:r>
          </a:p>
        </p:txBody>
      </p:sp>
      <p:sp>
        <p:nvSpPr>
          <p:cNvPr id="20" name="TextBox 19"/>
          <p:cNvSpPr txBox="1"/>
          <p:nvPr/>
        </p:nvSpPr>
        <p:spPr>
          <a:xfrm>
            <a:off x="6949440" y="2898648"/>
            <a:ext cx="4069080" cy="502920"/>
          </a:xfrm>
          <a:prstGeom prst="rect">
            <a:avLst/>
          </a:prstGeom>
          <a:noFill/>
        </p:spPr>
        <p:txBody>
          <a:bodyPr wrap="square" lIns="36576" tIns="18288" rIns="36576" bIns="18288">
            <a:spAutoFit/>
          </a:bodyPr>
          <a:lstStyle/>
          <a:p>
            <a:pPr algn="l"/>
            <a:r>
              <a:rPr sz="1500" b="1">
                <a:solidFill>
                  <a:srgbClr val="202B38"/>
                </a:solidFill>
                <a:latin typeface="Aptos"/>
              </a:rPr>
              <a:t>Provide six AI tutor modes, including optional document context.</a:t>
            </a:r>
          </a:p>
        </p:txBody>
      </p:sp>
      <p:sp>
        <p:nvSpPr>
          <p:cNvPr id="21" name="Rounded Rectangle 20"/>
          <p:cNvSpPr/>
          <p:nvPr/>
        </p:nvSpPr>
        <p:spPr>
          <a:xfrm>
            <a:off x="6172200" y="4069080"/>
            <a:ext cx="5120640" cy="914400"/>
          </a:xfrm>
          <a:prstGeom prst="round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55080" y="4270248"/>
            <a:ext cx="457200" cy="320040"/>
          </a:xfrm>
          <a:prstGeom prst="rect">
            <a:avLst/>
          </a:prstGeom>
          <a:noFill/>
        </p:spPr>
        <p:txBody>
          <a:bodyPr wrap="square" lIns="36576" tIns="18288" rIns="36576" bIns="18288">
            <a:spAutoFit/>
          </a:bodyPr>
          <a:lstStyle/>
          <a:p>
            <a:pPr algn="l"/>
            <a:r>
              <a:rPr sz="1600" b="1">
                <a:solidFill>
                  <a:srgbClr val="EB695B"/>
                </a:solidFill>
                <a:latin typeface="Aptos"/>
              </a:rPr>
              <a:t>06</a:t>
            </a:r>
          </a:p>
        </p:txBody>
      </p:sp>
      <p:sp>
        <p:nvSpPr>
          <p:cNvPr id="23" name="TextBox 22"/>
          <p:cNvSpPr txBox="1"/>
          <p:nvPr/>
        </p:nvSpPr>
        <p:spPr>
          <a:xfrm>
            <a:off x="6949440" y="4224528"/>
            <a:ext cx="4069080" cy="502920"/>
          </a:xfrm>
          <a:prstGeom prst="rect">
            <a:avLst/>
          </a:prstGeom>
          <a:noFill/>
        </p:spPr>
        <p:txBody>
          <a:bodyPr wrap="square" lIns="36576" tIns="18288" rIns="36576" bIns="18288">
            <a:spAutoFit/>
          </a:bodyPr>
          <a:lstStyle/>
          <a:p>
            <a:pPr algn="l"/>
            <a:r>
              <a:rPr sz="1500" b="1">
                <a:solidFill>
                  <a:srgbClr val="202B38"/>
                </a:solidFill>
                <a:latin typeface="Aptos"/>
              </a:rPr>
              <a:t>Record learning activity and expose topic-level analytics.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47472"/>
            <a:ext cx="4114800" cy="228600"/>
          </a:xfrm>
          <a:prstGeom prst="rect">
            <a:avLst/>
          </a:prstGeom>
          <a:noFill/>
        </p:spPr>
        <p:txBody>
          <a:bodyPr wrap="square" lIns="36576" tIns="18288" rIns="36576" bIns="18288">
            <a:spAutoFit/>
          </a:bodyPr>
          <a:lstStyle/>
          <a:p>
            <a:pPr algn="l"/>
            <a:r>
              <a:rPr sz="900" b="1">
                <a:solidFill>
                  <a:srgbClr val="009196"/>
                </a:solidFill>
                <a:latin typeface="Aptos"/>
              </a:rPr>
              <a:t>PROJECT DEFENSE</a:t>
            </a:r>
          </a:p>
        </p:txBody>
      </p:sp>
      <p:sp>
        <p:nvSpPr>
          <p:cNvPr id="4" name="TextBox 3"/>
          <p:cNvSpPr txBox="1"/>
          <p:nvPr/>
        </p:nvSpPr>
        <p:spPr>
          <a:xfrm>
            <a:off x="502920" y="658368"/>
            <a:ext cx="10881360" cy="502920"/>
          </a:xfrm>
          <a:prstGeom prst="rect">
            <a:avLst/>
          </a:prstGeom>
          <a:noFill/>
        </p:spPr>
        <p:txBody>
          <a:bodyPr wrap="square" lIns="36576" tIns="18288" rIns="36576" bIns="18288">
            <a:spAutoFit/>
          </a:bodyPr>
          <a:lstStyle/>
          <a:p>
            <a:pPr algn="l"/>
            <a:r>
              <a:rPr sz="2700" b="1">
                <a:solidFill>
                  <a:srgbClr val="0F1F38"/>
                </a:solidFill>
                <a:latin typeface="Aptos"/>
              </a:rPr>
              <a:t>Scope and Requirements</a:t>
            </a:r>
          </a:p>
        </p:txBody>
      </p:sp>
      <p:sp>
        <p:nvSpPr>
          <p:cNvPr id="5" name="TextBox 4"/>
          <p:cNvSpPr txBox="1"/>
          <p:nvPr/>
        </p:nvSpPr>
        <p:spPr>
          <a:xfrm>
            <a:off x="11201400" y="6473952"/>
            <a:ext cx="457200" cy="182880"/>
          </a:xfrm>
          <a:prstGeom prst="rect">
            <a:avLst/>
          </a:prstGeom>
          <a:noFill/>
        </p:spPr>
        <p:txBody>
          <a:bodyPr wrap="square" lIns="36576" tIns="18288" rIns="36576" bIns="18288">
            <a:spAutoFit/>
          </a:bodyPr>
          <a:lstStyle/>
          <a:p>
            <a:pPr algn="r"/>
            <a:r>
              <a:rPr sz="900" b="1">
                <a:solidFill>
                  <a:srgbClr val="5D6C7D"/>
                </a:solidFill>
                <a:latin typeface="Aptos"/>
              </a:rPr>
              <a:t>08</a:t>
            </a:r>
          </a:p>
        </p:txBody>
      </p:sp>
      <p:sp>
        <p:nvSpPr>
          <p:cNvPr id="6" name="Rounded Rectangle 5"/>
          <p:cNvSpPr/>
          <p:nvPr/>
        </p:nvSpPr>
        <p:spPr>
          <a:xfrm>
            <a:off x="685800" y="1371600"/>
            <a:ext cx="3520440" cy="4251960"/>
          </a:xfrm>
          <a:prstGeom prst="roundRect">
            <a:avLst/>
          </a:prstGeom>
          <a:solidFill>
            <a:srgbClr val="E1F6F5"/>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371600"/>
            <a:ext cx="73152" cy="4251960"/>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536192"/>
            <a:ext cx="3154680" cy="274320"/>
          </a:xfrm>
          <a:prstGeom prst="rect">
            <a:avLst/>
          </a:prstGeom>
          <a:noFill/>
        </p:spPr>
        <p:txBody>
          <a:bodyPr wrap="square" lIns="36576" tIns="18288" rIns="36576" bIns="18288">
            <a:spAutoFit/>
          </a:bodyPr>
          <a:lstStyle/>
          <a:p>
            <a:pPr algn="l"/>
            <a:r>
              <a:rPr sz="1500" b="1">
                <a:solidFill>
                  <a:srgbClr val="0F1F38"/>
                </a:solidFill>
                <a:latin typeface="Aptos"/>
              </a:rPr>
              <a:t>Functional requirements</a:t>
            </a:r>
          </a:p>
        </p:txBody>
      </p:sp>
      <p:sp>
        <p:nvSpPr>
          <p:cNvPr id="9" name="TextBox 8"/>
          <p:cNvSpPr txBox="1"/>
          <p:nvPr/>
        </p:nvSpPr>
        <p:spPr>
          <a:xfrm>
            <a:off x="886968" y="1938528"/>
            <a:ext cx="3154680" cy="3557016"/>
          </a:xfrm>
          <a:prstGeom prst="rect">
            <a:avLst/>
          </a:prstGeom>
          <a:noFill/>
        </p:spPr>
        <p:txBody>
          <a:bodyPr wrap="square" lIns="36576" tIns="18288" rIns="36576" bIns="18288">
            <a:spAutoFit/>
          </a:bodyPr>
          <a:lstStyle/>
          <a:p>
            <a:pPr algn="l"/>
            <a:r>
              <a:rPr sz="1400" b="0">
                <a:solidFill>
                  <a:srgbClr val="202B38"/>
                </a:solidFill>
                <a:latin typeface="Aptos"/>
              </a:rPr>
              <a:t>- Clerk sign-in and local profile sync
- Upload PDF, DOCX, TXT, Markdown
- Background extraction and status tracking
- Generate summaries, quizzes, flashcards
- Tutor chat with six modes and SSE
- Review cards and submit quiz attempts
- Persist activity and analytics</a:t>
            </a:r>
          </a:p>
        </p:txBody>
      </p:sp>
      <p:sp>
        <p:nvSpPr>
          <p:cNvPr id="10" name="Rounded Rectangle 9"/>
          <p:cNvSpPr/>
          <p:nvPr/>
        </p:nvSpPr>
        <p:spPr>
          <a:xfrm>
            <a:off x="4343400" y="1371600"/>
            <a:ext cx="3520440" cy="4251960"/>
          </a:xfrm>
          <a:prstGeom prst="roundRect">
            <a:avLst/>
          </a:prstGeom>
          <a:solidFill>
            <a:srgbClr val="FFF6DC"/>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43400" y="1371600"/>
            <a:ext cx="73152" cy="4251960"/>
          </a:xfrm>
          <a:prstGeom prst="rect">
            <a:avLst/>
          </a:prstGeom>
          <a:solidFill>
            <a:srgbClr val="EDB547"/>
          </a:solidFill>
          <a:ln w="8890">
            <a:solidFill>
              <a:srgbClr val="EDB5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44568" y="1536192"/>
            <a:ext cx="3154680" cy="274320"/>
          </a:xfrm>
          <a:prstGeom prst="rect">
            <a:avLst/>
          </a:prstGeom>
          <a:noFill/>
        </p:spPr>
        <p:txBody>
          <a:bodyPr wrap="square" lIns="36576" tIns="18288" rIns="36576" bIns="18288">
            <a:spAutoFit/>
          </a:bodyPr>
          <a:lstStyle/>
          <a:p>
            <a:pPr algn="l"/>
            <a:r>
              <a:rPr sz="1500" b="1">
                <a:solidFill>
                  <a:srgbClr val="0F1F38"/>
                </a:solidFill>
                <a:latin typeface="Aptos"/>
              </a:rPr>
              <a:t>Non-functional requirements</a:t>
            </a:r>
          </a:p>
        </p:txBody>
      </p:sp>
      <p:sp>
        <p:nvSpPr>
          <p:cNvPr id="13" name="TextBox 12"/>
          <p:cNvSpPr txBox="1"/>
          <p:nvPr/>
        </p:nvSpPr>
        <p:spPr>
          <a:xfrm>
            <a:off x="4544568" y="1938528"/>
            <a:ext cx="3154680" cy="3557016"/>
          </a:xfrm>
          <a:prstGeom prst="rect">
            <a:avLst/>
          </a:prstGeom>
          <a:noFill/>
        </p:spPr>
        <p:txBody>
          <a:bodyPr wrap="square" lIns="36576" tIns="18288" rIns="36576" bIns="18288">
            <a:spAutoFit/>
          </a:bodyPr>
          <a:lstStyle/>
          <a:p>
            <a:pPr algn="l"/>
            <a:r>
              <a:rPr sz="1400" b="0">
                <a:solidFill>
                  <a:srgbClr val="202B38"/>
                </a:solidFill>
                <a:latin typeface="Aptos"/>
              </a:rPr>
              <a:t>- Async API and database I/O
- User-scoped resource access
- File type and size validation
- Parameterized ORM queries
- CORS allowlist
- Rate limiting
- Standardized error responses
- Light/dark UI persistence</a:t>
            </a:r>
          </a:p>
        </p:txBody>
      </p:sp>
      <p:sp>
        <p:nvSpPr>
          <p:cNvPr id="14" name="Rounded Rectangle 13"/>
          <p:cNvSpPr/>
          <p:nvPr/>
        </p:nvSpPr>
        <p:spPr>
          <a:xfrm>
            <a:off x="8001000" y="1371600"/>
            <a:ext cx="3520440" cy="4251960"/>
          </a:xfrm>
          <a:prstGeom prst="roundRect">
            <a:avLst/>
          </a:prstGeom>
          <a:solidFill>
            <a:srgbClr val="FDEBE8"/>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01000" y="1371600"/>
            <a:ext cx="73152" cy="4251960"/>
          </a:xfrm>
          <a:prstGeom prst="rect">
            <a:avLst/>
          </a:prstGeom>
          <a:solidFill>
            <a:srgbClr val="EB695B"/>
          </a:solidFill>
          <a:ln w="8890">
            <a:solidFill>
              <a:srgbClr val="EB6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02168" y="1536192"/>
            <a:ext cx="3154680" cy="274320"/>
          </a:xfrm>
          <a:prstGeom prst="rect">
            <a:avLst/>
          </a:prstGeom>
          <a:noFill/>
        </p:spPr>
        <p:txBody>
          <a:bodyPr wrap="square" lIns="36576" tIns="18288" rIns="36576" bIns="18288">
            <a:spAutoFit/>
          </a:bodyPr>
          <a:lstStyle/>
          <a:p>
            <a:pPr algn="l"/>
            <a:r>
              <a:rPr sz="1500" b="1">
                <a:solidFill>
                  <a:srgbClr val="0F1F38"/>
                </a:solidFill>
                <a:latin typeface="Aptos"/>
              </a:rPr>
              <a:t>Scope boundary</a:t>
            </a:r>
          </a:p>
        </p:txBody>
      </p:sp>
      <p:sp>
        <p:nvSpPr>
          <p:cNvPr id="17" name="TextBox 16"/>
          <p:cNvSpPr txBox="1"/>
          <p:nvPr/>
        </p:nvSpPr>
        <p:spPr>
          <a:xfrm>
            <a:off x="8202168" y="1938528"/>
            <a:ext cx="3154680" cy="3557016"/>
          </a:xfrm>
          <a:prstGeom prst="rect">
            <a:avLst/>
          </a:prstGeom>
          <a:noFill/>
        </p:spPr>
        <p:txBody>
          <a:bodyPr wrap="square" lIns="36576" tIns="18288" rIns="36576" bIns="18288">
            <a:spAutoFit/>
          </a:bodyPr>
          <a:lstStyle/>
          <a:p>
            <a:pPr algn="l"/>
            <a:r>
              <a:rPr sz="1400" b="0">
                <a:solidFill>
                  <a:srgbClr val="202B38"/>
                </a:solidFill>
                <a:latin typeface="Aptos"/>
              </a:rPr>
              <a:t>Included: local full-stack workflow, AI integration, relational persistence, browser UI, Docker Compose setup.
[Information Required] Confirm deployment target, supported browsers, accessibility criteria, and formal performance targets.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47472"/>
            <a:ext cx="4114800" cy="228600"/>
          </a:xfrm>
          <a:prstGeom prst="rect">
            <a:avLst/>
          </a:prstGeom>
          <a:noFill/>
        </p:spPr>
        <p:txBody>
          <a:bodyPr wrap="square" lIns="36576" tIns="18288" rIns="36576" bIns="18288">
            <a:spAutoFit/>
          </a:bodyPr>
          <a:lstStyle/>
          <a:p>
            <a:pPr algn="l"/>
            <a:r>
              <a:rPr sz="900" b="1">
                <a:solidFill>
                  <a:srgbClr val="009196"/>
                </a:solidFill>
                <a:latin typeface="Aptos"/>
              </a:rPr>
              <a:t>PROJECT DEFENSE</a:t>
            </a:r>
          </a:p>
        </p:txBody>
      </p:sp>
      <p:sp>
        <p:nvSpPr>
          <p:cNvPr id="4" name="TextBox 3"/>
          <p:cNvSpPr txBox="1"/>
          <p:nvPr/>
        </p:nvSpPr>
        <p:spPr>
          <a:xfrm>
            <a:off x="502920" y="658368"/>
            <a:ext cx="10881360" cy="502920"/>
          </a:xfrm>
          <a:prstGeom prst="rect">
            <a:avLst/>
          </a:prstGeom>
          <a:noFill/>
        </p:spPr>
        <p:txBody>
          <a:bodyPr wrap="square" lIns="36576" tIns="18288" rIns="36576" bIns="18288">
            <a:spAutoFit/>
          </a:bodyPr>
          <a:lstStyle/>
          <a:p>
            <a:pPr algn="l"/>
            <a:r>
              <a:rPr sz="2700" b="1">
                <a:solidFill>
                  <a:srgbClr val="0F1F38"/>
                </a:solidFill>
                <a:latin typeface="Aptos"/>
              </a:rPr>
              <a:t>Technology Stack</a:t>
            </a:r>
          </a:p>
        </p:txBody>
      </p:sp>
      <p:sp>
        <p:nvSpPr>
          <p:cNvPr id="5" name="TextBox 4"/>
          <p:cNvSpPr txBox="1"/>
          <p:nvPr/>
        </p:nvSpPr>
        <p:spPr>
          <a:xfrm>
            <a:off x="11201400" y="6473952"/>
            <a:ext cx="457200" cy="182880"/>
          </a:xfrm>
          <a:prstGeom prst="rect">
            <a:avLst/>
          </a:prstGeom>
          <a:noFill/>
        </p:spPr>
        <p:txBody>
          <a:bodyPr wrap="square" lIns="36576" tIns="18288" rIns="36576" bIns="18288">
            <a:spAutoFit/>
          </a:bodyPr>
          <a:lstStyle/>
          <a:p>
            <a:pPr algn="r"/>
            <a:r>
              <a:rPr sz="900" b="1">
                <a:solidFill>
                  <a:srgbClr val="5D6C7D"/>
                </a:solidFill>
                <a:latin typeface="Aptos"/>
              </a:rPr>
              <a:t>09</a:t>
            </a:r>
          </a:p>
        </p:txBody>
      </p:sp>
      <p:sp>
        <p:nvSpPr>
          <p:cNvPr id="6" name="Rounded Rectangle 5"/>
          <p:cNvSpPr/>
          <p:nvPr/>
        </p:nvSpPr>
        <p:spPr>
          <a:xfrm>
            <a:off x="731520" y="1280160"/>
            <a:ext cx="1828800" cy="566928"/>
          </a:xfrm>
          <a:prstGeom prst="round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417319"/>
            <a:ext cx="1554480" cy="228600"/>
          </a:xfrm>
          <a:prstGeom prst="rect">
            <a:avLst/>
          </a:prstGeom>
          <a:noFill/>
        </p:spPr>
        <p:txBody>
          <a:bodyPr wrap="square" lIns="36576" tIns="18288" rIns="36576" bIns="18288">
            <a:spAutoFit/>
          </a:bodyPr>
          <a:lstStyle/>
          <a:p>
            <a:pPr algn="ctr"/>
            <a:r>
              <a:rPr sz="1300" b="1">
                <a:solidFill>
                  <a:srgbClr val="FFFFFF"/>
                </a:solidFill>
                <a:latin typeface="Aptos"/>
              </a:rPr>
              <a:t>Frontend</a:t>
            </a:r>
          </a:p>
        </p:txBody>
      </p:sp>
      <p:sp>
        <p:nvSpPr>
          <p:cNvPr id="8" name="TextBox 7"/>
          <p:cNvSpPr txBox="1"/>
          <p:nvPr/>
        </p:nvSpPr>
        <p:spPr>
          <a:xfrm>
            <a:off x="2834640" y="1353312"/>
            <a:ext cx="4800600" cy="365760"/>
          </a:xfrm>
          <a:prstGeom prst="rect">
            <a:avLst/>
          </a:prstGeom>
          <a:noFill/>
        </p:spPr>
        <p:txBody>
          <a:bodyPr wrap="square" lIns="36576" tIns="18288" rIns="36576" bIns="18288">
            <a:spAutoFit/>
          </a:bodyPr>
          <a:lstStyle/>
          <a:p>
            <a:pPr algn="l"/>
            <a:r>
              <a:rPr sz="1400" b="1">
                <a:solidFill>
                  <a:srgbClr val="0F1F38"/>
                </a:solidFill>
                <a:latin typeface="Aptos"/>
              </a:rPr>
              <a:t>HTML5 + Tailwind CSS CDN + Vanilla JS ES6 modules</a:t>
            </a:r>
          </a:p>
        </p:txBody>
      </p:sp>
      <p:sp>
        <p:nvSpPr>
          <p:cNvPr id="9" name="TextBox 8"/>
          <p:cNvSpPr txBox="1"/>
          <p:nvPr/>
        </p:nvSpPr>
        <p:spPr>
          <a:xfrm>
            <a:off x="7909560" y="1353312"/>
            <a:ext cx="3383280" cy="365760"/>
          </a:xfrm>
          <a:prstGeom prst="rect">
            <a:avLst/>
          </a:prstGeom>
          <a:noFill/>
        </p:spPr>
        <p:txBody>
          <a:bodyPr wrap="square" lIns="36576" tIns="18288" rIns="36576" bIns="18288">
            <a:spAutoFit/>
          </a:bodyPr>
          <a:lstStyle/>
          <a:p>
            <a:pPr algn="l"/>
            <a:r>
              <a:rPr sz="1300" b="0">
                <a:solidFill>
                  <a:srgbClr val="5D6C7D"/>
                </a:solidFill>
                <a:latin typeface="Aptos"/>
              </a:rPr>
              <a:t>No build step; direct browser workflow</a:t>
            </a:r>
          </a:p>
        </p:txBody>
      </p:sp>
      <p:sp>
        <p:nvSpPr>
          <p:cNvPr id="10" name="Rounded Rectangle 9"/>
          <p:cNvSpPr/>
          <p:nvPr/>
        </p:nvSpPr>
        <p:spPr>
          <a:xfrm>
            <a:off x="731520" y="2029967"/>
            <a:ext cx="1828800" cy="566928"/>
          </a:xfrm>
          <a:prstGeom prst="roundRect">
            <a:avLst/>
          </a:prstGeom>
          <a:solidFill>
            <a:srgbClr val="EB695B"/>
          </a:solidFill>
          <a:ln w="8890">
            <a:solidFill>
              <a:srgbClr val="EB6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167127"/>
            <a:ext cx="1554480" cy="228600"/>
          </a:xfrm>
          <a:prstGeom prst="rect">
            <a:avLst/>
          </a:prstGeom>
          <a:noFill/>
        </p:spPr>
        <p:txBody>
          <a:bodyPr wrap="square" lIns="36576" tIns="18288" rIns="36576" bIns="18288">
            <a:spAutoFit/>
          </a:bodyPr>
          <a:lstStyle/>
          <a:p>
            <a:pPr algn="ctr"/>
            <a:r>
              <a:rPr sz="1300" b="1">
                <a:solidFill>
                  <a:srgbClr val="FFFFFF"/>
                </a:solidFill>
                <a:latin typeface="Aptos"/>
              </a:rPr>
              <a:t>Backend</a:t>
            </a:r>
          </a:p>
        </p:txBody>
      </p:sp>
      <p:sp>
        <p:nvSpPr>
          <p:cNvPr id="12" name="TextBox 11"/>
          <p:cNvSpPr txBox="1"/>
          <p:nvPr/>
        </p:nvSpPr>
        <p:spPr>
          <a:xfrm>
            <a:off x="2834640" y="2103120"/>
            <a:ext cx="4800600" cy="365760"/>
          </a:xfrm>
          <a:prstGeom prst="rect">
            <a:avLst/>
          </a:prstGeom>
          <a:noFill/>
        </p:spPr>
        <p:txBody>
          <a:bodyPr wrap="square" lIns="36576" tIns="18288" rIns="36576" bIns="18288">
            <a:spAutoFit/>
          </a:bodyPr>
          <a:lstStyle/>
          <a:p>
            <a:pPr algn="l"/>
            <a:r>
              <a:rPr sz="1400" b="1">
                <a:solidFill>
                  <a:srgbClr val="0F1F38"/>
                </a:solidFill>
                <a:latin typeface="Aptos"/>
              </a:rPr>
              <a:t>Python 3.12+ + FastAPI + Uvicorn</a:t>
            </a:r>
          </a:p>
        </p:txBody>
      </p:sp>
      <p:sp>
        <p:nvSpPr>
          <p:cNvPr id="13" name="TextBox 12"/>
          <p:cNvSpPr txBox="1"/>
          <p:nvPr/>
        </p:nvSpPr>
        <p:spPr>
          <a:xfrm>
            <a:off x="7909560" y="2103120"/>
            <a:ext cx="3383280" cy="365760"/>
          </a:xfrm>
          <a:prstGeom prst="rect">
            <a:avLst/>
          </a:prstGeom>
          <a:noFill/>
        </p:spPr>
        <p:txBody>
          <a:bodyPr wrap="square" lIns="36576" tIns="18288" rIns="36576" bIns="18288">
            <a:spAutoFit/>
          </a:bodyPr>
          <a:lstStyle/>
          <a:p>
            <a:pPr algn="l"/>
            <a:r>
              <a:rPr sz="1300" b="0">
                <a:solidFill>
                  <a:srgbClr val="5D6C7D"/>
                </a:solidFill>
                <a:latin typeface="Aptos"/>
              </a:rPr>
              <a:t>Async REST API and background tasks</a:t>
            </a:r>
          </a:p>
        </p:txBody>
      </p:sp>
      <p:sp>
        <p:nvSpPr>
          <p:cNvPr id="14" name="Rounded Rectangle 13"/>
          <p:cNvSpPr/>
          <p:nvPr/>
        </p:nvSpPr>
        <p:spPr>
          <a:xfrm>
            <a:off x="731520" y="2779776"/>
            <a:ext cx="1828800" cy="566928"/>
          </a:xfrm>
          <a:prstGeom prst="roundRect">
            <a:avLst/>
          </a:prstGeom>
          <a:solidFill>
            <a:srgbClr val="EDB547"/>
          </a:solidFill>
          <a:ln w="8890">
            <a:solidFill>
              <a:srgbClr val="EDB5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2916936"/>
            <a:ext cx="1554480" cy="228600"/>
          </a:xfrm>
          <a:prstGeom prst="rect">
            <a:avLst/>
          </a:prstGeom>
          <a:noFill/>
        </p:spPr>
        <p:txBody>
          <a:bodyPr wrap="square" lIns="36576" tIns="18288" rIns="36576" bIns="18288">
            <a:spAutoFit/>
          </a:bodyPr>
          <a:lstStyle/>
          <a:p>
            <a:pPr algn="ctr"/>
            <a:r>
              <a:rPr sz="1300" b="1">
                <a:solidFill>
                  <a:srgbClr val="FFFFFF"/>
                </a:solidFill>
                <a:latin typeface="Aptos"/>
              </a:rPr>
              <a:t>Data</a:t>
            </a:r>
          </a:p>
        </p:txBody>
      </p:sp>
      <p:sp>
        <p:nvSpPr>
          <p:cNvPr id="16" name="TextBox 15"/>
          <p:cNvSpPr txBox="1"/>
          <p:nvPr/>
        </p:nvSpPr>
        <p:spPr>
          <a:xfrm>
            <a:off x="2834640" y="2852928"/>
            <a:ext cx="4800600" cy="365760"/>
          </a:xfrm>
          <a:prstGeom prst="rect">
            <a:avLst/>
          </a:prstGeom>
          <a:noFill/>
        </p:spPr>
        <p:txBody>
          <a:bodyPr wrap="square" lIns="36576" tIns="18288" rIns="36576" bIns="18288">
            <a:spAutoFit/>
          </a:bodyPr>
          <a:lstStyle/>
          <a:p>
            <a:pPr algn="l"/>
            <a:r>
              <a:rPr sz="1400" b="1">
                <a:solidFill>
                  <a:srgbClr val="0F1F38"/>
                </a:solidFill>
                <a:latin typeface="Aptos"/>
              </a:rPr>
              <a:t>MySQL 8.0 + SQLAlchemy async + aiomysql + Alembic</a:t>
            </a:r>
          </a:p>
        </p:txBody>
      </p:sp>
      <p:sp>
        <p:nvSpPr>
          <p:cNvPr id="17" name="TextBox 16"/>
          <p:cNvSpPr txBox="1"/>
          <p:nvPr/>
        </p:nvSpPr>
        <p:spPr>
          <a:xfrm>
            <a:off x="7909560" y="2852928"/>
            <a:ext cx="3383280" cy="365760"/>
          </a:xfrm>
          <a:prstGeom prst="rect">
            <a:avLst/>
          </a:prstGeom>
          <a:noFill/>
        </p:spPr>
        <p:txBody>
          <a:bodyPr wrap="square" lIns="36576" tIns="18288" rIns="36576" bIns="18288">
            <a:spAutoFit/>
          </a:bodyPr>
          <a:lstStyle/>
          <a:p>
            <a:pPr algn="l"/>
            <a:r>
              <a:rPr sz="1300" b="0">
                <a:solidFill>
                  <a:srgbClr val="5D6C7D"/>
                </a:solidFill>
                <a:latin typeface="Aptos"/>
              </a:rPr>
              <a:t>Relational persistence and migrations</a:t>
            </a:r>
          </a:p>
        </p:txBody>
      </p:sp>
      <p:sp>
        <p:nvSpPr>
          <p:cNvPr id="18" name="Rounded Rectangle 17"/>
          <p:cNvSpPr/>
          <p:nvPr/>
        </p:nvSpPr>
        <p:spPr>
          <a:xfrm>
            <a:off x="731520" y="3529584"/>
            <a:ext cx="1828800" cy="566928"/>
          </a:xfrm>
          <a:prstGeom prst="round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8680" y="3666744"/>
            <a:ext cx="1554480" cy="228600"/>
          </a:xfrm>
          <a:prstGeom prst="rect">
            <a:avLst/>
          </a:prstGeom>
          <a:noFill/>
        </p:spPr>
        <p:txBody>
          <a:bodyPr wrap="square" lIns="36576" tIns="18288" rIns="36576" bIns="18288">
            <a:spAutoFit/>
          </a:bodyPr>
          <a:lstStyle/>
          <a:p>
            <a:pPr algn="ctr"/>
            <a:r>
              <a:rPr sz="1300" b="1">
                <a:solidFill>
                  <a:srgbClr val="FFFFFF"/>
                </a:solidFill>
                <a:latin typeface="Aptos"/>
              </a:rPr>
              <a:t>AI</a:t>
            </a:r>
          </a:p>
        </p:txBody>
      </p:sp>
      <p:sp>
        <p:nvSpPr>
          <p:cNvPr id="20" name="TextBox 19"/>
          <p:cNvSpPr txBox="1"/>
          <p:nvPr/>
        </p:nvSpPr>
        <p:spPr>
          <a:xfrm>
            <a:off x="2834640" y="3602736"/>
            <a:ext cx="4800600" cy="365760"/>
          </a:xfrm>
          <a:prstGeom prst="rect">
            <a:avLst/>
          </a:prstGeom>
          <a:noFill/>
        </p:spPr>
        <p:txBody>
          <a:bodyPr wrap="square" lIns="36576" tIns="18288" rIns="36576" bIns="18288">
            <a:spAutoFit/>
          </a:bodyPr>
          <a:lstStyle/>
          <a:p>
            <a:pPr algn="l"/>
            <a:r>
              <a:rPr sz="1400" b="1">
                <a:solidFill>
                  <a:srgbClr val="0F1F38"/>
                </a:solidFill>
                <a:latin typeface="Aptos"/>
              </a:rPr>
              <a:t>OpenAI SDK + configurable OpenAI-compatible base URL</a:t>
            </a:r>
          </a:p>
        </p:txBody>
      </p:sp>
      <p:sp>
        <p:nvSpPr>
          <p:cNvPr id="21" name="TextBox 20"/>
          <p:cNvSpPr txBox="1"/>
          <p:nvPr/>
        </p:nvSpPr>
        <p:spPr>
          <a:xfrm>
            <a:off x="7909560" y="3602736"/>
            <a:ext cx="3383280" cy="365760"/>
          </a:xfrm>
          <a:prstGeom prst="rect">
            <a:avLst/>
          </a:prstGeom>
          <a:noFill/>
        </p:spPr>
        <p:txBody>
          <a:bodyPr wrap="square" lIns="36576" tIns="18288" rIns="36576" bIns="18288">
            <a:spAutoFit/>
          </a:bodyPr>
          <a:lstStyle/>
          <a:p>
            <a:pPr algn="l"/>
            <a:r>
              <a:rPr sz="1300" b="0">
                <a:solidFill>
                  <a:srgbClr val="5D6C7D"/>
                </a:solidFill>
                <a:latin typeface="Aptos"/>
              </a:rPr>
              <a:t>Streaming tutor and JSON generation</a:t>
            </a:r>
          </a:p>
        </p:txBody>
      </p:sp>
      <p:sp>
        <p:nvSpPr>
          <p:cNvPr id="22" name="Rounded Rectangle 21"/>
          <p:cNvSpPr/>
          <p:nvPr/>
        </p:nvSpPr>
        <p:spPr>
          <a:xfrm>
            <a:off x="731520" y="4279392"/>
            <a:ext cx="1828800" cy="566928"/>
          </a:xfrm>
          <a:prstGeom prst="roundRect">
            <a:avLst/>
          </a:prstGeom>
          <a:solidFill>
            <a:srgbClr val="EB695B"/>
          </a:solidFill>
          <a:ln w="8890">
            <a:solidFill>
              <a:srgbClr val="EB6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68680" y="4416552"/>
            <a:ext cx="1554480" cy="228600"/>
          </a:xfrm>
          <a:prstGeom prst="rect">
            <a:avLst/>
          </a:prstGeom>
          <a:noFill/>
        </p:spPr>
        <p:txBody>
          <a:bodyPr wrap="square" lIns="36576" tIns="18288" rIns="36576" bIns="18288">
            <a:spAutoFit/>
          </a:bodyPr>
          <a:lstStyle/>
          <a:p>
            <a:pPr algn="ctr"/>
            <a:r>
              <a:rPr sz="1300" b="1">
                <a:solidFill>
                  <a:srgbClr val="FFFFFF"/>
                </a:solidFill>
                <a:latin typeface="Aptos"/>
              </a:rPr>
              <a:t>Identity</a:t>
            </a:r>
          </a:p>
        </p:txBody>
      </p:sp>
      <p:sp>
        <p:nvSpPr>
          <p:cNvPr id="24" name="TextBox 23"/>
          <p:cNvSpPr txBox="1"/>
          <p:nvPr/>
        </p:nvSpPr>
        <p:spPr>
          <a:xfrm>
            <a:off x="2834640" y="4352544"/>
            <a:ext cx="4800600" cy="365760"/>
          </a:xfrm>
          <a:prstGeom prst="rect">
            <a:avLst/>
          </a:prstGeom>
          <a:noFill/>
        </p:spPr>
        <p:txBody>
          <a:bodyPr wrap="square" lIns="36576" tIns="18288" rIns="36576" bIns="18288">
            <a:spAutoFit/>
          </a:bodyPr>
          <a:lstStyle/>
          <a:p>
            <a:pPr algn="l"/>
            <a:r>
              <a:rPr sz="1400" b="1">
                <a:solidFill>
                  <a:srgbClr val="0F1F38"/>
                </a:solidFill>
                <a:latin typeface="Aptos"/>
              </a:rPr>
              <a:t>Clerk JS SDK + RS256 JWT/JWKS verification</a:t>
            </a:r>
          </a:p>
        </p:txBody>
      </p:sp>
      <p:sp>
        <p:nvSpPr>
          <p:cNvPr id="25" name="TextBox 24"/>
          <p:cNvSpPr txBox="1"/>
          <p:nvPr/>
        </p:nvSpPr>
        <p:spPr>
          <a:xfrm>
            <a:off x="7909560" y="4352544"/>
            <a:ext cx="3383280" cy="365760"/>
          </a:xfrm>
          <a:prstGeom prst="rect">
            <a:avLst/>
          </a:prstGeom>
          <a:noFill/>
        </p:spPr>
        <p:txBody>
          <a:bodyPr wrap="square" lIns="36576" tIns="18288" rIns="36576" bIns="18288">
            <a:spAutoFit/>
          </a:bodyPr>
          <a:lstStyle/>
          <a:p>
            <a:pPr algn="l"/>
            <a:r>
              <a:rPr sz="1300" b="0">
                <a:solidFill>
                  <a:srgbClr val="5D6C7D"/>
                </a:solidFill>
                <a:latin typeface="Aptos"/>
              </a:rPr>
              <a:t>External identity with user isolation</a:t>
            </a:r>
          </a:p>
        </p:txBody>
      </p:sp>
      <p:sp>
        <p:nvSpPr>
          <p:cNvPr id="26" name="Rounded Rectangle 25"/>
          <p:cNvSpPr/>
          <p:nvPr/>
        </p:nvSpPr>
        <p:spPr>
          <a:xfrm>
            <a:off x="731520" y="5029200"/>
            <a:ext cx="1828800" cy="566928"/>
          </a:xfrm>
          <a:prstGeom prst="roundRect">
            <a:avLst/>
          </a:prstGeom>
          <a:solidFill>
            <a:srgbClr val="EDB547"/>
          </a:solidFill>
          <a:ln w="8890">
            <a:solidFill>
              <a:srgbClr val="EDB5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68680" y="5166360"/>
            <a:ext cx="1554480" cy="228600"/>
          </a:xfrm>
          <a:prstGeom prst="rect">
            <a:avLst/>
          </a:prstGeom>
          <a:noFill/>
        </p:spPr>
        <p:txBody>
          <a:bodyPr wrap="square" lIns="36576" tIns="18288" rIns="36576" bIns="18288">
            <a:spAutoFit/>
          </a:bodyPr>
          <a:lstStyle/>
          <a:p>
            <a:pPr algn="ctr"/>
            <a:r>
              <a:rPr sz="1300" b="1">
                <a:solidFill>
                  <a:srgbClr val="FFFFFF"/>
                </a:solidFill>
                <a:latin typeface="Aptos"/>
              </a:rPr>
              <a:t>Operations</a:t>
            </a:r>
          </a:p>
        </p:txBody>
      </p:sp>
      <p:sp>
        <p:nvSpPr>
          <p:cNvPr id="28" name="TextBox 27"/>
          <p:cNvSpPr txBox="1"/>
          <p:nvPr/>
        </p:nvSpPr>
        <p:spPr>
          <a:xfrm>
            <a:off x="2834640" y="5102352"/>
            <a:ext cx="4800600" cy="365760"/>
          </a:xfrm>
          <a:prstGeom prst="rect">
            <a:avLst/>
          </a:prstGeom>
          <a:noFill/>
        </p:spPr>
        <p:txBody>
          <a:bodyPr wrap="square" lIns="36576" tIns="18288" rIns="36576" bIns="18288">
            <a:spAutoFit/>
          </a:bodyPr>
          <a:lstStyle/>
          <a:p>
            <a:pPr algn="l"/>
            <a:r>
              <a:rPr sz="1400" b="1">
                <a:solidFill>
                  <a:srgbClr val="0F1F38"/>
                </a:solidFill>
                <a:latin typeface="Aptos"/>
              </a:rPr>
              <a:t>Docker Compose + SlowAPI + Pydantic v2</a:t>
            </a:r>
          </a:p>
        </p:txBody>
      </p:sp>
      <p:sp>
        <p:nvSpPr>
          <p:cNvPr id="29" name="TextBox 28"/>
          <p:cNvSpPr txBox="1"/>
          <p:nvPr/>
        </p:nvSpPr>
        <p:spPr>
          <a:xfrm>
            <a:off x="7909560" y="5102352"/>
            <a:ext cx="3383280" cy="365760"/>
          </a:xfrm>
          <a:prstGeom prst="rect">
            <a:avLst/>
          </a:prstGeom>
          <a:noFill/>
        </p:spPr>
        <p:txBody>
          <a:bodyPr wrap="square" lIns="36576" tIns="18288" rIns="36576" bIns="18288">
            <a:spAutoFit/>
          </a:bodyPr>
          <a:lstStyle/>
          <a:p>
            <a:pPr algn="l"/>
            <a:r>
              <a:rPr sz="1300" b="0">
                <a:solidFill>
                  <a:srgbClr val="5D6C7D"/>
                </a:solidFill>
                <a:latin typeface="Aptos"/>
              </a:rPr>
              <a:t>Local services, limits, validation/config</a:t>
            </a:r>
          </a:p>
        </p:txBody>
      </p:sp>
      <p:sp>
        <p:nvSpPr>
          <p:cNvPr id="30" name="TextBox 29"/>
          <p:cNvSpPr txBox="1"/>
          <p:nvPr/>
        </p:nvSpPr>
        <p:spPr>
          <a:xfrm>
            <a:off x="777240" y="5989320"/>
            <a:ext cx="10607040" cy="274320"/>
          </a:xfrm>
          <a:prstGeom prst="rect">
            <a:avLst/>
          </a:prstGeom>
          <a:noFill/>
        </p:spPr>
        <p:txBody>
          <a:bodyPr wrap="square" lIns="36576" tIns="18288" rIns="36576" bIns="18288">
            <a:spAutoFit/>
          </a:bodyPr>
          <a:lstStyle/>
          <a:p>
            <a:pPr algn="l"/>
            <a:r>
              <a:rPr sz="1100" b="0">
                <a:solidFill>
                  <a:srgbClr val="5D6C7D"/>
                </a:solidFill>
                <a:latin typeface="Aptos"/>
              </a:rPr>
              <a:t>The repository also lists pypdf, python-docx, python-jose, httpx, aiofiles, and python-multipart.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47472"/>
            <a:ext cx="4114800" cy="228600"/>
          </a:xfrm>
          <a:prstGeom prst="rect">
            <a:avLst/>
          </a:prstGeom>
          <a:noFill/>
        </p:spPr>
        <p:txBody>
          <a:bodyPr wrap="square" lIns="36576" tIns="18288" rIns="36576" bIns="18288">
            <a:spAutoFit/>
          </a:bodyPr>
          <a:lstStyle/>
          <a:p>
            <a:pPr algn="l"/>
            <a:r>
              <a:rPr sz="900" b="1">
                <a:solidFill>
                  <a:srgbClr val="009196"/>
                </a:solidFill>
                <a:latin typeface="Aptos"/>
              </a:rPr>
              <a:t>PROJECT DEFENSE</a:t>
            </a:r>
          </a:p>
        </p:txBody>
      </p:sp>
      <p:sp>
        <p:nvSpPr>
          <p:cNvPr id="4" name="TextBox 3"/>
          <p:cNvSpPr txBox="1"/>
          <p:nvPr/>
        </p:nvSpPr>
        <p:spPr>
          <a:xfrm>
            <a:off x="502920" y="658368"/>
            <a:ext cx="10881360" cy="502920"/>
          </a:xfrm>
          <a:prstGeom prst="rect">
            <a:avLst/>
          </a:prstGeom>
          <a:noFill/>
        </p:spPr>
        <p:txBody>
          <a:bodyPr wrap="square" lIns="36576" tIns="18288" rIns="36576" bIns="18288">
            <a:spAutoFit/>
          </a:bodyPr>
          <a:lstStyle/>
          <a:p>
            <a:pPr algn="l"/>
            <a:r>
              <a:rPr sz="2700" b="1">
                <a:solidFill>
                  <a:srgbClr val="0F1F38"/>
                </a:solidFill>
                <a:latin typeface="Aptos"/>
              </a:rPr>
              <a:t>System Architecture</a:t>
            </a:r>
          </a:p>
        </p:txBody>
      </p:sp>
      <p:sp>
        <p:nvSpPr>
          <p:cNvPr id="5" name="TextBox 4"/>
          <p:cNvSpPr txBox="1"/>
          <p:nvPr/>
        </p:nvSpPr>
        <p:spPr>
          <a:xfrm>
            <a:off x="11201400" y="6473952"/>
            <a:ext cx="457200" cy="182880"/>
          </a:xfrm>
          <a:prstGeom prst="rect">
            <a:avLst/>
          </a:prstGeom>
          <a:noFill/>
        </p:spPr>
        <p:txBody>
          <a:bodyPr wrap="square" lIns="36576" tIns="18288" rIns="36576" bIns="18288">
            <a:spAutoFit/>
          </a:bodyPr>
          <a:lstStyle/>
          <a:p>
            <a:pPr algn="r"/>
            <a:r>
              <a:rPr sz="900" b="1">
                <a:solidFill>
                  <a:srgbClr val="5D6C7D"/>
                </a:solidFill>
                <a:latin typeface="Aptos"/>
              </a:rPr>
              <a:t>10</a:t>
            </a:r>
          </a:p>
        </p:txBody>
      </p:sp>
      <p:sp>
        <p:nvSpPr>
          <p:cNvPr id="6" name="Rounded Rectangle 5"/>
          <p:cNvSpPr/>
          <p:nvPr/>
        </p:nvSpPr>
        <p:spPr>
          <a:xfrm>
            <a:off x="594360" y="2240280"/>
            <a:ext cx="1965960" cy="914400"/>
          </a:xfrm>
          <a:prstGeom prst="roundRect">
            <a:avLst/>
          </a:prstGeom>
          <a:solidFill>
            <a:srgbClr val="FFF6DC"/>
          </a:solidFill>
          <a:ln w="8890">
            <a:solidFill>
              <a:srgbClr val="EDB5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 y="2313432"/>
            <a:ext cx="1819656" cy="768096"/>
          </a:xfrm>
          <a:prstGeom prst="rect">
            <a:avLst/>
          </a:prstGeom>
          <a:noFill/>
        </p:spPr>
        <p:txBody>
          <a:bodyPr wrap="square" lIns="36576" tIns="18288" rIns="36576" bIns="18288">
            <a:spAutoFit/>
          </a:bodyPr>
          <a:lstStyle/>
          <a:p>
            <a:pPr algn="ctr"/>
            <a:r>
              <a:rPr sz="1300" b="1">
                <a:solidFill>
                  <a:srgbClr val="0F1F38"/>
                </a:solidFill>
                <a:latin typeface="Aptos"/>
              </a:rPr>
              <a:t>USER
BROWSER</a:t>
            </a:r>
          </a:p>
        </p:txBody>
      </p:sp>
      <p:sp>
        <p:nvSpPr>
          <p:cNvPr id="8" name="Rounded Rectangle 7"/>
          <p:cNvSpPr/>
          <p:nvPr/>
        </p:nvSpPr>
        <p:spPr>
          <a:xfrm>
            <a:off x="3154680" y="1600200"/>
            <a:ext cx="2057400" cy="914400"/>
          </a:xfrm>
          <a:prstGeom prst="roundRect">
            <a:avLst/>
          </a:prstGeom>
          <a:solidFill>
            <a:srgbClr val="E1F6F5"/>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27832" y="1673352"/>
            <a:ext cx="1911095" cy="768096"/>
          </a:xfrm>
          <a:prstGeom prst="rect">
            <a:avLst/>
          </a:prstGeom>
          <a:noFill/>
        </p:spPr>
        <p:txBody>
          <a:bodyPr wrap="square" lIns="36576" tIns="18288" rIns="36576" bIns="18288">
            <a:spAutoFit/>
          </a:bodyPr>
          <a:lstStyle/>
          <a:p>
            <a:pPr algn="ctr"/>
            <a:r>
              <a:rPr sz="1300" b="1">
                <a:solidFill>
                  <a:srgbClr val="0F1F38"/>
                </a:solidFill>
                <a:latin typeface="Aptos"/>
              </a:rPr>
              <a:t>HTML + JS
TAILWIND</a:t>
            </a:r>
          </a:p>
        </p:txBody>
      </p:sp>
      <p:sp>
        <p:nvSpPr>
          <p:cNvPr id="10" name="Rounded Rectangle 9"/>
          <p:cNvSpPr/>
          <p:nvPr/>
        </p:nvSpPr>
        <p:spPr>
          <a:xfrm>
            <a:off x="3154680" y="2926080"/>
            <a:ext cx="2057400" cy="914400"/>
          </a:xfrm>
          <a:prstGeom prst="roundRect">
            <a:avLst/>
          </a:prstGeom>
          <a:solidFill>
            <a:srgbClr val="FDEBE8"/>
          </a:solidFill>
          <a:ln w="8890">
            <a:solidFill>
              <a:srgbClr val="EB6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27832" y="2999232"/>
            <a:ext cx="1911095" cy="768096"/>
          </a:xfrm>
          <a:prstGeom prst="rect">
            <a:avLst/>
          </a:prstGeom>
          <a:noFill/>
        </p:spPr>
        <p:txBody>
          <a:bodyPr wrap="square" lIns="36576" tIns="18288" rIns="36576" bIns="18288">
            <a:spAutoFit/>
          </a:bodyPr>
          <a:lstStyle/>
          <a:p>
            <a:pPr algn="ctr"/>
            <a:r>
              <a:rPr sz="1300" b="1">
                <a:solidFill>
                  <a:srgbClr val="0F1F38"/>
                </a:solidFill>
                <a:latin typeface="Aptos"/>
              </a:rPr>
              <a:t>CLERK
AUTH</a:t>
            </a:r>
          </a:p>
        </p:txBody>
      </p:sp>
      <p:sp>
        <p:nvSpPr>
          <p:cNvPr id="12" name="Rounded Rectangle 11"/>
          <p:cNvSpPr/>
          <p:nvPr/>
        </p:nvSpPr>
        <p:spPr>
          <a:xfrm>
            <a:off x="5897880" y="2240280"/>
            <a:ext cx="2057400" cy="914400"/>
          </a:xfrm>
          <a:prstGeom prst="roundRect">
            <a:avLst/>
          </a:prstGeom>
          <a:solidFill>
            <a:srgbClr val="FFFFFF"/>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71032" y="2313432"/>
            <a:ext cx="1911095" cy="768096"/>
          </a:xfrm>
          <a:prstGeom prst="rect">
            <a:avLst/>
          </a:prstGeom>
          <a:noFill/>
        </p:spPr>
        <p:txBody>
          <a:bodyPr wrap="square" lIns="36576" tIns="18288" rIns="36576" bIns="18288">
            <a:spAutoFit/>
          </a:bodyPr>
          <a:lstStyle/>
          <a:p>
            <a:pPr algn="ctr"/>
            <a:r>
              <a:rPr sz="1300" b="1">
                <a:solidFill>
                  <a:srgbClr val="0F1F38"/>
                </a:solidFill>
                <a:latin typeface="Aptos"/>
              </a:rPr>
              <a:t>FASTAPI
ROUTERS</a:t>
            </a:r>
          </a:p>
        </p:txBody>
      </p:sp>
      <p:sp>
        <p:nvSpPr>
          <p:cNvPr id="14" name="Rounded Rectangle 13"/>
          <p:cNvSpPr/>
          <p:nvPr/>
        </p:nvSpPr>
        <p:spPr>
          <a:xfrm>
            <a:off x="8641080" y="1600200"/>
            <a:ext cx="2057400" cy="914400"/>
          </a:xfrm>
          <a:prstGeom prst="roundRect">
            <a:avLst/>
          </a:prstGeom>
          <a:solidFill>
            <a:srgbClr val="FFF6DC"/>
          </a:solidFill>
          <a:ln w="8890">
            <a:solidFill>
              <a:srgbClr val="EDB5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714232" y="1673352"/>
            <a:ext cx="1911095" cy="768096"/>
          </a:xfrm>
          <a:prstGeom prst="rect">
            <a:avLst/>
          </a:prstGeom>
          <a:noFill/>
        </p:spPr>
        <p:txBody>
          <a:bodyPr wrap="square" lIns="36576" tIns="18288" rIns="36576" bIns="18288">
            <a:spAutoFit/>
          </a:bodyPr>
          <a:lstStyle/>
          <a:p>
            <a:pPr algn="ctr"/>
            <a:r>
              <a:rPr sz="1300" b="1">
                <a:solidFill>
                  <a:srgbClr val="0F1F38"/>
                </a:solidFill>
                <a:latin typeface="Aptos"/>
              </a:rPr>
              <a:t>MYSQL
DATA</a:t>
            </a:r>
          </a:p>
        </p:txBody>
      </p:sp>
      <p:sp>
        <p:nvSpPr>
          <p:cNvPr id="16" name="Rounded Rectangle 15"/>
          <p:cNvSpPr/>
          <p:nvPr/>
        </p:nvSpPr>
        <p:spPr>
          <a:xfrm>
            <a:off x="8641080" y="2926080"/>
            <a:ext cx="2057400" cy="914400"/>
          </a:xfrm>
          <a:prstGeom prst="roundRect">
            <a:avLst/>
          </a:prstGeom>
          <a:solidFill>
            <a:srgbClr val="FDEBE8"/>
          </a:solidFill>
          <a:ln w="8890">
            <a:solidFill>
              <a:srgbClr val="EB6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714232" y="2999232"/>
            <a:ext cx="1911095" cy="768096"/>
          </a:xfrm>
          <a:prstGeom prst="rect">
            <a:avLst/>
          </a:prstGeom>
          <a:noFill/>
        </p:spPr>
        <p:txBody>
          <a:bodyPr wrap="square" lIns="36576" tIns="18288" rIns="36576" bIns="18288">
            <a:spAutoFit/>
          </a:bodyPr>
          <a:lstStyle/>
          <a:p>
            <a:pPr algn="ctr"/>
            <a:r>
              <a:rPr sz="1300" b="1">
                <a:solidFill>
                  <a:srgbClr val="0F1F38"/>
                </a:solidFill>
                <a:latin typeface="Aptos"/>
              </a:rPr>
              <a:t>OPENAI-
COMPATIBLE LLM</a:t>
            </a:r>
          </a:p>
        </p:txBody>
      </p:sp>
      <p:cxnSp>
        <p:nvCxnSpPr>
          <p:cNvPr id="18" name="Connector 17"/>
          <p:cNvCxnSpPr/>
          <p:nvPr/>
        </p:nvCxnSpPr>
        <p:spPr>
          <a:xfrm flipV="1">
            <a:off x="2560320" y="2057400"/>
            <a:ext cx="502920" cy="640080"/>
          </a:xfrm>
          <a:prstGeom prst="line">
            <a:avLst/>
          </a:prstGeom>
          <a:ln w="22860">
            <a:solidFill>
              <a:srgbClr val="00919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560320" y="2697480"/>
            <a:ext cx="502920" cy="685800"/>
          </a:xfrm>
          <a:prstGeom prst="line">
            <a:avLst/>
          </a:prstGeom>
          <a:ln w="22860">
            <a:solidFill>
              <a:srgbClr val="EB695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257800" y="2057400"/>
            <a:ext cx="548640" cy="502920"/>
          </a:xfrm>
          <a:prstGeom prst="line">
            <a:avLst/>
          </a:prstGeom>
          <a:ln w="22860">
            <a:solidFill>
              <a:srgbClr val="00919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5257800" y="2834640"/>
            <a:ext cx="548640" cy="548640"/>
          </a:xfrm>
          <a:prstGeom prst="line">
            <a:avLst/>
          </a:prstGeom>
          <a:ln w="22860">
            <a:solidFill>
              <a:srgbClr val="EB695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8046720" y="2057400"/>
            <a:ext cx="502920" cy="502920"/>
          </a:xfrm>
          <a:prstGeom prst="line">
            <a:avLst/>
          </a:prstGeom>
          <a:ln w="22860">
            <a:solidFill>
              <a:srgbClr val="EDB547"/>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046720" y="2834640"/>
            <a:ext cx="502920" cy="548640"/>
          </a:xfrm>
          <a:prstGeom prst="line">
            <a:avLst/>
          </a:prstGeom>
          <a:ln w="22860">
            <a:solidFill>
              <a:srgbClr val="EB695B"/>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023360" y="1143000"/>
            <a:ext cx="1280160" cy="228600"/>
          </a:xfrm>
          <a:prstGeom prst="rect">
            <a:avLst/>
          </a:prstGeom>
          <a:noFill/>
        </p:spPr>
        <p:txBody>
          <a:bodyPr wrap="square" lIns="36576" tIns="18288" rIns="36576" bIns="18288">
            <a:spAutoFit/>
          </a:bodyPr>
          <a:lstStyle/>
          <a:p>
            <a:pPr algn="l"/>
            <a:r>
              <a:rPr sz="1100" b="1">
                <a:solidFill>
                  <a:srgbClr val="009196"/>
                </a:solidFill>
                <a:latin typeface="Aptos"/>
              </a:rPr>
              <a:t>REST + SSE</a:t>
            </a:r>
          </a:p>
        </p:txBody>
      </p:sp>
      <p:sp>
        <p:nvSpPr>
          <p:cNvPr id="25" name="TextBox 24"/>
          <p:cNvSpPr txBox="1"/>
          <p:nvPr/>
        </p:nvSpPr>
        <p:spPr>
          <a:xfrm>
            <a:off x="8046720" y="1143000"/>
            <a:ext cx="1280160" cy="228600"/>
          </a:xfrm>
          <a:prstGeom prst="rect">
            <a:avLst/>
          </a:prstGeom>
          <a:noFill/>
        </p:spPr>
        <p:txBody>
          <a:bodyPr wrap="square" lIns="36576" tIns="18288" rIns="36576" bIns="18288">
            <a:spAutoFit/>
          </a:bodyPr>
          <a:lstStyle/>
          <a:p>
            <a:pPr algn="l"/>
            <a:r>
              <a:rPr sz="1100" b="1">
                <a:solidFill>
                  <a:srgbClr val="EDB547"/>
                </a:solidFill>
                <a:latin typeface="Aptos"/>
              </a:rPr>
              <a:t>Async ORM</a:t>
            </a:r>
          </a:p>
        </p:txBody>
      </p:sp>
      <p:sp>
        <p:nvSpPr>
          <p:cNvPr id="26" name="TextBox 25"/>
          <p:cNvSpPr txBox="1"/>
          <p:nvPr/>
        </p:nvSpPr>
        <p:spPr>
          <a:xfrm>
            <a:off x="8001000" y="4160520"/>
            <a:ext cx="1554480" cy="228600"/>
          </a:xfrm>
          <a:prstGeom prst="rect">
            <a:avLst/>
          </a:prstGeom>
          <a:noFill/>
        </p:spPr>
        <p:txBody>
          <a:bodyPr wrap="square" lIns="36576" tIns="18288" rIns="36576" bIns="18288">
            <a:spAutoFit/>
          </a:bodyPr>
          <a:lstStyle/>
          <a:p>
            <a:pPr algn="l"/>
            <a:r>
              <a:rPr sz="1100" b="1">
                <a:solidFill>
                  <a:srgbClr val="EB695B"/>
                </a:solidFill>
                <a:latin typeface="Aptos"/>
              </a:rPr>
              <a:t>Streaming AI</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47472"/>
            <a:ext cx="4114800" cy="228600"/>
          </a:xfrm>
          <a:prstGeom prst="rect">
            <a:avLst/>
          </a:prstGeom>
          <a:noFill/>
        </p:spPr>
        <p:txBody>
          <a:bodyPr wrap="square" lIns="36576" tIns="18288" rIns="36576" bIns="18288">
            <a:spAutoFit/>
          </a:bodyPr>
          <a:lstStyle/>
          <a:p>
            <a:pPr algn="l"/>
            <a:r>
              <a:rPr sz="900" b="1">
                <a:solidFill>
                  <a:srgbClr val="009196"/>
                </a:solidFill>
                <a:latin typeface="Aptos"/>
              </a:rPr>
              <a:t>PROJECT DEFENSE</a:t>
            </a:r>
          </a:p>
        </p:txBody>
      </p:sp>
      <p:sp>
        <p:nvSpPr>
          <p:cNvPr id="4" name="TextBox 3"/>
          <p:cNvSpPr txBox="1"/>
          <p:nvPr/>
        </p:nvSpPr>
        <p:spPr>
          <a:xfrm>
            <a:off x="502920" y="658368"/>
            <a:ext cx="10881360" cy="502920"/>
          </a:xfrm>
          <a:prstGeom prst="rect">
            <a:avLst/>
          </a:prstGeom>
          <a:noFill/>
        </p:spPr>
        <p:txBody>
          <a:bodyPr wrap="square" lIns="36576" tIns="18288" rIns="36576" bIns="18288">
            <a:spAutoFit/>
          </a:bodyPr>
          <a:lstStyle/>
          <a:p>
            <a:pPr algn="l"/>
            <a:r>
              <a:rPr sz="2700" b="1">
                <a:solidFill>
                  <a:srgbClr val="0F1F38"/>
                </a:solidFill>
                <a:latin typeface="Aptos"/>
              </a:rPr>
              <a:t>End-to-End Workflow</a:t>
            </a:r>
          </a:p>
        </p:txBody>
      </p:sp>
      <p:sp>
        <p:nvSpPr>
          <p:cNvPr id="5" name="TextBox 4"/>
          <p:cNvSpPr txBox="1"/>
          <p:nvPr/>
        </p:nvSpPr>
        <p:spPr>
          <a:xfrm>
            <a:off x="11201400" y="6473952"/>
            <a:ext cx="457200" cy="182880"/>
          </a:xfrm>
          <a:prstGeom prst="rect">
            <a:avLst/>
          </a:prstGeom>
          <a:noFill/>
        </p:spPr>
        <p:txBody>
          <a:bodyPr wrap="square" lIns="36576" tIns="18288" rIns="36576" bIns="18288">
            <a:spAutoFit/>
          </a:bodyPr>
          <a:lstStyle/>
          <a:p>
            <a:pPr algn="r"/>
            <a:r>
              <a:rPr sz="900" b="1">
                <a:solidFill>
                  <a:srgbClr val="5D6C7D"/>
                </a:solidFill>
                <a:latin typeface="Aptos"/>
              </a:rPr>
              <a:t>11</a:t>
            </a:r>
          </a:p>
        </p:txBody>
      </p:sp>
      <p:sp>
        <p:nvSpPr>
          <p:cNvPr id="6" name="Rounded Rectangle 5"/>
          <p:cNvSpPr/>
          <p:nvPr/>
        </p:nvSpPr>
        <p:spPr>
          <a:xfrm>
            <a:off x="640080" y="2057400"/>
            <a:ext cx="1417320" cy="1005840"/>
          </a:xfrm>
          <a:prstGeom prst="roundRect">
            <a:avLst/>
          </a:prstGeom>
          <a:solidFill>
            <a:srgbClr val="FFFFFF"/>
          </a:solidFill>
          <a:ln w="8890">
            <a:solidFill>
              <a:srgbClr val="EDB5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1" y="2130552"/>
            <a:ext cx="1271016" cy="859536"/>
          </a:xfrm>
          <a:prstGeom prst="rect">
            <a:avLst/>
          </a:prstGeom>
          <a:noFill/>
        </p:spPr>
        <p:txBody>
          <a:bodyPr wrap="square" lIns="36576" tIns="18288" rIns="36576" bIns="18288">
            <a:spAutoFit/>
          </a:bodyPr>
          <a:lstStyle/>
          <a:p>
            <a:pPr algn="ctr"/>
            <a:r>
              <a:rPr sz="1400" b="1">
                <a:solidFill>
                  <a:srgbClr val="0F1F38"/>
                </a:solidFill>
                <a:latin typeface="Aptos"/>
              </a:rPr>
              <a:t>1
Sign in</a:t>
            </a:r>
          </a:p>
        </p:txBody>
      </p:sp>
      <p:cxnSp>
        <p:nvCxnSpPr>
          <p:cNvPr id="8" name="Connector 7"/>
          <p:cNvCxnSpPr/>
          <p:nvPr/>
        </p:nvCxnSpPr>
        <p:spPr>
          <a:xfrm>
            <a:off x="2084832" y="2560320"/>
            <a:ext cx="384048" cy="0"/>
          </a:xfrm>
          <a:prstGeom prst="line">
            <a:avLst/>
          </a:prstGeom>
          <a:ln w="22860">
            <a:solidFill>
              <a:srgbClr val="009196"/>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560320" y="2057400"/>
            <a:ext cx="1417320" cy="1005840"/>
          </a:xfrm>
          <a:prstGeom prst="roundRect">
            <a:avLst/>
          </a:prstGeom>
          <a:solidFill>
            <a:srgbClr val="FFFFFF"/>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633472" y="2130552"/>
            <a:ext cx="1271016" cy="859536"/>
          </a:xfrm>
          <a:prstGeom prst="rect">
            <a:avLst/>
          </a:prstGeom>
          <a:noFill/>
        </p:spPr>
        <p:txBody>
          <a:bodyPr wrap="square" lIns="36576" tIns="18288" rIns="36576" bIns="18288">
            <a:spAutoFit/>
          </a:bodyPr>
          <a:lstStyle/>
          <a:p>
            <a:pPr algn="ctr"/>
            <a:r>
              <a:rPr sz="1400" b="1">
                <a:solidFill>
                  <a:srgbClr val="0F1F38"/>
                </a:solidFill>
                <a:latin typeface="Aptos"/>
              </a:rPr>
              <a:t>2
Upload</a:t>
            </a:r>
          </a:p>
        </p:txBody>
      </p:sp>
      <p:cxnSp>
        <p:nvCxnSpPr>
          <p:cNvPr id="11" name="Connector 10"/>
          <p:cNvCxnSpPr/>
          <p:nvPr/>
        </p:nvCxnSpPr>
        <p:spPr>
          <a:xfrm>
            <a:off x="4005072" y="2560320"/>
            <a:ext cx="384048" cy="0"/>
          </a:xfrm>
          <a:prstGeom prst="line">
            <a:avLst/>
          </a:prstGeom>
          <a:ln w="22860">
            <a:solidFill>
              <a:srgbClr val="009196"/>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480560" y="2057400"/>
            <a:ext cx="1417320" cy="1005840"/>
          </a:xfrm>
          <a:prstGeom prst="roundRect">
            <a:avLst/>
          </a:prstGeom>
          <a:solidFill>
            <a:srgbClr val="FFFFFF"/>
          </a:solidFill>
          <a:ln w="8890">
            <a:solidFill>
              <a:srgbClr val="EB6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53712" y="2130552"/>
            <a:ext cx="1271016" cy="859536"/>
          </a:xfrm>
          <a:prstGeom prst="rect">
            <a:avLst/>
          </a:prstGeom>
          <a:noFill/>
        </p:spPr>
        <p:txBody>
          <a:bodyPr wrap="square" lIns="36576" tIns="18288" rIns="36576" bIns="18288">
            <a:spAutoFit/>
          </a:bodyPr>
          <a:lstStyle/>
          <a:p>
            <a:pPr algn="ctr"/>
            <a:r>
              <a:rPr sz="1400" b="1">
                <a:solidFill>
                  <a:srgbClr val="0F1F38"/>
                </a:solidFill>
                <a:latin typeface="Aptos"/>
              </a:rPr>
              <a:t>3
Extract</a:t>
            </a:r>
          </a:p>
        </p:txBody>
      </p:sp>
      <p:cxnSp>
        <p:nvCxnSpPr>
          <p:cNvPr id="14" name="Connector 13"/>
          <p:cNvCxnSpPr/>
          <p:nvPr/>
        </p:nvCxnSpPr>
        <p:spPr>
          <a:xfrm>
            <a:off x="5925312" y="2560320"/>
            <a:ext cx="384048" cy="0"/>
          </a:xfrm>
          <a:prstGeom prst="line">
            <a:avLst/>
          </a:prstGeom>
          <a:ln w="22860">
            <a:solidFill>
              <a:srgbClr val="009196"/>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400800" y="2057400"/>
            <a:ext cx="1417320" cy="1005840"/>
          </a:xfrm>
          <a:prstGeom prst="roundRect">
            <a:avLst/>
          </a:prstGeom>
          <a:solidFill>
            <a:srgbClr val="FFFFFF"/>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73952" y="2130552"/>
            <a:ext cx="1271016" cy="859536"/>
          </a:xfrm>
          <a:prstGeom prst="rect">
            <a:avLst/>
          </a:prstGeom>
          <a:noFill/>
        </p:spPr>
        <p:txBody>
          <a:bodyPr wrap="square" lIns="36576" tIns="18288" rIns="36576" bIns="18288">
            <a:spAutoFit/>
          </a:bodyPr>
          <a:lstStyle/>
          <a:p>
            <a:pPr algn="ctr"/>
            <a:r>
              <a:rPr sz="1400" b="1">
                <a:solidFill>
                  <a:srgbClr val="0F1F38"/>
                </a:solidFill>
                <a:latin typeface="Aptos"/>
              </a:rPr>
              <a:t>4
Generate</a:t>
            </a:r>
          </a:p>
        </p:txBody>
      </p:sp>
      <p:cxnSp>
        <p:nvCxnSpPr>
          <p:cNvPr id="17" name="Connector 16"/>
          <p:cNvCxnSpPr/>
          <p:nvPr/>
        </p:nvCxnSpPr>
        <p:spPr>
          <a:xfrm>
            <a:off x="7845552" y="2560320"/>
            <a:ext cx="384048" cy="0"/>
          </a:xfrm>
          <a:prstGeom prst="line">
            <a:avLst/>
          </a:prstGeom>
          <a:ln w="22860">
            <a:solidFill>
              <a:srgbClr val="009196"/>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321040" y="2057400"/>
            <a:ext cx="1417320" cy="1005840"/>
          </a:xfrm>
          <a:prstGeom prst="roundRect">
            <a:avLst/>
          </a:prstGeom>
          <a:solidFill>
            <a:srgbClr val="FFFFFF"/>
          </a:solidFill>
          <a:ln w="8890">
            <a:solidFill>
              <a:srgbClr val="EDB5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94192" y="2130552"/>
            <a:ext cx="1271016" cy="859536"/>
          </a:xfrm>
          <a:prstGeom prst="rect">
            <a:avLst/>
          </a:prstGeom>
          <a:noFill/>
        </p:spPr>
        <p:txBody>
          <a:bodyPr wrap="square" lIns="36576" tIns="18288" rIns="36576" bIns="18288">
            <a:spAutoFit/>
          </a:bodyPr>
          <a:lstStyle/>
          <a:p>
            <a:pPr algn="ctr"/>
            <a:r>
              <a:rPr sz="1400" b="1">
                <a:solidFill>
                  <a:srgbClr val="0F1F38"/>
                </a:solidFill>
                <a:latin typeface="Aptos"/>
              </a:rPr>
              <a:t>5
Practice</a:t>
            </a:r>
          </a:p>
        </p:txBody>
      </p:sp>
      <p:cxnSp>
        <p:nvCxnSpPr>
          <p:cNvPr id="20" name="Connector 19"/>
          <p:cNvCxnSpPr/>
          <p:nvPr/>
        </p:nvCxnSpPr>
        <p:spPr>
          <a:xfrm>
            <a:off x="9765792" y="2560320"/>
            <a:ext cx="384048" cy="0"/>
          </a:xfrm>
          <a:prstGeom prst="line">
            <a:avLst/>
          </a:prstGeom>
          <a:ln w="22860">
            <a:solidFill>
              <a:srgbClr val="009196"/>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0241280" y="2057400"/>
            <a:ext cx="1417320" cy="1005840"/>
          </a:xfrm>
          <a:prstGeom prst="roundRect">
            <a:avLst/>
          </a:prstGeom>
          <a:solidFill>
            <a:srgbClr val="FFFFFF"/>
          </a:solidFill>
          <a:ln w="8890">
            <a:solidFill>
              <a:srgbClr val="EB6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314432" y="2130552"/>
            <a:ext cx="1271016" cy="859536"/>
          </a:xfrm>
          <a:prstGeom prst="rect">
            <a:avLst/>
          </a:prstGeom>
          <a:noFill/>
        </p:spPr>
        <p:txBody>
          <a:bodyPr wrap="square" lIns="36576" tIns="18288" rIns="36576" bIns="18288">
            <a:spAutoFit/>
          </a:bodyPr>
          <a:lstStyle/>
          <a:p>
            <a:pPr algn="ctr"/>
            <a:r>
              <a:rPr sz="1400" b="1">
                <a:solidFill>
                  <a:srgbClr val="0F1F38"/>
                </a:solidFill>
                <a:latin typeface="Aptos"/>
              </a:rPr>
              <a:t>6
Analyze</a:t>
            </a:r>
          </a:p>
        </p:txBody>
      </p:sp>
      <p:sp>
        <p:nvSpPr>
          <p:cNvPr id="23" name="TextBox 22"/>
          <p:cNvSpPr txBox="1"/>
          <p:nvPr/>
        </p:nvSpPr>
        <p:spPr>
          <a:xfrm>
            <a:off x="731520" y="3886200"/>
            <a:ext cx="1280160" cy="274320"/>
          </a:xfrm>
          <a:prstGeom prst="rect">
            <a:avLst/>
          </a:prstGeom>
          <a:noFill/>
        </p:spPr>
        <p:txBody>
          <a:bodyPr wrap="square" lIns="36576" tIns="18288" rIns="36576" bIns="18288">
            <a:spAutoFit/>
          </a:bodyPr>
          <a:lstStyle/>
          <a:p>
            <a:pPr algn="l"/>
            <a:r>
              <a:rPr sz="1400" b="1">
                <a:solidFill>
                  <a:srgbClr val="0F1F38"/>
                </a:solidFill>
                <a:latin typeface="Aptos"/>
              </a:rPr>
              <a:t>Upload path</a:t>
            </a:r>
          </a:p>
        </p:txBody>
      </p:sp>
      <p:sp>
        <p:nvSpPr>
          <p:cNvPr id="24" name="TextBox 23"/>
          <p:cNvSpPr txBox="1"/>
          <p:nvPr/>
        </p:nvSpPr>
        <p:spPr>
          <a:xfrm>
            <a:off x="2011680" y="3867912"/>
            <a:ext cx="9326880" cy="411480"/>
          </a:xfrm>
          <a:prstGeom prst="rect">
            <a:avLst/>
          </a:prstGeom>
          <a:noFill/>
        </p:spPr>
        <p:txBody>
          <a:bodyPr wrap="square" lIns="36576" tIns="18288" rIns="36576" bIns="18288">
            <a:spAutoFit/>
          </a:bodyPr>
          <a:lstStyle/>
          <a:p>
            <a:pPr algn="l"/>
            <a:r>
              <a:rPr sz="1500" b="0">
                <a:solidFill>
                  <a:srgbClr val="202B38"/>
                </a:solidFill>
                <a:latin typeface="Aptos"/>
              </a:rPr>
              <a:t>Validate MIME and size -&gt; save UUID filename -&gt; create uploaded record -&gt; BackgroundTask -&gt; extract text -&gt; ready or failed</a:t>
            </a:r>
          </a:p>
        </p:txBody>
      </p:sp>
      <p:sp>
        <p:nvSpPr>
          <p:cNvPr id="25" name="TextBox 24"/>
          <p:cNvSpPr txBox="1"/>
          <p:nvPr/>
        </p:nvSpPr>
        <p:spPr>
          <a:xfrm>
            <a:off x="731520" y="4617720"/>
            <a:ext cx="1280160" cy="274320"/>
          </a:xfrm>
          <a:prstGeom prst="rect">
            <a:avLst/>
          </a:prstGeom>
          <a:noFill/>
        </p:spPr>
        <p:txBody>
          <a:bodyPr wrap="square" lIns="36576" tIns="18288" rIns="36576" bIns="18288">
            <a:spAutoFit/>
          </a:bodyPr>
          <a:lstStyle/>
          <a:p>
            <a:pPr algn="l"/>
            <a:r>
              <a:rPr sz="1400" b="1">
                <a:solidFill>
                  <a:srgbClr val="0F1F38"/>
                </a:solidFill>
                <a:latin typeface="Aptos"/>
              </a:rPr>
              <a:t>Learning path</a:t>
            </a:r>
          </a:p>
        </p:txBody>
      </p:sp>
      <p:sp>
        <p:nvSpPr>
          <p:cNvPr id="26" name="TextBox 25"/>
          <p:cNvSpPr txBox="1"/>
          <p:nvPr/>
        </p:nvSpPr>
        <p:spPr>
          <a:xfrm>
            <a:off x="2011680" y="4599432"/>
            <a:ext cx="9326880" cy="411480"/>
          </a:xfrm>
          <a:prstGeom prst="rect">
            <a:avLst/>
          </a:prstGeom>
          <a:noFill/>
        </p:spPr>
        <p:txBody>
          <a:bodyPr wrap="square" lIns="36576" tIns="18288" rIns="36576" bIns="18288">
            <a:spAutoFit/>
          </a:bodyPr>
          <a:lstStyle/>
          <a:p>
            <a:pPr algn="l"/>
            <a:r>
              <a:rPr sz="1500" b="0">
                <a:solidFill>
                  <a:srgbClr val="202B38"/>
                </a:solidFill>
                <a:latin typeface="Aptos"/>
              </a:rPr>
              <a:t>Ready document -&gt; call LLM -&gt; persist summary / quiz / cards -&gt; review or submit -&gt; update progress and study session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47472"/>
            <a:ext cx="4114800" cy="228600"/>
          </a:xfrm>
          <a:prstGeom prst="rect">
            <a:avLst/>
          </a:prstGeom>
          <a:noFill/>
        </p:spPr>
        <p:txBody>
          <a:bodyPr wrap="square" lIns="36576" tIns="18288" rIns="36576" bIns="18288">
            <a:spAutoFit/>
          </a:bodyPr>
          <a:lstStyle/>
          <a:p>
            <a:pPr algn="l"/>
            <a:r>
              <a:rPr sz="900" b="1">
                <a:solidFill>
                  <a:srgbClr val="009196"/>
                </a:solidFill>
                <a:latin typeface="Aptos"/>
              </a:rPr>
              <a:t>PROJECT DEFENSE</a:t>
            </a:r>
          </a:p>
        </p:txBody>
      </p:sp>
      <p:sp>
        <p:nvSpPr>
          <p:cNvPr id="4" name="TextBox 3"/>
          <p:cNvSpPr txBox="1"/>
          <p:nvPr/>
        </p:nvSpPr>
        <p:spPr>
          <a:xfrm>
            <a:off x="502920" y="658368"/>
            <a:ext cx="10881360" cy="502920"/>
          </a:xfrm>
          <a:prstGeom prst="rect">
            <a:avLst/>
          </a:prstGeom>
          <a:noFill/>
        </p:spPr>
        <p:txBody>
          <a:bodyPr wrap="square" lIns="36576" tIns="18288" rIns="36576" bIns="18288">
            <a:spAutoFit/>
          </a:bodyPr>
          <a:lstStyle/>
          <a:p>
            <a:pPr algn="l"/>
            <a:r>
              <a:rPr sz="2700" b="1">
                <a:solidFill>
                  <a:srgbClr val="0F1F38"/>
                </a:solidFill>
                <a:latin typeface="Aptos"/>
              </a:rPr>
              <a:t>Functional Modules</a:t>
            </a:r>
          </a:p>
        </p:txBody>
      </p:sp>
      <p:sp>
        <p:nvSpPr>
          <p:cNvPr id="5" name="TextBox 4"/>
          <p:cNvSpPr txBox="1"/>
          <p:nvPr/>
        </p:nvSpPr>
        <p:spPr>
          <a:xfrm>
            <a:off x="11201400" y="6473952"/>
            <a:ext cx="457200" cy="182880"/>
          </a:xfrm>
          <a:prstGeom prst="rect">
            <a:avLst/>
          </a:prstGeom>
          <a:noFill/>
        </p:spPr>
        <p:txBody>
          <a:bodyPr wrap="square" lIns="36576" tIns="18288" rIns="36576" bIns="18288">
            <a:spAutoFit/>
          </a:bodyPr>
          <a:lstStyle/>
          <a:p>
            <a:pPr algn="r"/>
            <a:r>
              <a:rPr sz="900" b="1">
                <a:solidFill>
                  <a:srgbClr val="5D6C7D"/>
                </a:solidFill>
                <a:latin typeface="Aptos"/>
              </a:rPr>
              <a:t>12</a:t>
            </a:r>
          </a:p>
        </p:txBody>
      </p:sp>
      <p:sp>
        <p:nvSpPr>
          <p:cNvPr id="6" name="Rounded Rectangle 5"/>
          <p:cNvSpPr/>
          <p:nvPr/>
        </p:nvSpPr>
        <p:spPr>
          <a:xfrm>
            <a:off x="685800" y="1417320"/>
            <a:ext cx="2423160" cy="1417320"/>
          </a:xfrm>
          <a:prstGeom prst="round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417320"/>
            <a:ext cx="73152" cy="1417320"/>
          </a:xfrm>
          <a:prstGeom prst="rect">
            <a:avLst/>
          </a:prstGeom>
          <a:solidFill>
            <a:srgbClr val="EDB547"/>
          </a:solidFill>
          <a:ln w="8890">
            <a:solidFill>
              <a:srgbClr val="EDB5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581912"/>
            <a:ext cx="2057400" cy="274320"/>
          </a:xfrm>
          <a:prstGeom prst="rect">
            <a:avLst/>
          </a:prstGeom>
          <a:noFill/>
        </p:spPr>
        <p:txBody>
          <a:bodyPr wrap="square" lIns="36576" tIns="18288" rIns="36576" bIns="18288">
            <a:spAutoFit/>
          </a:bodyPr>
          <a:lstStyle/>
          <a:p>
            <a:pPr algn="l"/>
            <a:r>
              <a:rPr sz="1500" b="1">
                <a:solidFill>
                  <a:srgbClr val="0F1F38"/>
                </a:solidFill>
                <a:latin typeface="Aptos"/>
              </a:rPr>
              <a:t>Documents</a:t>
            </a:r>
          </a:p>
        </p:txBody>
      </p:sp>
      <p:sp>
        <p:nvSpPr>
          <p:cNvPr id="9" name="TextBox 8"/>
          <p:cNvSpPr txBox="1"/>
          <p:nvPr/>
        </p:nvSpPr>
        <p:spPr>
          <a:xfrm>
            <a:off x="886968" y="1984248"/>
            <a:ext cx="2057400" cy="722376"/>
          </a:xfrm>
          <a:prstGeom prst="rect">
            <a:avLst/>
          </a:prstGeom>
          <a:noFill/>
        </p:spPr>
        <p:txBody>
          <a:bodyPr wrap="square" lIns="36576" tIns="18288" rIns="36576" bIns="18288">
            <a:spAutoFit/>
          </a:bodyPr>
          <a:lstStyle/>
          <a:p>
            <a:pPr algn="l"/>
            <a:r>
              <a:rPr sz="1200" b="0">
                <a:solidFill>
                  <a:srgbClr val="202B38"/>
                </a:solidFill>
                <a:latin typeface="Aptos"/>
              </a:rPr>
              <a:t>Upload, list, open, delete; background extraction</a:t>
            </a:r>
          </a:p>
        </p:txBody>
      </p:sp>
      <p:sp>
        <p:nvSpPr>
          <p:cNvPr id="10" name="Rounded Rectangle 9"/>
          <p:cNvSpPr/>
          <p:nvPr/>
        </p:nvSpPr>
        <p:spPr>
          <a:xfrm>
            <a:off x="3520440" y="1417320"/>
            <a:ext cx="2423160" cy="1417320"/>
          </a:xfrm>
          <a:prstGeom prst="round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520440" y="1417320"/>
            <a:ext cx="73152" cy="1417320"/>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721608" y="1581912"/>
            <a:ext cx="2057400" cy="274320"/>
          </a:xfrm>
          <a:prstGeom prst="rect">
            <a:avLst/>
          </a:prstGeom>
          <a:noFill/>
        </p:spPr>
        <p:txBody>
          <a:bodyPr wrap="square" lIns="36576" tIns="18288" rIns="36576" bIns="18288">
            <a:spAutoFit/>
          </a:bodyPr>
          <a:lstStyle/>
          <a:p>
            <a:pPr algn="l"/>
            <a:r>
              <a:rPr sz="1500" b="1">
                <a:solidFill>
                  <a:srgbClr val="0F1F38"/>
                </a:solidFill>
                <a:latin typeface="Aptos"/>
              </a:rPr>
              <a:t>Summaries</a:t>
            </a:r>
          </a:p>
        </p:txBody>
      </p:sp>
      <p:sp>
        <p:nvSpPr>
          <p:cNvPr id="13" name="TextBox 12"/>
          <p:cNvSpPr txBox="1"/>
          <p:nvPr/>
        </p:nvSpPr>
        <p:spPr>
          <a:xfrm>
            <a:off x="3721608" y="1984248"/>
            <a:ext cx="2057400" cy="722376"/>
          </a:xfrm>
          <a:prstGeom prst="rect">
            <a:avLst/>
          </a:prstGeom>
          <a:noFill/>
        </p:spPr>
        <p:txBody>
          <a:bodyPr wrap="square" lIns="36576" tIns="18288" rIns="36576" bIns="18288">
            <a:spAutoFit/>
          </a:bodyPr>
          <a:lstStyle/>
          <a:p>
            <a:pPr algn="l"/>
            <a:r>
              <a:rPr sz="1200" b="0">
                <a:solidFill>
                  <a:srgbClr val="202B38"/>
                </a:solidFill>
                <a:latin typeface="Aptos"/>
              </a:rPr>
              <a:t>Five summary types generated from extracted text</a:t>
            </a:r>
          </a:p>
        </p:txBody>
      </p:sp>
      <p:sp>
        <p:nvSpPr>
          <p:cNvPr id="14" name="Rounded Rectangle 13"/>
          <p:cNvSpPr/>
          <p:nvPr/>
        </p:nvSpPr>
        <p:spPr>
          <a:xfrm>
            <a:off x="6355080" y="1417320"/>
            <a:ext cx="2423160" cy="1417320"/>
          </a:xfrm>
          <a:prstGeom prst="round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355080" y="1417320"/>
            <a:ext cx="73152" cy="1417320"/>
          </a:xfrm>
          <a:prstGeom prst="rect">
            <a:avLst/>
          </a:prstGeom>
          <a:solidFill>
            <a:srgbClr val="EB695B"/>
          </a:solidFill>
          <a:ln w="8890">
            <a:solidFill>
              <a:srgbClr val="EB6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56248" y="1581912"/>
            <a:ext cx="2057400" cy="274320"/>
          </a:xfrm>
          <a:prstGeom prst="rect">
            <a:avLst/>
          </a:prstGeom>
          <a:noFill/>
        </p:spPr>
        <p:txBody>
          <a:bodyPr wrap="square" lIns="36576" tIns="18288" rIns="36576" bIns="18288">
            <a:spAutoFit/>
          </a:bodyPr>
          <a:lstStyle/>
          <a:p>
            <a:pPr algn="l"/>
            <a:r>
              <a:rPr sz="1500" b="1">
                <a:solidFill>
                  <a:srgbClr val="0F1F38"/>
                </a:solidFill>
                <a:latin typeface="Aptos"/>
              </a:rPr>
              <a:t>Quizzes</a:t>
            </a:r>
          </a:p>
        </p:txBody>
      </p:sp>
      <p:sp>
        <p:nvSpPr>
          <p:cNvPr id="17" name="TextBox 16"/>
          <p:cNvSpPr txBox="1"/>
          <p:nvPr/>
        </p:nvSpPr>
        <p:spPr>
          <a:xfrm>
            <a:off x="6556248" y="1984248"/>
            <a:ext cx="2057400" cy="722376"/>
          </a:xfrm>
          <a:prstGeom prst="rect">
            <a:avLst/>
          </a:prstGeom>
          <a:noFill/>
        </p:spPr>
        <p:txBody>
          <a:bodyPr wrap="square" lIns="36576" tIns="18288" rIns="36576" bIns="18288">
            <a:spAutoFit/>
          </a:bodyPr>
          <a:lstStyle/>
          <a:p>
            <a:pPr algn="l"/>
            <a:r>
              <a:rPr sz="1200" b="0">
                <a:solidFill>
                  <a:srgbClr val="202B38"/>
                </a:solidFill>
                <a:latin typeface="Aptos"/>
              </a:rPr>
              <a:t>Generate, take, score, explain, record attempt</a:t>
            </a:r>
          </a:p>
        </p:txBody>
      </p:sp>
      <p:sp>
        <p:nvSpPr>
          <p:cNvPr id="18" name="Rounded Rectangle 17"/>
          <p:cNvSpPr/>
          <p:nvPr/>
        </p:nvSpPr>
        <p:spPr>
          <a:xfrm>
            <a:off x="9189720" y="1417320"/>
            <a:ext cx="2423160" cy="1417320"/>
          </a:xfrm>
          <a:prstGeom prst="round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189720" y="1417320"/>
            <a:ext cx="73152" cy="1417320"/>
          </a:xfrm>
          <a:prstGeom prst="rect">
            <a:avLst/>
          </a:prstGeom>
          <a:solidFill>
            <a:srgbClr val="EDB547"/>
          </a:solidFill>
          <a:ln w="8890">
            <a:solidFill>
              <a:srgbClr val="EDB5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390888" y="1581912"/>
            <a:ext cx="2057400" cy="274320"/>
          </a:xfrm>
          <a:prstGeom prst="rect">
            <a:avLst/>
          </a:prstGeom>
          <a:noFill/>
        </p:spPr>
        <p:txBody>
          <a:bodyPr wrap="square" lIns="36576" tIns="18288" rIns="36576" bIns="18288">
            <a:spAutoFit/>
          </a:bodyPr>
          <a:lstStyle/>
          <a:p>
            <a:pPr algn="l"/>
            <a:r>
              <a:rPr sz="1500" b="1">
                <a:solidFill>
                  <a:srgbClr val="0F1F38"/>
                </a:solidFill>
                <a:latin typeface="Aptos"/>
              </a:rPr>
              <a:t>Flashcards</a:t>
            </a:r>
          </a:p>
        </p:txBody>
      </p:sp>
      <p:sp>
        <p:nvSpPr>
          <p:cNvPr id="21" name="TextBox 20"/>
          <p:cNvSpPr txBox="1"/>
          <p:nvPr/>
        </p:nvSpPr>
        <p:spPr>
          <a:xfrm>
            <a:off x="9390888" y="1984248"/>
            <a:ext cx="2057400" cy="722376"/>
          </a:xfrm>
          <a:prstGeom prst="rect">
            <a:avLst/>
          </a:prstGeom>
          <a:noFill/>
        </p:spPr>
        <p:txBody>
          <a:bodyPr wrap="square" lIns="36576" tIns="18288" rIns="36576" bIns="18288">
            <a:spAutoFit/>
          </a:bodyPr>
          <a:lstStyle/>
          <a:p>
            <a:pPr algn="l"/>
            <a:r>
              <a:rPr sz="1200" b="0">
                <a:solidFill>
                  <a:srgbClr val="202B38"/>
                </a:solidFill>
                <a:latin typeface="Aptos"/>
              </a:rPr>
              <a:t>Generate, flip, rate, schedule with SM-2</a:t>
            </a:r>
          </a:p>
        </p:txBody>
      </p:sp>
      <p:sp>
        <p:nvSpPr>
          <p:cNvPr id="22" name="Rounded Rectangle 21"/>
          <p:cNvSpPr/>
          <p:nvPr/>
        </p:nvSpPr>
        <p:spPr>
          <a:xfrm>
            <a:off x="685800" y="3474720"/>
            <a:ext cx="2423160" cy="1417320"/>
          </a:xfrm>
          <a:prstGeom prst="round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85800" y="3474720"/>
            <a:ext cx="73152" cy="1417320"/>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86968" y="3639312"/>
            <a:ext cx="2057400" cy="274320"/>
          </a:xfrm>
          <a:prstGeom prst="rect">
            <a:avLst/>
          </a:prstGeom>
          <a:noFill/>
        </p:spPr>
        <p:txBody>
          <a:bodyPr wrap="square" lIns="36576" tIns="18288" rIns="36576" bIns="18288">
            <a:spAutoFit/>
          </a:bodyPr>
          <a:lstStyle/>
          <a:p>
            <a:pPr algn="l"/>
            <a:r>
              <a:rPr sz="1500" b="1">
                <a:solidFill>
                  <a:srgbClr val="0F1F38"/>
                </a:solidFill>
                <a:latin typeface="Aptos"/>
              </a:rPr>
              <a:t>AI Tutor</a:t>
            </a:r>
          </a:p>
        </p:txBody>
      </p:sp>
      <p:sp>
        <p:nvSpPr>
          <p:cNvPr id="25" name="TextBox 24"/>
          <p:cNvSpPr txBox="1"/>
          <p:nvPr/>
        </p:nvSpPr>
        <p:spPr>
          <a:xfrm>
            <a:off x="886968" y="4041648"/>
            <a:ext cx="2057400" cy="722376"/>
          </a:xfrm>
          <a:prstGeom prst="rect">
            <a:avLst/>
          </a:prstGeom>
          <a:noFill/>
        </p:spPr>
        <p:txBody>
          <a:bodyPr wrap="square" lIns="36576" tIns="18288" rIns="36576" bIns="18288">
            <a:spAutoFit/>
          </a:bodyPr>
          <a:lstStyle/>
          <a:p>
            <a:pPr algn="l"/>
            <a:r>
              <a:rPr sz="1200" b="0">
                <a:solidFill>
                  <a:srgbClr val="202B38"/>
                </a:solidFill>
                <a:latin typeface="Aptos"/>
              </a:rPr>
              <a:t>Six modes, optional document context, SSE stream</a:t>
            </a:r>
          </a:p>
        </p:txBody>
      </p:sp>
      <p:sp>
        <p:nvSpPr>
          <p:cNvPr id="26" name="Rounded Rectangle 25"/>
          <p:cNvSpPr/>
          <p:nvPr/>
        </p:nvSpPr>
        <p:spPr>
          <a:xfrm>
            <a:off x="3520440" y="3474720"/>
            <a:ext cx="2423160" cy="1417320"/>
          </a:xfrm>
          <a:prstGeom prst="round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520440" y="3474720"/>
            <a:ext cx="73152" cy="1417320"/>
          </a:xfrm>
          <a:prstGeom prst="rect">
            <a:avLst/>
          </a:prstGeom>
          <a:solidFill>
            <a:srgbClr val="EB695B"/>
          </a:solidFill>
          <a:ln w="8890">
            <a:solidFill>
              <a:srgbClr val="EB6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721608" y="3639312"/>
            <a:ext cx="2057400" cy="274320"/>
          </a:xfrm>
          <a:prstGeom prst="rect">
            <a:avLst/>
          </a:prstGeom>
          <a:noFill/>
        </p:spPr>
        <p:txBody>
          <a:bodyPr wrap="square" lIns="36576" tIns="18288" rIns="36576" bIns="18288">
            <a:spAutoFit/>
          </a:bodyPr>
          <a:lstStyle/>
          <a:p>
            <a:pPr algn="l"/>
            <a:r>
              <a:rPr sz="1500" b="1">
                <a:solidFill>
                  <a:srgbClr val="0F1F38"/>
                </a:solidFill>
                <a:latin typeface="Aptos"/>
              </a:rPr>
              <a:t>Learning</a:t>
            </a:r>
          </a:p>
        </p:txBody>
      </p:sp>
      <p:sp>
        <p:nvSpPr>
          <p:cNvPr id="29" name="TextBox 28"/>
          <p:cNvSpPr txBox="1"/>
          <p:nvPr/>
        </p:nvSpPr>
        <p:spPr>
          <a:xfrm>
            <a:off x="3721608" y="4041648"/>
            <a:ext cx="2057400" cy="722376"/>
          </a:xfrm>
          <a:prstGeom prst="rect">
            <a:avLst/>
          </a:prstGeom>
          <a:noFill/>
        </p:spPr>
        <p:txBody>
          <a:bodyPr wrap="square" lIns="36576" tIns="18288" rIns="36576" bIns="18288">
            <a:spAutoFit/>
          </a:bodyPr>
          <a:lstStyle/>
          <a:p>
            <a:pPr algn="l"/>
            <a:r>
              <a:rPr sz="1200" b="0">
                <a:solidFill>
                  <a:srgbClr val="202B38"/>
                </a:solidFill>
                <a:latin typeface="Aptos"/>
              </a:rPr>
              <a:t>Topics, mastery, recommendations, sessions</a:t>
            </a:r>
          </a:p>
        </p:txBody>
      </p:sp>
      <p:sp>
        <p:nvSpPr>
          <p:cNvPr id="30" name="Rounded Rectangle 29"/>
          <p:cNvSpPr/>
          <p:nvPr/>
        </p:nvSpPr>
        <p:spPr>
          <a:xfrm>
            <a:off x="6355080" y="3474720"/>
            <a:ext cx="2423160" cy="1417320"/>
          </a:xfrm>
          <a:prstGeom prst="round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355080" y="3474720"/>
            <a:ext cx="73152" cy="1417320"/>
          </a:xfrm>
          <a:prstGeom prst="rect">
            <a:avLst/>
          </a:prstGeom>
          <a:solidFill>
            <a:srgbClr val="EDB547"/>
          </a:solidFill>
          <a:ln w="8890">
            <a:solidFill>
              <a:srgbClr val="EDB5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56248" y="3639312"/>
            <a:ext cx="2057400" cy="274320"/>
          </a:xfrm>
          <a:prstGeom prst="rect">
            <a:avLst/>
          </a:prstGeom>
          <a:noFill/>
        </p:spPr>
        <p:txBody>
          <a:bodyPr wrap="square" lIns="36576" tIns="18288" rIns="36576" bIns="18288">
            <a:spAutoFit/>
          </a:bodyPr>
          <a:lstStyle/>
          <a:p>
            <a:pPr algn="l"/>
            <a:r>
              <a:rPr sz="1500" b="1">
                <a:solidFill>
                  <a:srgbClr val="0F1F38"/>
                </a:solidFill>
                <a:latin typeface="Aptos"/>
              </a:rPr>
              <a:t>Analytics</a:t>
            </a:r>
          </a:p>
        </p:txBody>
      </p:sp>
      <p:sp>
        <p:nvSpPr>
          <p:cNvPr id="33" name="TextBox 32"/>
          <p:cNvSpPr txBox="1"/>
          <p:nvPr/>
        </p:nvSpPr>
        <p:spPr>
          <a:xfrm>
            <a:off x="6556248" y="4041648"/>
            <a:ext cx="2057400" cy="722376"/>
          </a:xfrm>
          <a:prstGeom prst="rect">
            <a:avLst/>
          </a:prstGeom>
          <a:noFill/>
        </p:spPr>
        <p:txBody>
          <a:bodyPr wrap="square" lIns="36576" tIns="18288" rIns="36576" bIns="18288">
            <a:spAutoFit/>
          </a:bodyPr>
          <a:lstStyle/>
          <a:p>
            <a:pPr algn="l"/>
            <a:r>
              <a:rPr sz="1200" b="0">
                <a:solidFill>
                  <a:srgbClr val="202B38"/>
                </a:solidFill>
                <a:latin typeface="Aptos"/>
              </a:rPr>
              <a:t>Counts, average score, streak, strong/weak topics</a:t>
            </a:r>
          </a:p>
        </p:txBody>
      </p:sp>
      <p:sp>
        <p:nvSpPr>
          <p:cNvPr id="34" name="Rounded Rectangle 33"/>
          <p:cNvSpPr/>
          <p:nvPr/>
        </p:nvSpPr>
        <p:spPr>
          <a:xfrm>
            <a:off x="9189720" y="3474720"/>
            <a:ext cx="2423160" cy="1417320"/>
          </a:xfrm>
          <a:prstGeom prst="round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9189720" y="3474720"/>
            <a:ext cx="73152" cy="1417320"/>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390888" y="3639312"/>
            <a:ext cx="2057400" cy="274320"/>
          </a:xfrm>
          <a:prstGeom prst="rect">
            <a:avLst/>
          </a:prstGeom>
          <a:noFill/>
        </p:spPr>
        <p:txBody>
          <a:bodyPr wrap="square" lIns="36576" tIns="18288" rIns="36576" bIns="18288">
            <a:spAutoFit/>
          </a:bodyPr>
          <a:lstStyle/>
          <a:p>
            <a:pPr algn="l"/>
            <a:r>
              <a:rPr sz="1500" b="1">
                <a:solidFill>
                  <a:srgbClr val="0F1F38"/>
                </a:solidFill>
                <a:latin typeface="Aptos"/>
              </a:rPr>
              <a:t>Account</a:t>
            </a:r>
          </a:p>
        </p:txBody>
      </p:sp>
      <p:sp>
        <p:nvSpPr>
          <p:cNvPr id="37" name="TextBox 36"/>
          <p:cNvSpPr txBox="1"/>
          <p:nvPr/>
        </p:nvSpPr>
        <p:spPr>
          <a:xfrm>
            <a:off x="9390888" y="4041648"/>
            <a:ext cx="2057400" cy="722376"/>
          </a:xfrm>
          <a:prstGeom prst="rect">
            <a:avLst/>
          </a:prstGeom>
          <a:noFill/>
        </p:spPr>
        <p:txBody>
          <a:bodyPr wrap="square" lIns="36576" tIns="18288" rIns="36576" bIns="18288">
            <a:spAutoFit/>
          </a:bodyPr>
          <a:lstStyle/>
          <a:p>
            <a:pPr algn="l"/>
            <a:r>
              <a:rPr sz="1200" b="0">
                <a:solidFill>
                  <a:srgbClr val="202B38"/>
                </a:solidFill>
                <a:latin typeface="Aptos"/>
              </a:rPr>
              <a:t>Clerk auth, profile sync, settings, theme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47472"/>
            <a:ext cx="4114800" cy="228600"/>
          </a:xfrm>
          <a:prstGeom prst="rect">
            <a:avLst/>
          </a:prstGeom>
          <a:noFill/>
        </p:spPr>
        <p:txBody>
          <a:bodyPr wrap="square" lIns="36576" tIns="18288" rIns="36576" bIns="18288">
            <a:spAutoFit/>
          </a:bodyPr>
          <a:lstStyle/>
          <a:p>
            <a:pPr algn="l"/>
            <a:r>
              <a:rPr sz="900" b="1">
                <a:solidFill>
                  <a:srgbClr val="009196"/>
                </a:solidFill>
                <a:latin typeface="Aptos"/>
              </a:rPr>
              <a:t>PROJECT DEFENSE</a:t>
            </a:r>
          </a:p>
        </p:txBody>
      </p:sp>
      <p:sp>
        <p:nvSpPr>
          <p:cNvPr id="4" name="TextBox 3"/>
          <p:cNvSpPr txBox="1"/>
          <p:nvPr/>
        </p:nvSpPr>
        <p:spPr>
          <a:xfrm>
            <a:off x="502920" y="658368"/>
            <a:ext cx="10881360" cy="502920"/>
          </a:xfrm>
          <a:prstGeom prst="rect">
            <a:avLst/>
          </a:prstGeom>
          <a:noFill/>
        </p:spPr>
        <p:txBody>
          <a:bodyPr wrap="square" lIns="36576" tIns="18288" rIns="36576" bIns="18288">
            <a:spAutoFit/>
          </a:bodyPr>
          <a:lstStyle/>
          <a:p>
            <a:pPr algn="l"/>
            <a:r>
              <a:rPr sz="2700" b="1">
                <a:solidFill>
                  <a:srgbClr val="0F1F38"/>
                </a:solidFill>
                <a:latin typeface="Aptos"/>
              </a:rPr>
              <a:t>Database Design</a:t>
            </a:r>
          </a:p>
        </p:txBody>
      </p:sp>
      <p:sp>
        <p:nvSpPr>
          <p:cNvPr id="5" name="TextBox 4"/>
          <p:cNvSpPr txBox="1"/>
          <p:nvPr/>
        </p:nvSpPr>
        <p:spPr>
          <a:xfrm>
            <a:off x="11201400" y="6473952"/>
            <a:ext cx="457200" cy="182880"/>
          </a:xfrm>
          <a:prstGeom prst="rect">
            <a:avLst/>
          </a:prstGeom>
          <a:noFill/>
        </p:spPr>
        <p:txBody>
          <a:bodyPr wrap="square" lIns="36576" tIns="18288" rIns="36576" bIns="18288">
            <a:spAutoFit/>
          </a:bodyPr>
          <a:lstStyle/>
          <a:p>
            <a:pPr algn="r"/>
            <a:r>
              <a:rPr sz="900" b="1">
                <a:solidFill>
                  <a:srgbClr val="5D6C7D"/>
                </a:solidFill>
                <a:latin typeface="Aptos"/>
              </a:rPr>
              <a:t>13</a:t>
            </a:r>
          </a:p>
        </p:txBody>
      </p:sp>
      <p:sp>
        <p:nvSpPr>
          <p:cNvPr id="6" name="Rounded Rectangle 5"/>
          <p:cNvSpPr/>
          <p:nvPr/>
        </p:nvSpPr>
        <p:spPr>
          <a:xfrm>
            <a:off x="685800" y="2286000"/>
            <a:ext cx="1417320" cy="685800"/>
          </a:xfrm>
          <a:prstGeom prst="roundRect">
            <a:avLst/>
          </a:prstGeom>
          <a:solidFill>
            <a:srgbClr val="FFF6DC"/>
          </a:solidFill>
          <a:ln w="8890">
            <a:solidFill>
              <a:srgbClr val="EDB5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58952" y="2359152"/>
            <a:ext cx="1271016" cy="539496"/>
          </a:xfrm>
          <a:prstGeom prst="rect">
            <a:avLst/>
          </a:prstGeom>
          <a:noFill/>
        </p:spPr>
        <p:txBody>
          <a:bodyPr wrap="square" lIns="36576" tIns="18288" rIns="36576" bIns="18288">
            <a:spAutoFit/>
          </a:bodyPr>
          <a:lstStyle/>
          <a:p>
            <a:pPr algn="ctr"/>
            <a:r>
              <a:rPr sz="1300" b="1">
                <a:solidFill>
                  <a:srgbClr val="0F1F38"/>
                </a:solidFill>
                <a:latin typeface="Aptos"/>
              </a:rPr>
              <a:t>USERS</a:t>
            </a:r>
          </a:p>
        </p:txBody>
      </p:sp>
      <p:sp>
        <p:nvSpPr>
          <p:cNvPr id="8" name="Rounded Rectangle 7"/>
          <p:cNvSpPr/>
          <p:nvPr/>
        </p:nvSpPr>
        <p:spPr>
          <a:xfrm>
            <a:off x="2743200" y="1325880"/>
            <a:ext cx="1600200" cy="685800"/>
          </a:xfrm>
          <a:prstGeom prst="roundRect">
            <a:avLst/>
          </a:prstGeom>
          <a:solidFill>
            <a:srgbClr val="E1F6F5"/>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816352" y="1399032"/>
            <a:ext cx="1453896" cy="539496"/>
          </a:xfrm>
          <a:prstGeom prst="rect">
            <a:avLst/>
          </a:prstGeom>
          <a:noFill/>
        </p:spPr>
        <p:txBody>
          <a:bodyPr wrap="square" lIns="36576" tIns="18288" rIns="36576" bIns="18288">
            <a:spAutoFit/>
          </a:bodyPr>
          <a:lstStyle/>
          <a:p>
            <a:pPr algn="ctr"/>
            <a:r>
              <a:rPr sz="1300" b="1">
                <a:solidFill>
                  <a:srgbClr val="0F1F38"/>
                </a:solidFill>
                <a:latin typeface="Aptos"/>
              </a:rPr>
              <a:t>DOCUMENTS</a:t>
            </a:r>
          </a:p>
        </p:txBody>
      </p:sp>
      <p:sp>
        <p:nvSpPr>
          <p:cNvPr id="10" name="Rounded Rectangle 9"/>
          <p:cNvSpPr/>
          <p:nvPr/>
        </p:nvSpPr>
        <p:spPr>
          <a:xfrm>
            <a:off x="2743200" y="3246120"/>
            <a:ext cx="1600200" cy="685800"/>
          </a:xfrm>
          <a:prstGeom prst="roundRect">
            <a:avLst/>
          </a:prstGeom>
          <a:solidFill>
            <a:srgbClr val="FDEBE8"/>
          </a:solidFill>
          <a:ln w="8890">
            <a:solidFill>
              <a:srgbClr val="EB6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816352" y="3319272"/>
            <a:ext cx="1453896" cy="539496"/>
          </a:xfrm>
          <a:prstGeom prst="rect">
            <a:avLst/>
          </a:prstGeom>
          <a:noFill/>
        </p:spPr>
        <p:txBody>
          <a:bodyPr wrap="square" lIns="36576" tIns="18288" rIns="36576" bIns="18288">
            <a:spAutoFit/>
          </a:bodyPr>
          <a:lstStyle/>
          <a:p>
            <a:pPr algn="ctr"/>
            <a:r>
              <a:rPr sz="1300" b="1">
                <a:solidFill>
                  <a:srgbClr val="0F1F38"/>
                </a:solidFill>
                <a:latin typeface="Aptos"/>
              </a:rPr>
              <a:t>TOPICS</a:t>
            </a:r>
          </a:p>
        </p:txBody>
      </p:sp>
      <p:sp>
        <p:nvSpPr>
          <p:cNvPr id="12" name="Rounded Rectangle 11"/>
          <p:cNvSpPr/>
          <p:nvPr/>
        </p:nvSpPr>
        <p:spPr>
          <a:xfrm>
            <a:off x="5303520" y="914400"/>
            <a:ext cx="1600200" cy="685800"/>
          </a:xfrm>
          <a:prstGeom prst="roundRect">
            <a:avLst/>
          </a:prstGeom>
          <a:solidFill>
            <a:srgbClr val="FFFFFF"/>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376672" y="987552"/>
            <a:ext cx="1453896" cy="539496"/>
          </a:xfrm>
          <a:prstGeom prst="rect">
            <a:avLst/>
          </a:prstGeom>
          <a:noFill/>
        </p:spPr>
        <p:txBody>
          <a:bodyPr wrap="square" lIns="36576" tIns="18288" rIns="36576" bIns="18288">
            <a:spAutoFit/>
          </a:bodyPr>
          <a:lstStyle/>
          <a:p>
            <a:pPr algn="ctr"/>
            <a:r>
              <a:rPr sz="1300" b="1">
                <a:solidFill>
                  <a:srgbClr val="0F1F38"/>
                </a:solidFill>
                <a:latin typeface="Aptos"/>
              </a:rPr>
              <a:t>SUMMARIES</a:t>
            </a:r>
          </a:p>
        </p:txBody>
      </p:sp>
      <p:sp>
        <p:nvSpPr>
          <p:cNvPr id="14" name="Rounded Rectangle 13"/>
          <p:cNvSpPr/>
          <p:nvPr/>
        </p:nvSpPr>
        <p:spPr>
          <a:xfrm>
            <a:off x="5303520" y="1828800"/>
            <a:ext cx="1600200" cy="685800"/>
          </a:xfrm>
          <a:prstGeom prst="roundRect">
            <a:avLst/>
          </a:prstGeom>
          <a:solidFill>
            <a:srgbClr val="FFFFFF"/>
          </a:solidFill>
          <a:ln w="8890">
            <a:solidFill>
              <a:srgbClr val="EB6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376672" y="1901952"/>
            <a:ext cx="1453896" cy="539496"/>
          </a:xfrm>
          <a:prstGeom prst="rect">
            <a:avLst/>
          </a:prstGeom>
          <a:noFill/>
        </p:spPr>
        <p:txBody>
          <a:bodyPr wrap="square" lIns="36576" tIns="18288" rIns="36576" bIns="18288">
            <a:spAutoFit/>
          </a:bodyPr>
          <a:lstStyle/>
          <a:p>
            <a:pPr algn="ctr"/>
            <a:r>
              <a:rPr sz="1300" b="1">
                <a:solidFill>
                  <a:srgbClr val="0F1F38"/>
                </a:solidFill>
                <a:latin typeface="Aptos"/>
              </a:rPr>
              <a:t>QUIZZES</a:t>
            </a:r>
          </a:p>
        </p:txBody>
      </p:sp>
      <p:sp>
        <p:nvSpPr>
          <p:cNvPr id="16" name="Rounded Rectangle 15"/>
          <p:cNvSpPr/>
          <p:nvPr/>
        </p:nvSpPr>
        <p:spPr>
          <a:xfrm>
            <a:off x="5303520" y="2743200"/>
            <a:ext cx="1600200" cy="685800"/>
          </a:xfrm>
          <a:prstGeom prst="roundRect">
            <a:avLst/>
          </a:prstGeom>
          <a:solidFill>
            <a:srgbClr val="FFFFFF"/>
          </a:solidFill>
          <a:ln w="8890">
            <a:solidFill>
              <a:srgbClr val="EDB5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376672" y="2816352"/>
            <a:ext cx="1453896" cy="539496"/>
          </a:xfrm>
          <a:prstGeom prst="rect">
            <a:avLst/>
          </a:prstGeom>
          <a:noFill/>
        </p:spPr>
        <p:txBody>
          <a:bodyPr wrap="square" lIns="36576" tIns="18288" rIns="36576" bIns="18288">
            <a:spAutoFit/>
          </a:bodyPr>
          <a:lstStyle/>
          <a:p>
            <a:pPr algn="ctr"/>
            <a:r>
              <a:rPr sz="1300" b="1">
                <a:solidFill>
                  <a:srgbClr val="0F1F38"/>
                </a:solidFill>
                <a:latin typeface="Aptos"/>
              </a:rPr>
              <a:t>FLASHCARDS</a:t>
            </a:r>
          </a:p>
        </p:txBody>
      </p:sp>
      <p:sp>
        <p:nvSpPr>
          <p:cNvPr id="18" name="Rounded Rectangle 17"/>
          <p:cNvSpPr/>
          <p:nvPr/>
        </p:nvSpPr>
        <p:spPr>
          <a:xfrm>
            <a:off x="5303520" y="3657600"/>
            <a:ext cx="1600200" cy="685800"/>
          </a:xfrm>
          <a:prstGeom prst="roundRect">
            <a:avLst/>
          </a:prstGeom>
          <a:solidFill>
            <a:srgbClr val="FFFFFF"/>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376672" y="3730752"/>
            <a:ext cx="1453896" cy="539496"/>
          </a:xfrm>
          <a:prstGeom prst="rect">
            <a:avLst/>
          </a:prstGeom>
          <a:noFill/>
        </p:spPr>
        <p:txBody>
          <a:bodyPr wrap="square" lIns="36576" tIns="18288" rIns="36576" bIns="18288">
            <a:spAutoFit/>
          </a:bodyPr>
          <a:lstStyle/>
          <a:p>
            <a:pPr algn="ctr"/>
            <a:r>
              <a:rPr sz="1300" b="1">
                <a:solidFill>
                  <a:srgbClr val="0F1F38"/>
                </a:solidFill>
                <a:latin typeface="Aptos"/>
              </a:rPr>
              <a:t>PROGRESS</a:t>
            </a:r>
          </a:p>
        </p:txBody>
      </p:sp>
      <p:sp>
        <p:nvSpPr>
          <p:cNvPr id="20" name="Rounded Rectangle 19"/>
          <p:cNvSpPr/>
          <p:nvPr/>
        </p:nvSpPr>
        <p:spPr>
          <a:xfrm>
            <a:off x="7863840" y="1371600"/>
            <a:ext cx="1737360" cy="685800"/>
          </a:xfrm>
          <a:prstGeom prst="roundRect">
            <a:avLst/>
          </a:prstGeom>
          <a:solidFill>
            <a:srgbClr val="E1F6F5"/>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936992" y="1444752"/>
            <a:ext cx="1591056" cy="539496"/>
          </a:xfrm>
          <a:prstGeom prst="rect">
            <a:avLst/>
          </a:prstGeom>
          <a:noFill/>
        </p:spPr>
        <p:txBody>
          <a:bodyPr wrap="square" lIns="36576" tIns="18288" rIns="36576" bIns="18288">
            <a:spAutoFit/>
          </a:bodyPr>
          <a:lstStyle/>
          <a:p>
            <a:pPr algn="ctr"/>
            <a:r>
              <a:rPr sz="1300" b="1">
                <a:solidFill>
                  <a:srgbClr val="0F1F38"/>
                </a:solidFill>
                <a:latin typeface="Aptos"/>
              </a:rPr>
              <a:t>QUESTIONS</a:t>
            </a:r>
          </a:p>
        </p:txBody>
      </p:sp>
      <p:sp>
        <p:nvSpPr>
          <p:cNvPr id="22" name="Rounded Rectangle 21"/>
          <p:cNvSpPr/>
          <p:nvPr/>
        </p:nvSpPr>
        <p:spPr>
          <a:xfrm>
            <a:off x="7863840" y="2423160"/>
            <a:ext cx="1737360" cy="685800"/>
          </a:xfrm>
          <a:prstGeom prst="roundRect">
            <a:avLst/>
          </a:prstGeom>
          <a:solidFill>
            <a:srgbClr val="FDEBE8"/>
          </a:solidFill>
          <a:ln w="8890">
            <a:solidFill>
              <a:srgbClr val="EB6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936992" y="2496312"/>
            <a:ext cx="1591056" cy="539496"/>
          </a:xfrm>
          <a:prstGeom prst="rect">
            <a:avLst/>
          </a:prstGeom>
          <a:noFill/>
        </p:spPr>
        <p:txBody>
          <a:bodyPr wrap="square" lIns="36576" tIns="18288" rIns="36576" bIns="18288">
            <a:spAutoFit/>
          </a:bodyPr>
          <a:lstStyle/>
          <a:p>
            <a:pPr algn="ctr"/>
            <a:r>
              <a:rPr sz="1300" b="1">
                <a:solidFill>
                  <a:srgbClr val="0F1F38"/>
                </a:solidFill>
                <a:latin typeface="Aptos"/>
              </a:rPr>
              <a:t>ATTEMPTS</a:t>
            </a:r>
          </a:p>
        </p:txBody>
      </p:sp>
      <p:sp>
        <p:nvSpPr>
          <p:cNvPr id="24" name="Rounded Rectangle 23"/>
          <p:cNvSpPr/>
          <p:nvPr/>
        </p:nvSpPr>
        <p:spPr>
          <a:xfrm>
            <a:off x="7863840" y="3474720"/>
            <a:ext cx="1737360" cy="685800"/>
          </a:xfrm>
          <a:prstGeom prst="roundRect">
            <a:avLst/>
          </a:prstGeom>
          <a:solidFill>
            <a:srgbClr val="FFF6DC"/>
          </a:solidFill>
          <a:ln w="8890">
            <a:solidFill>
              <a:srgbClr val="EDB5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936992" y="3547872"/>
            <a:ext cx="1591056" cy="539496"/>
          </a:xfrm>
          <a:prstGeom prst="rect">
            <a:avLst/>
          </a:prstGeom>
          <a:noFill/>
        </p:spPr>
        <p:txBody>
          <a:bodyPr wrap="square" lIns="36576" tIns="18288" rIns="36576" bIns="18288">
            <a:spAutoFit/>
          </a:bodyPr>
          <a:lstStyle/>
          <a:p>
            <a:pPr algn="ctr"/>
            <a:r>
              <a:rPr sz="1300" b="1">
                <a:solidFill>
                  <a:srgbClr val="0F1F38"/>
                </a:solidFill>
                <a:latin typeface="Aptos"/>
              </a:rPr>
              <a:t>ANSWERS</a:t>
            </a:r>
          </a:p>
        </p:txBody>
      </p:sp>
      <p:sp>
        <p:nvSpPr>
          <p:cNvPr id="26" name="Rounded Rectangle 25"/>
          <p:cNvSpPr/>
          <p:nvPr/>
        </p:nvSpPr>
        <p:spPr>
          <a:xfrm>
            <a:off x="10058400" y="2423160"/>
            <a:ext cx="1600200" cy="685800"/>
          </a:xfrm>
          <a:prstGeom prst="roundRect">
            <a:avLst/>
          </a:prstGeom>
          <a:solidFill>
            <a:srgbClr val="FFFFFF"/>
          </a:solidFill>
          <a:ln w="8890">
            <a:solidFill>
              <a:srgbClr val="EB6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131552" y="2496312"/>
            <a:ext cx="1453896" cy="539496"/>
          </a:xfrm>
          <a:prstGeom prst="rect">
            <a:avLst/>
          </a:prstGeom>
          <a:noFill/>
        </p:spPr>
        <p:txBody>
          <a:bodyPr wrap="square" lIns="36576" tIns="18288" rIns="36576" bIns="18288">
            <a:spAutoFit/>
          </a:bodyPr>
          <a:lstStyle/>
          <a:p>
            <a:pPr algn="ctr"/>
            <a:r>
              <a:rPr sz="1300" b="1">
                <a:solidFill>
                  <a:srgbClr val="0F1F38"/>
                </a:solidFill>
                <a:latin typeface="Aptos"/>
              </a:rPr>
              <a:t>SESSIONS</a:t>
            </a:r>
          </a:p>
        </p:txBody>
      </p:sp>
      <p:cxnSp>
        <p:nvCxnSpPr>
          <p:cNvPr id="28" name="Connector 27"/>
          <p:cNvCxnSpPr/>
          <p:nvPr/>
        </p:nvCxnSpPr>
        <p:spPr>
          <a:xfrm flipV="1">
            <a:off x="2103120" y="1664208"/>
            <a:ext cx="594360" cy="941832"/>
          </a:xfrm>
          <a:prstGeom prst="line">
            <a:avLst/>
          </a:prstGeom>
          <a:ln w="22860">
            <a:solidFill>
              <a:srgbClr val="00919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103120" y="2606040"/>
            <a:ext cx="594360" cy="978408"/>
          </a:xfrm>
          <a:prstGeom prst="line">
            <a:avLst/>
          </a:prstGeom>
          <a:ln w="22860">
            <a:solidFill>
              <a:srgbClr val="00919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4389120" y="1261872"/>
            <a:ext cx="868680" cy="402336"/>
          </a:xfrm>
          <a:prstGeom prst="line">
            <a:avLst/>
          </a:prstGeom>
          <a:ln w="22860">
            <a:solidFill>
              <a:srgbClr val="00919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389120" y="1664208"/>
            <a:ext cx="868680" cy="512064"/>
          </a:xfrm>
          <a:prstGeom prst="line">
            <a:avLst/>
          </a:prstGeom>
          <a:ln w="22860">
            <a:solidFill>
              <a:srgbClr val="00919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4389120" y="3090672"/>
            <a:ext cx="868680" cy="493776"/>
          </a:xfrm>
          <a:prstGeom prst="line">
            <a:avLst/>
          </a:prstGeom>
          <a:ln w="22860">
            <a:solidFill>
              <a:srgbClr val="00919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389120" y="3584448"/>
            <a:ext cx="868680" cy="420624"/>
          </a:xfrm>
          <a:prstGeom prst="line">
            <a:avLst/>
          </a:prstGeom>
          <a:ln w="22860">
            <a:solidFill>
              <a:srgbClr val="00919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6949440" y="1719072"/>
            <a:ext cx="868680" cy="457200"/>
          </a:xfrm>
          <a:prstGeom prst="line">
            <a:avLst/>
          </a:prstGeom>
          <a:ln w="22860">
            <a:solidFill>
              <a:srgbClr val="00919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949440" y="2176272"/>
            <a:ext cx="868680" cy="594360"/>
          </a:xfrm>
          <a:prstGeom prst="line">
            <a:avLst/>
          </a:prstGeom>
          <a:ln w="22860">
            <a:solidFill>
              <a:srgbClr val="00919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646920" y="2770632"/>
            <a:ext cx="365760" cy="0"/>
          </a:xfrm>
          <a:prstGeom prst="line">
            <a:avLst/>
          </a:prstGeom>
          <a:ln w="22860">
            <a:solidFill>
              <a:srgbClr val="00919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47472"/>
            <a:ext cx="4114800" cy="228600"/>
          </a:xfrm>
          <a:prstGeom prst="rect">
            <a:avLst/>
          </a:prstGeom>
          <a:noFill/>
        </p:spPr>
        <p:txBody>
          <a:bodyPr wrap="square" lIns="36576" tIns="18288" rIns="36576" bIns="18288">
            <a:spAutoFit/>
          </a:bodyPr>
          <a:lstStyle/>
          <a:p>
            <a:pPr algn="l"/>
            <a:r>
              <a:rPr sz="900" b="1">
                <a:solidFill>
                  <a:srgbClr val="009196"/>
                </a:solidFill>
                <a:latin typeface="Aptos"/>
              </a:rPr>
              <a:t>PROJECT DEFENSE</a:t>
            </a:r>
          </a:p>
        </p:txBody>
      </p:sp>
      <p:sp>
        <p:nvSpPr>
          <p:cNvPr id="4" name="TextBox 3"/>
          <p:cNvSpPr txBox="1"/>
          <p:nvPr/>
        </p:nvSpPr>
        <p:spPr>
          <a:xfrm>
            <a:off x="502920" y="658368"/>
            <a:ext cx="10881360" cy="502920"/>
          </a:xfrm>
          <a:prstGeom prst="rect">
            <a:avLst/>
          </a:prstGeom>
          <a:noFill/>
        </p:spPr>
        <p:txBody>
          <a:bodyPr wrap="square" lIns="36576" tIns="18288" rIns="36576" bIns="18288">
            <a:spAutoFit/>
          </a:bodyPr>
          <a:lstStyle/>
          <a:p>
            <a:pPr algn="l"/>
            <a:r>
              <a:rPr sz="2700" b="1">
                <a:solidFill>
                  <a:srgbClr val="0F1F38"/>
                </a:solidFill>
                <a:latin typeface="Aptos"/>
              </a:rPr>
              <a:t>Detailed Implementation</a:t>
            </a:r>
          </a:p>
        </p:txBody>
      </p:sp>
      <p:sp>
        <p:nvSpPr>
          <p:cNvPr id="5" name="TextBox 4"/>
          <p:cNvSpPr txBox="1"/>
          <p:nvPr/>
        </p:nvSpPr>
        <p:spPr>
          <a:xfrm>
            <a:off x="11201400" y="6473952"/>
            <a:ext cx="457200" cy="182880"/>
          </a:xfrm>
          <a:prstGeom prst="rect">
            <a:avLst/>
          </a:prstGeom>
          <a:noFill/>
        </p:spPr>
        <p:txBody>
          <a:bodyPr wrap="square" lIns="36576" tIns="18288" rIns="36576" bIns="18288">
            <a:spAutoFit/>
          </a:bodyPr>
          <a:lstStyle/>
          <a:p>
            <a:pPr algn="r"/>
            <a:r>
              <a:rPr sz="900" b="1">
                <a:solidFill>
                  <a:srgbClr val="5D6C7D"/>
                </a:solidFill>
                <a:latin typeface="Aptos"/>
              </a:rPr>
              <a:t>14</a:t>
            </a:r>
          </a:p>
        </p:txBody>
      </p:sp>
      <p:sp>
        <p:nvSpPr>
          <p:cNvPr id="6" name="Rounded Rectangle 5"/>
          <p:cNvSpPr/>
          <p:nvPr/>
        </p:nvSpPr>
        <p:spPr>
          <a:xfrm>
            <a:off x="685800" y="1325880"/>
            <a:ext cx="3474720" cy="4114800"/>
          </a:xfrm>
          <a:prstGeom prst="roundRect">
            <a:avLst/>
          </a:prstGeom>
          <a:solidFill>
            <a:srgbClr val="FFF6DC"/>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325880"/>
            <a:ext cx="73152" cy="4114800"/>
          </a:xfrm>
          <a:prstGeom prst="rect">
            <a:avLst/>
          </a:prstGeom>
          <a:solidFill>
            <a:srgbClr val="EDB547"/>
          </a:solidFill>
          <a:ln w="8890">
            <a:solidFill>
              <a:srgbClr val="EDB5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490472"/>
            <a:ext cx="3108960" cy="274320"/>
          </a:xfrm>
          <a:prstGeom prst="rect">
            <a:avLst/>
          </a:prstGeom>
          <a:noFill/>
        </p:spPr>
        <p:txBody>
          <a:bodyPr wrap="square" lIns="36576" tIns="18288" rIns="36576" bIns="18288">
            <a:spAutoFit/>
          </a:bodyPr>
          <a:lstStyle/>
          <a:p>
            <a:pPr algn="l"/>
            <a:r>
              <a:rPr sz="1500" b="1">
                <a:solidFill>
                  <a:srgbClr val="0F1F38"/>
                </a:solidFill>
                <a:latin typeface="Aptos"/>
              </a:rPr>
              <a:t>Document pipeline</a:t>
            </a:r>
          </a:p>
        </p:txBody>
      </p:sp>
      <p:sp>
        <p:nvSpPr>
          <p:cNvPr id="9" name="TextBox 8"/>
          <p:cNvSpPr txBox="1"/>
          <p:nvPr/>
        </p:nvSpPr>
        <p:spPr>
          <a:xfrm>
            <a:off x="886968" y="1892807"/>
            <a:ext cx="3108960" cy="3419856"/>
          </a:xfrm>
          <a:prstGeom prst="rect">
            <a:avLst/>
          </a:prstGeom>
          <a:noFill/>
        </p:spPr>
        <p:txBody>
          <a:bodyPr wrap="square" lIns="36576" tIns="18288" rIns="36576" bIns="18288">
            <a:spAutoFit/>
          </a:bodyPr>
          <a:lstStyle/>
          <a:p>
            <a:pPr algn="l"/>
            <a:r>
              <a:rPr sz="1500" b="0">
                <a:solidFill>
                  <a:srgbClr val="202B38"/>
                </a:solidFill>
                <a:latin typeface="Aptos"/>
              </a:rPr>
              <a:t>1. Validate MIME type and size
2. Sanitize original filename
3. Store with UUID-based path
4. Create uploaded DB record
5. Run extraction in BackgroundTasks
6. Mark ready or failed</a:t>
            </a:r>
          </a:p>
        </p:txBody>
      </p:sp>
      <p:sp>
        <p:nvSpPr>
          <p:cNvPr id="10" name="Rounded Rectangle 9"/>
          <p:cNvSpPr/>
          <p:nvPr/>
        </p:nvSpPr>
        <p:spPr>
          <a:xfrm>
            <a:off x="4389120" y="1325880"/>
            <a:ext cx="3474720" cy="4114800"/>
          </a:xfrm>
          <a:prstGeom prst="roundRect">
            <a:avLst/>
          </a:prstGeom>
          <a:solidFill>
            <a:srgbClr val="E1F6F5"/>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325880"/>
            <a:ext cx="73152" cy="4114800"/>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90288" y="1490472"/>
            <a:ext cx="3108960" cy="274320"/>
          </a:xfrm>
          <a:prstGeom prst="rect">
            <a:avLst/>
          </a:prstGeom>
          <a:noFill/>
        </p:spPr>
        <p:txBody>
          <a:bodyPr wrap="square" lIns="36576" tIns="18288" rIns="36576" bIns="18288">
            <a:spAutoFit/>
          </a:bodyPr>
          <a:lstStyle/>
          <a:p>
            <a:pPr algn="l"/>
            <a:r>
              <a:rPr sz="1500" b="1">
                <a:solidFill>
                  <a:srgbClr val="0F1F38"/>
                </a:solidFill>
                <a:latin typeface="Aptos"/>
              </a:rPr>
              <a:t>Learning logic</a:t>
            </a:r>
          </a:p>
        </p:txBody>
      </p:sp>
      <p:sp>
        <p:nvSpPr>
          <p:cNvPr id="13" name="TextBox 12"/>
          <p:cNvSpPr txBox="1"/>
          <p:nvPr/>
        </p:nvSpPr>
        <p:spPr>
          <a:xfrm>
            <a:off x="4590288" y="1892807"/>
            <a:ext cx="3108960" cy="3419856"/>
          </a:xfrm>
          <a:prstGeom prst="rect">
            <a:avLst/>
          </a:prstGeom>
          <a:noFill/>
        </p:spPr>
        <p:txBody>
          <a:bodyPr wrap="square" lIns="36576" tIns="18288" rIns="36576" bIns="18288">
            <a:spAutoFit/>
          </a:bodyPr>
          <a:lstStyle/>
          <a:p>
            <a:pPr algn="l"/>
            <a:r>
              <a:rPr sz="1500" b="0">
                <a:solidFill>
                  <a:srgbClr val="202B38"/>
                </a:solidFill>
                <a:latin typeface="Aptos"/>
              </a:rPr>
              <a:t>Quiz score = correct / total * 100
Mastery update:
new = 0.7 * old + 0.3 * quiz score
Flashcard quality 0-5 changes repetitions, ease factor, interval, and next_review_at.</a:t>
            </a:r>
          </a:p>
        </p:txBody>
      </p:sp>
      <p:sp>
        <p:nvSpPr>
          <p:cNvPr id="14" name="Rounded Rectangle 13"/>
          <p:cNvSpPr/>
          <p:nvPr/>
        </p:nvSpPr>
        <p:spPr>
          <a:xfrm>
            <a:off x="8092440" y="1325880"/>
            <a:ext cx="3474720" cy="4114800"/>
          </a:xfrm>
          <a:prstGeom prst="roundRect">
            <a:avLst/>
          </a:prstGeom>
          <a:solidFill>
            <a:srgbClr val="FDEBE8"/>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92440" y="1325880"/>
            <a:ext cx="73152" cy="4114800"/>
          </a:xfrm>
          <a:prstGeom prst="rect">
            <a:avLst/>
          </a:prstGeom>
          <a:solidFill>
            <a:srgbClr val="EB695B"/>
          </a:solidFill>
          <a:ln w="8890">
            <a:solidFill>
              <a:srgbClr val="EB6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93608" y="1490472"/>
            <a:ext cx="3108960" cy="274320"/>
          </a:xfrm>
          <a:prstGeom prst="rect">
            <a:avLst/>
          </a:prstGeom>
          <a:noFill/>
        </p:spPr>
        <p:txBody>
          <a:bodyPr wrap="square" lIns="36576" tIns="18288" rIns="36576" bIns="18288">
            <a:spAutoFit/>
          </a:bodyPr>
          <a:lstStyle/>
          <a:p>
            <a:pPr algn="l"/>
            <a:r>
              <a:rPr sz="1500" b="1">
                <a:solidFill>
                  <a:srgbClr val="0F1F38"/>
                </a:solidFill>
                <a:latin typeface="Aptos"/>
              </a:rPr>
              <a:t>AI interaction</a:t>
            </a:r>
          </a:p>
        </p:txBody>
      </p:sp>
      <p:sp>
        <p:nvSpPr>
          <p:cNvPr id="17" name="TextBox 16"/>
          <p:cNvSpPr txBox="1"/>
          <p:nvPr/>
        </p:nvSpPr>
        <p:spPr>
          <a:xfrm>
            <a:off x="8293608" y="1892807"/>
            <a:ext cx="3108960" cy="3419856"/>
          </a:xfrm>
          <a:prstGeom prst="rect">
            <a:avLst/>
          </a:prstGeom>
          <a:noFill/>
        </p:spPr>
        <p:txBody>
          <a:bodyPr wrap="square" lIns="36576" tIns="18288" rIns="36576" bIns="18288">
            <a:spAutoFit/>
          </a:bodyPr>
          <a:lstStyle/>
          <a:p>
            <a:pPr algn="l"/>
            <a:r>
              <a:rPr sz="1500" b="0">
                <a:solidFill>
                  <a:srgbClr val="202B38"/>
                </a:solidFill>
                <a:latin typeface="Aptos"/>
              </a:rPr>
              <a:t>Prompts are stored as text files. Extracted text is truncated before LLM calls. Tutor responses stream as text/event-stream; summaries and quizzes are persisted after generation.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47472"/>
            <a:ext cx="4114800" cy="228600"/>
          </a:xfrm>
          <a:prstGeom prst="rect">
            <a:avLst/>
          </a:prstGeom>
          <a:noFill/>
        </p:spPr>
        <p:txBody>
          <a:bodyPr wrap="square" lIns="36576" tIns="18288" rIns="36576" bIns="18288">
            <a:spAutoFit/>
          </a:bodyPr>
          <a:lstStyle/>
          <a:p>
            <a:pPr algn="l"/>
            <a:r>
              <a:rPr sz="900" b="1">
                <a:solidFill>
                  <a:srgbClr val="009196"/>
                </a:solidFill>
                <a:latin typeface="Aptos"/>
              </a:rPr>
              <a:t>PROJECT DEFENSE</a:t>
            </a:r>
          </a:p>
        </p:txBody>
      </p:sp>
      <p:sp>
        <p:nvSpPr>
          <p:cNvPr id="4" name="TextBox 3"/>
          <p:cNvSpPr txBox="1"/>
          <p:nvPr/>
        </p:nvSpPr>
        <p:spPr>
          <a:xfrm>
            <a:off x="502920" y="658368"/>
            <a:ext cx="10881360" cy="502920"/>
          </a:xfrm>
          <a:prstGeom prst="rect">
            <a:avLst/>
          </a:prstGeom>
          <a:noFill/>
        </p:spPr>
        <p:txBody>
          <a:bodyPr wrap="square" lIns="36576" tIns="18288" rIns="36576" bIns="18288">
            <a:spAutoFit/>
          </a:bodyPr>
          <a:lstStyle/>
          <a:p>
            <a:pPr algn="l"/>
            <a:r>
              <a:rPr sz="2700" b="1">
                <a:solidFill>
                  <a:srgbClr val="0F1F38"/>
                </a:solidFill>
                <a:latin typeface="Aptos"/>
              </a:rPr>
              <a:t>User Interface Evidence</a:t>
            </a:r>
          </a:p>
        </p:txBody>
      </p:sp>
      <p:sp>
        <p:nvSpPr>
          <p:cNvPr id="5" name="TextBox 4"/>
          <p:cNvSpPr txBox="1"/>
          <p:nvPr/>
        </p:nvSpPr>
        <p:spPr>
          <a:xfrm>
            <a:off x="11201400" y="6473952"/>
            <a:ext cx="457200" cy="182880"/>
          </a:xfrm>
          <a:prstGeom prst="rect">
            <a:avLst/>
          </a:prstGeom>
          <a:noFill/>
        </p:spPr>
        <p:txBody>
          <a:bodyPr wrap="square" lIns="36576" tIns="18288" rIns="36576" bIns="18288">
            <a:spAutoFit/>
          </a:bodyPr>
          <a:lstStyle/>
          <a:p>
            <a:pPr algn="r"/>
            <a:r>
              <a:rPr sz="900" b="1">
                <a:solidFill>
                  <a:srgbClr val="5D6C7D"/>
                </a:solidFill>
                <a:latin typeface="Aptos"/>
              </a:rPr>
              <a:t>15</a:t>
            </a:r>
          </a:p>
        </p:txBody>
      </p:sp>
      <p:sp>
        <p:nvSpPr>
          <p:cNvPr id="6" name="TextBox 5"/>
          <p:cNvSpPr txBox="1"/>
          <p:nvPr/>
        </p:nvSpPr>
        <p:spPr>
          <a:xfrm>
            <a:off x="685800" y="1280160"/>
            <a:ext cx="10332720" cy="365760"/>
          </a:xfrm>
          <a:prstGeom prst="rect">
            <a:avLst/>
          </a:prstGeom>
          <a:noFill/>
        </p:spPr>
        <p:txBody>
          <a:bodyPr wrap="square" lIns="36576" tIns="18288" rIns="36576" bIns="18288">
            <a:spAutoFit/>
          </a:bodyPr>
          <a:lstStyle/>
          <a:p>
            <a:pPr algn="l"/>
            <a:r>
              <a:rPr sz="2000" b="1">
                <a:solidFill>
                  <a:srgbClr val="0F1F38"/>
                </a:solidFill>
                <a:latin typeface="Aptos"/>
              </a:rPr>
              <a:t>The repository contains functional HTML screens, but no captured screenshots were supplied.</a:t>
            </a:r>
          </a:p>
        </p:txBody>
      </p:sp>
      <p:sp>
        <p:nvSpPr>
          <p:cNvPr id="7" name="Rounded Rectangle 6"/>
          <p:cNvSpPr/>
          <p:nvPr/>
        </p:nvSpPr>
        <p:spPr>
          <a:xfrm>
            <a:off x="731520" y="2011680"/>
            <a:ext cx="3246120" cy="1005840"/>
          </a:xfrm>
          <a:prstGeom prst="round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77824" y="2176272"/>
            <a:ext cx="530352" cy="640080"/>
          </a:xfrm>
          <a:prstGeom prst="roundRect">
            <a:avLst/>
          </a:prstGeom>
          <a:solidFill>
            <a:srgbClr val="EB695B"/>
          </a:solidFill>
          <a:ln w="8890">
            <a:solidFill>
              <a:srgbClr val="EB6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9264" y="2368296"/>
            <a:ext cx="347472" cy="182880"/>
          </a:xfrm>
          <a:prstGeom prst="rect">
            <a:avLst/>
          </a:prstGeom>
          <a:noFill/>
        </p:spPr>
        <p:txBody>
          <a:bodyPr wrap="square" lIns="36576" tIns="18288" rIns="36576" bIns="18288">
            <a:spAutoFit/>
          </a:bodyPr>
          <a:lstStyle/>
          <a:p>
            <a:pPr algn="ctr"/>
            <a:r>
              <a:rPr sz="1100" b="1">
                <a:solidFill>
                  <a:srgbClr val="FFFFFF"/>
                </a:solidFill>
                <a:latin typeface="Aptos"/>
              </a:rPr>
              <a:t>UI</a:t>
            </a:r>
          </a:p>
        </p:txBody>
      </p:sp>
      <p:sp>
        <p:nvSpPr>
          <p:cNvPr id="10" name="TextBox 9"/>
          <p:cNvSpPr txBox="1"/>
          <p:nvPr/>
        </p:nvSpPr>
        <p:spPr>
          <a:xfrm>
            <a:off x="1600200" y="2176272"/>
            <a:ext cx="2057400" cy="228600"/>
          </a:xfrm>
          <a:prstGeom prst="rect">
            <a:avLst/>
          </a:prstGeom>
          <a:noFill/>
        </p:spPr>
        <p:txBody>
          <a:bodyPr wrap="square" lIns="36576" tIns="18288" rIns="36576" bIns="18288">
            <a:spAutoFit/>
          </a:bodyPr>
          <a:lstStyle/>
          <a:p>
            <a:pPr algn="l"/>
            <a:r>
              <a:rPr sz="1500" b="1">
                <a:solidFill>
                  <a:srgbClr val="0F1F38"/>
                </a:solidFill>
                <a:latin typeface="Aptos"/>
              </a:rPr>
              <a:t>Sign in</a:t>
            </a:r>
          </a:p>
        </p:txBody>
      </p:sp>
      <p:sp>
        <p:nvSpPr>
          <p:cNvPr id="11" name="TextBox 10"/>
          <p:cNvSpPr txBox="1"/>
          <p:nvPr/>
        </p:nvSpPr>
        <p:spPr>
          <a:xfrm>
            <a:off x="1600200" y="2514600"/>
            <a:ext cx="2148840" cy="228600"/>
          </a:xfrm>
          <a:prstGeom prst="rect">
            <a:avLst/>
          </a:prstGeom>
          <a:noFill/>
        </p:spPr>
        <p:txBody>
          <a:bodyPr wrap="square" lIns="36576" tIns="18288" rIns="36576" bIns="18288">
            <a:spAutoFit/>
          </a:bodyPr>
          <a:lstStyle/>
          <a:p>
            <a:pPr algn="l"/>
            <a:r>
              <a:rPr sz="1200" b="0">
                <a:solidFill>
                  <a:srgbClr val="5D6C7D"/>
                </a:solidFill>
                <a:latin typeface="Aptos"/>
              </a:rPr>
              <a:t>Clerk sign-in mount</a:t>
            </a:r>
          </a:p>
        </p:txBody>
      </p:sp>
      <p:sp>
        <p:nvSpPr>
          <p:cNvPr id="12" name="Rounded Rectangle 11"/>
          <p:cNvSpPr/>
          <p:nvPr/>
        </p:nvSpPr>
        <p:spPr>
          <a:xfrm>
            <a:off x="4480559" y="2011680"/>
            <a:ext cx="3246120" cy="1005840"/>
          </a:xfrm>
          <a:prstGeom prst="round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626864" y="2176272"/>
            <a:ext cx="530352" cy="640080"/>
          </a:xfrm>
          <a:prstGeom prst="roundRect">
            <a:avLst/>
          </a:prstGeom>
          <a:solidFill>
            <a:srgbClr val="EDB547"/>
          </a:solidFill>
          <a:ln w="8890">
            <a:solidFill>
              <a:srgbClr val="EDB5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18303" y="2368296"/>
            <a:ext cx="347472" cy="182880"/>
          </a:xfrm>
          <a:prstGeom prst="rect">
            <a:avLst/>
          </a:prstGeom>
          <a:noFill/>
        </p:spPr>
        <p:txBody>
          <a:bodyPr wrap="square" lIns="36576" tIns="18288" rIns="36576" bIns="18288">
            <a:spAutoFit/>
          </a:bodyPr>
          <a:lstStyle/>
          <a:p>
            <a:pPr algn="ctr"/>
            <a:r>
              <a:rPr sz="1100" b="1">
                <a:solidFill>
                  <a:srgbClr val="FFFFFF"/>
                </a:solidFill>
                <a:latin typeface="Aptos"/>
              </a:rPr>
              <a:t>UI</a:t>
            </a:r>
          </a:p>
        </p:txBody>
      </p:sp>
      <p:sp>
        <p:nvSpPr>
          <p:cNvPr id="15" name="TextBox 14"/>
          <p:cNvSpPr txBox="1"/>
          <p:nvPr/>
        </p:nvSpPr>
        <p:spPr>
          <a:xfrm>
            <a:off x="5349240" y="2176272"/>
            <a:ext cx="2057400" cy="228600"/>
          </a:xfrm>
          <a:prstGeom prst="rect">
            <a:avLst/>
          </a:prstGeom>
          <a:noFill/>
        </p:spPr>
        <p:txBody>
          <a:bodyPr wrap="square" lIns="36576" tIns="18288" rIns="36576" bIns="18288">
            <a:spAutoFit/>
          </a:bodyPr>
          <a:lstStyle/>
          <a:p>
            <a:pPr algn="l"/>
            <a:r>
              <a:rPr sz="1500" b="1">
                <a:solidFill>
                  <a:srgbClr val="0F1F38"/>
                </a:solidFill>
                <a:latin typeface="Aptos"/>
              </a:rPr>
              <a:t>Documents</a:t>
            </a:r>
          </a:p>
        </p:txBody>
      </p:sp>
      <p:sp>
        <p:nvSpPr>
          <p:cNvPr id="16" name="TextBox 15"/>
          <p:cNvSpPr txBox="1"/>
          <p:nvPr/>
        </p:nvSpPr>
        <p:spPr>
          <a:xfrm>
            <a:off x="5349240" y="2514600"/>
            <a:ext cx="2148840" cy="228600"/>
          </a:xfrm>
          <a:prstGeom prst="rect">
            <a:avLst/>
          </a:prstGeom>
          <a:noFill/>
        </p:spPr>
        <p:txBody>
          <a:bodyPr wrap="square" lIns="36576" tIns="18288" rIns="36576" bIns="18288">
            <a:spAutoFit/>
          </a:bodyPr>
          <a:lstStyle/>
          <a:p>
            <a:pPr algn="l"/>
            <a:r>
              <a:rPr sz="1200" b="0">
                <a:solidFill>
                  <a:srgbClr val="5D6C7D"/>
                </a:solidFill>
                <a:latin typeface="Aptos"/>
              </a:rPr>
              <a:t>Upload and processing status</a:t>
            </a:r>
          </a:p>
        </p:txBody>
      </p:sp>
      <p:sp>
        <p:nvSpPr>
          <p:cNvPr id="17" name="Rounded Rectangle 16"/>
          <p:cNvSpPr/>
          <p:nvPr/>
        </p:nvSpPr>
        <p:spPr>
          <a:xfrm>
            <a:off x="8229600" y="2011680"/>
            <a:ext cx="3246120" cy="1005840"/>
          </a:xfrm>
          <a:prstGeom prst="round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375904" y="2176272"/>
            <a:ext cx="530352" cy="640080"/>
          </a:xfrm>
          <a:prstGeom prst="round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67344" y="2368296"/>
            <a:ext cx="347472" cy="182880"/>
          </a:xfrm>
          <a:prstGeom prst="rect">
            <a:avLst/>
          </a:prstGeom>
          <a:noFill/>
        </p:spPr>
        <p:txBody>
          <a:bodyPr wrap="square" lIns="36576" tIns="18288" rIns="36576" bIns="18288">
            <a:spAutoFit/>
          </a:bodyPr>
          <a:lstStyle/>
          <a:p>
            <a:pPr algn="ctr"/>
            <a:r>
              <a:rPr sz="1100" b="1">
                <a:solidFill>
                  <a:srgbClr val="FFFFFF"/>
                </a:solidFill>
                <a:latin typeface="Aptos"/>
              </a:rPr>
              <a:t>UI</a:t>
            </a:r>
          </a:p>
        </p:txBody>
      </p:sp>
      <p:sp>
        <p:nvSpPr>
          <p:cNvPr id="20" name="TextBox 19"/>
          <p:cNvSpPr txBox="1"/>
          <p:nvPr/>
        </p:nvSpPr>
        <p:spPr>
          <a:xfrm>
            <a:off x="9098280" y="2176272"/>
            <a:ext cx="2057400" cy="228600"/>
          </a:xfrm>
          <a:prstGeom prst="rect">
            <a:avLst/>
          </a:prstGeom>
          <a:noFill/>
        </p:spPr>
        <p:txBody>
          <a:bodyPr wrap="square" lIns="36576" tIns="18288" rIns="36576" bIns="18288">
            <a:spAutoFit/>
          </a:bodyPr>
          <a:lstStyle/>
          <a:p>
            <a:pPr algn="l"/>
            <a:r>
              <a:rPr sz="1500" b="1">
                <a:solidFill>
                  <a:srgbClr val="0F1F38"/>
                </a:solidFill>
                <a:latin typeface="Aptos"/>
              </a:rPr>
              <a:t>AI Tutor</a:t>
            </a:r>
          </a:p>
        </p:txBody>
      </p:sp>
      <p:sp>
        <p:nvSpPr>
          <p:cNvPr id="21" name="TextBox 20"/>
          <p:cNvSpPr txBox="1"/>
          <p:nvPr/>
        </p:nvSpPr>
        <p:spPr>
          <a:xfrm>
            <a:off x="9098280" y="2514600"/>
            <a:ext cx="2148840" cy="228600"/>
          </a:xfrm>
          <a:prstGeom prst="rect">
            <a:avLst/>
          </a:prstGeom>
          <a:noFill/>
        </p:spPr>
        <p:txBody>
          <a:bodyPr wrap="square" lIns="36576" tIns="18288" rIns="36576" bIns="18288">
            <a:spAutoFit/>
          </a:bodyPr>
          <a:lstStyle/>
          <a:p>
            <a:pPr algn="l"/>
            <a:r>
              <a:rPr sz="1200" b="0">
                <a:solidFill>
                  <a:srgbClr val="5D6C7D"/>
                </a:solidFill>
                <a:latin typeface="Aptos"/>
              </a:rPr>
              <a:t>Mode selector and streaming chat</a:t>
            </a:r>
          </a:p>
        </p:txBody>
      </p:sp>
      <p:sp>
        <p:nvSpPr>
          <p:cNvPr id="22" name="Rounded Rectangle 21"/>
          <p:cNvSpPr/>
          <p:nvPr/>
        </p:nvSpPr>
        <p:spPr>
          <a:xfrm>
            <a:off x="731520" y="3429000"/>
            <a:ext cx="3246120" cy="1005840"/>
          </a:xfrm>
          <a:prstGeom prst="round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877824" y="3593592"/>
            <a:ext cx="530352" cy="640080"/>
          </a:xfrm>
          <a:prstGeom prst="roundRect">
            <a:avLst/>
          </a:prstGeom>
          <a:solidFill>
            <a:srgbClr val="EB695B"/>
          </a:solidFill>
          <a:ln w="8890">
            <a:solidFill>
              <a:srgbClr val="EB6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69264" y="3785615"/>
            <a:ext cx="347472" cy="182880"/>
          </a:xfrm>
          <a:prstGeom prst="rect">
            <a:avLst/>
          </a:prstGeom>
          <a:noFill/>
        </p:spPr>
        <p:txBody>
          <a:bodyPr wrap="square" lIns="36576" tIns="18288" rIns="36576" bIns="18288">
            <a:spAutoFit/>
          </a:bodyPr>
          <a:lstStyle/>
          <a:p>
            <a:pPr algn="ctr"/>
            <a:r>
              <a:rPr sz="1100" b="1">
                <a:solidFill>
                  <a:srgbClr val="FFFFFF"/>
                </a:solidFill>
                <a:latin typeface="Aptos"/>
              </a:rPr>
              <a:t>UI</a:t>
            </a:r>
          </a:p>
        </p:txBody>
      </p:sp>
      <p:sp>
        <p:nvSpPr>
          <p:cNvPr id="25" name="TextBox 24"/>
          <p:cNvSpPr txBox="1"/>
          <p:nvPr/>
        </p:nvSpPr>
        <p:spPr>
          <a:xfrm>
            <a:off x="1600200" y="3593592"/>
            <a:ext cx="2057400" cy="228600"/>
          </a:xfrm>
          <a:prstGeom prst="rect">
            <a:avLst/>
          </a:prstGeom>
          <a:noFill/>
        </p:spPr>
        <p:txBody>
          <a:bodyPr wrap="square" lIns="36576" tIns="18288" rIns="36576" bIns="18288">
            <a:spAutoFit/>
          </a:bodyPr>
          <a:lstStyle/>
          <a:p>
            <a:pPr algn="l"/>
            <a:r>
              <a:rPr sz="1500" b="1">
                <a:solidFill>
                  <a:srgbClr val="0F1F38"/>
                </a:solidFill>
                <a:latin typeface="Aptos"/>
              </a:rPr>
              <a:t>Flashcards</a:t>
            </a:r>
          </a:p>
        </p:txBody>
      </p:sp>
      <p:sp>
        <p:nvSpPr>
          <p:cNvPr id="26" name="TextBox 25"/>
          <p:cNvSpPr txBox="1"/>
          <p:nvPr/>
        </p:nvSpPr>
        <p:spPr>
          <a:xfrm>
            <a:off x="1600200" y="3931920"/>
            <a:ext cx="2148840" cy="228600"/>
          </a:xfrm>
          <a:prstGeom prst="rect">
            <a:avLst/>
          </a:prstGeom>
          <a:noFill/>
        </p:spPr>
        <p:txBody>
          <a:bodyPr wrap="square" lIns="36576" tIns="18288" rIns="36576" bIns="18288">
            <a:spAutoFit/>
          </a:bodyPr>
          <a:lstStyle/>
          <a:p>
            <a:pPr algn="l"/>
            <a:r>
              <a:rPr sz="1200" b="0">
                <a:solidFill>
                  <a:srgbClr val="5D6C7D"/>
                </a:solidFill>
                <a:latin typeface="Aptos"/>
              </a:rPr>
              <a:t>Flip and quality rating</a:t>
            </a:r>
          </a:p>
        </p:txBody>
      </p:sp>
      <p:sp>
        <p:nvSpPr>
          <p:cNvPr id="27" name="Rounded Rectangle 26"/>
          <p:cNvSpPr/>
          <p:nvPr/>
        </p:nvSpPr>
        <p:spPr>
          <a:xfrm>
            <a:off x="4480559" y="3429000"/>
            <a:ext cx="3246120" cy="1005840"/>
          </a:xfrm>
          <a:prstGeom prst="round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4626864" y="3593592"/>
            <a:ext cx="530352" cy="640080"/>
          </a:xfrm>
          <a:prstGeom prst="roundRect">
            <a:avLst/>
          </a:prstGeom>
          <a:solidFill>
            <a:srgbClr val="EDB547"/>
          </a:solidFill>
          <a:ln w="8890">
            <a:solidFill>
              <a:srgbClr val="EDB5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718303" y="3785615"/>
            <a:ext cx="347472" cy="182880"/>
          </a:xfrm>
          <a:prstGeom prst="rect">
            <a:avLst/>
          </a:prstGeom>
          <a:noFill/>
        </p:spPr>
        <p:txBody>
          <a:bodyPr wrap="square" lIns="36576" tIns="18288" rIns="36576" bIns="18288">
            <a:spAutoFit/>
          </a:bodyPr>
          <a:lstStyle/>
          <a:p>
            <a:pPr algn="ctr"/>
            <a:r>
              <a:rPr sz="1100" b="1">
                <a:solidFill>
                  <a:srgbClr val="FFFFFF"/>
                </a:solidFill>
                <a:latin typeface="Aptos"/>
              </a:rPr>
              <a:t>UI</a:t>
            </a:r>
          </a:p>
        </p:txBody>
      </p:sp>
      <p:sp>
        <p:nvSpPr>
          <p:cNvPr id="30" name="TextBox 29"/>
          <p:cNvSpPr txBox="1"/>
          <p:nvPr/>
        </p:nvSpPr>
        <p:spPr>
          <a:xfrm>
            <a:off x="5349240" y="3593592"/>
            <a:ext cx="2057400" cy="228600"/>
          </a:xfrm>
          <a:prstGeom prst="rect">
            <a:avLst/>
          </a:prstGeom>
          <a:noFill/>
        </p:spPr>
        <p:txBody>
          <a:bodyPr wrap="square" lIns="36576" tIns="18288" rIns="36576" bIns="18288">
            <a:spAutoFit/>
          </a:bodyPr>
          <a:lstStyle/>
          <a:p>
            <a:pPr algn="l"/>
            <a:r>
              <a:rPr sz="1500" b="1">
                <a:solidFill>
                  <a:srgbClr val="0F1F38"/>
                </a:solidFill>
                <a:latin typeface="Aptos"/>
              </a:rPr>
              <a:t>Quizzes</a:t>
            </a:r>
          </a:p>
        </p:txBody>
      </p:sp>
      <p:sp>
        <p:nvSpPr>
          <p:cNvPr id="31" name="TextBox 30"/>
          <p:cNvSpPr txBox="1"/>
          <p:nvPr/>
        </p:nvSpPr>
        <p:spPr>
          <a:xfrm>
            <a:off x="5349240" y="3931920"/>
            <a:ext cx="2148840" cy="228600"/>
          </a:xfrm>
          <a:prstGeom prst="rect">
            <a:avLst/>
          </a:prstGeom>
          <a:noFill/>
        </p:spPr>
        <p:txBody>
          <a:bodyPr wrap="square" lIns="36576" tIns="18288" rIns="36576" bIns="18288">
            <a:spAutoFit/>
          </a:bodyPr>
          <a:lstStyle/>
          <a:p>
            <a:pPr algn="l"/>
            <a:r>
              <a:rPr sz="1200" b="0">
                <a:solidFill>
                  <a:srgbClr val="5D6C7D"/>
                </a:solidFill>
                <a:latin typeface="Aptos"/>
              </a:rPr>
              <a:t>Question flow and result panel</a:t>
            </a:r>
          </a:p>
        </p:txBody>
      </p:sp>
      <p:sp>
        <p:nvSpPr>
          <p:cNvPr id="32" name="Rounded Rectangle 31"/>
          <p:cNvSpPr/>
          <p:nvPr/>
        </p:nvSpPr>
        <p:spPr>
          <a:xfrm>
            <a:off x="8229600" y="3429000"/>
            <a:ext cx="3246120" cy="1005840"/>
          </a:xfrm>
          <a:prstGeom prst="round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8375904" y="3593592"/>
            <a:ext cx="530352" cy="640080"/>
          </a:xfrm>
          <a:prstGeom prst="round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467344" y="3785615"/>
            <a:ext cx="347472" cy="182880"/>
          </a:xfrm>
          <a:prstGeom prst="rect">
            <a:avLst/>
          </a:prstGeom>
          <a:noFill/>
        </p:spPr>
        <p:txBody>
          <a:bodyPr wrap="square" lIns="36576" tIns="18288" rIns="36576" bIns="18288">
            <a:spAutoFit/>
          </a:bodyPr>
          <a:lstStyle/>
          <a:p>
            <a:pPr algn="ctr"/>
            <a:r>
              <a:rPr sz="1100" b="1">
                <a:solidFill>
                  <a:srgbClr val="FFFFFF"/>
                </a:solidFill>
                <a:latin typeface="Aptos"/>
              </a:rPr>
              <a:t>UI</a:t>
            </a:r>
          </a:p>
        </p:txBody>
      </p:sp>
      <p:sp>
        <p:nvSpPr>
          <p:cNvPr id="35" name="TextBox 34"/>
          <p:cNvSpPr txBox="1"/>
          <p:nvPr/>
        </p:nvSpPr>
        <p:spPr>
          <a:xfrm>
            <a:off x="9098280" y="3593592"/>
            <a:ext cx="2057400" cy="228600"/>
          </a:xfrm>
          <a:prstGeom prst="rect">
            <a:avLst/>
          </a:prstGeom>
          <a:noFill/>
        </p:spPr>
        <p:txBody>
          <a:bodyPr wrap="square" lIns="36576" tIns="18288" rIns="36576" bIns="18288">
            <a:spAutoFit/>
          </a:bodyPr>
          <a:lstStyle/>
          <a:p>
            <a:pPr algn="l"/>
            <a:r>
              <a:rPr sz="1500" b="1">
                <a:solidFill>
                  <a:srgbClr val="0F1F38"/>
                </a:solidFill>
                <a:latin typeface="Aptos"/>
              </a:rPr>
              <a:t>Analytics</a:t>
            </a:r>
          </a:p>
        </p:txBody>
      </p:sp>
      <p:sp>
        <p:nvSpPr>
          <p:cNvPr id="36" name="TextBox 35"/>
          <p:cNvSpPr txBox="1"/>
          <p:nvPr/>
        </p:nvSpPr>
        <p:spPr>
          <a:xfrm>
            <a:off x="9098280" y="3931920"/>
            <a:ext cx="2148840" cy="228600"/>
          </a:xfrm>
          <a:prstGeom prst="rect">
            <a:avLst/>
          </a:prstGeom>
          <a:noFill/>
        </p:spPr>
        <p:txBody>
          <a:bodyPr wrap="square" lIns="36576" tIns="18288" rIns="36576" bIns="18288">
            <a:spAutoFit/>
          </a:bodyPr>
          <a:lstStyle/>
          <a:p>
            <a:pPr algn="l"/>
            <a:r>
              <a:rPr sz="1200" b="0">
                <a:solidFill>
                  <a:srgbClr val="5D6C7D"/>
                </a:solidFill>
                <a:latin typeface="Aptos"/>
              </a:rPr>
              <a:t>Stats, topics, streak, activity</a:t>
            </a:r>
          </a:p>
        </p:txBody>
      </p:sp>
      <p:sp>
        <p:nvSpPr>
          <p:cNvPr id="37" name="TextBox 36"/>
          <p:cNvSpPr txBox="1"/>
          <p:nvPr/>
        </p:nvSpPr>
        <p:spPr>
          <a:xfrm>
            <a:off x="731520" y="5257800"/>
            <a:ext cx="10515600" cy="365760"/>
          </a:xfrm>
          <a:prstGeom prst="rect">
            <a:avLst/>
          </a:prstGeom>
          <a:noFill/>
        </p:spPr>
        <p:txBody>
          <a:bodyPr wrap="square" lIns="36576" tIns="18288" rIns="36576" bIns="18288">
            <a:spAutoFit/>
          </a:bodyPr>
          <a:lstStyle/>
          <a:p>
            <a:pPr algn="l"/>
            <a:r>
              <a:rPr sz="1600" b="1">
                <a:solidFill>
                  <a:srgbClr val="EB695B"/>
                </a:solidFill>
                <a:latin typeface="Aptos"/>
              </a:rPr>
              <a:t>[Screenshot Required] Replace the UI evidence cards with actual application screenshots before submission.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47472"/>
            <a:ext cx="4114800" cy="228600"/>
          </a:xfrm>
          <a:prstGeom prst="rect">
            <a:avLst/>
          </a:prstGeom>
          <a:noFill/>
        </p:spPr>
        <p:txBody>
          <a:bodyPr wrap="square" lIns="36576" tIns="18288" rIns="36576" bIns="18288">
            <a:spAutoFit/>
          </a:bodyPr>
          <a:lstStyle/>
          <a:p>
            <a:pPr algn="l"/>
            <a:r>
              <a:rPr sz="900" b="1">
                <a:solidFill>
                  <a:srgbClr val="009196"/>
                </a:solidFill>
                <a:latin typeface="Aptos"/>
              </a:rPr>
              <a:t>PROJECT DEFENSE</a:t>
            </a:r>
          </a:p>
        </p:txBody>
      </p:sp>
      <p:sp>
        <p:nvSpPr>
          <p:cNvPr id="4" name="TextBox 3"/>
          <p:cNvSpPr txBox="1"/>
          <p:nvPr/>
        </p:nvSpPr>
        <p:spPr>
          <a:xfrm>
            <a:off x="502920" y="658368"/>
            <a:ext cx="10881360" cy="502920"/>
          </a:xfrm>
          <a:prstGeom prst="rect">
            <a:avLst/>
          </a:prstGeom>
          <a:noFill/>
        </p:spPr>
        <p:txBody>
          <a:bodyPr wrap="square" lIns="36576" tIns="18288" rIns="36576" bIns="18288">
            <a:spAutoFit/>
          </a:bodyPr>
          <a:lstStyle/>
          <a:p>
            <a:pPr algn="l"/>
            <a:r>
              <a:rPr sz="2700" b="1">
                <a:solidFill>
                  <a:srgbClr val="0F1F38"/>
                </a:solidFill>
                <a:latin typeface="Aptos"/>
              </a:rPr>
              <a:t>Testing and Validation</a:t>
            </a:r>
          </a:p>
        </p:txBody>
      </p:sp>
      <p:sp>
        <p:nvSpPr>
          <p:cNvPr id="5" name="TextBox 4"/>
          <p:cNvSpPr txBox="1"/>
          <p:nvPr/>
        </p:nvSpPr>
        <p:spPr>
          <a:xfrm>
            <a:off x="11201400" y="6473952"/>
            <a:ext cx="457200" cy="182880"/>
          </a:xfrm>
          <a:prstGeom prst="rect">
            <a:avLst/>
          </a:prstGeom>
          <a:noFill/>
        </p:spPr>
        <p:txBody>
          <a:bodyPr wrap="square" lIns="36576" tIns="18288" rIns="36576" bIns="18288">
            <a:spAutoFit/>
          </a:bodyPr>
          <a:lstStyle/>
          <a:p>
            <a:pPr algn="r"/>
            <a:r>
              <a:rPr sz="900" b="1">
                <a:solidFill>
                  <a:srgbClr val="5D6C7D"/>
                </a:solidFill>
                <a:latin typeface="Aptos"/>
              </a:rPr>
              <a:t>16</a:t>
            </a:r>
          </a:p>
        </p:txBody>
      </p:sp>
      <p:sp>
        <p:nvSpPr>
          <p:cNvPr id="6" name="TextBox 5"/>
          <p:cNvSpPr txBox="1"/>
          <p:nvPr/>
        </p:nvSpPr>
        <p:spPr>
          <a:xfrm>
            <a:off x="685800" y="1234440"/>
            <a:ext cx="10698480" cy="365760"/>
          </a:xfrm>
          <a:prstGeom prst="rect">
            <a:avLst/>
          </a:prstGeom>
          <a:noFill/>
        </p:spPr>
        <p:txBody>
          <a:bodyPr wrap="square" lIns="36576" tIns="18288" rIns="36576" bIns="18288">
            <a:spAutoFit/>
          </a:bodyPr>
          <a:lstStyle/>
          <a:p>
            <a:pPr algn="l"/>
            <a:r>
              <a:rPr sz="1500" b="0">
                <a:solidFill>
                  <a:srgbClr val="5D6C7D"/>
                </a:solidFill>
                <a:latin typeface="Aptos"/>
              </a:rPr>
              <a:t>The test suite focuses on pure logic and validation helpers; it does not constitute a full end-to-end application evaluation.</a:t>
            </a:r>
          </a:p>
        </p:txBody>
      </p:sp>
      <p:sp>
        <p:nvSpPr>
          <p:cNvPr id="7" name="Rectangle 6"/>
          <p:cNvSpPr/>
          <p:nvPr/>
        </p:nvSpPr>
        <p:spPr>
          <a:xfrm>
            <a:off x="731520" y="1828800"/>
            <a:ext cx="1828800" cy="502920"/>
          </a:xfrm>
          <a:prstGeom prst="rect">
            <a:avLst/>
          </a:prstGeom>
          <a:solidFill>
            <a:srgbClr val="0F1F38"/>
          </a:solidFill>
          <a:ln w="8890">
            <a:solidFill>
              <a:srgbClr val="0F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8" y="1965960"/>
            <a:ext cx="1554480" cy="182880"/>
          </a:xfrm>
          <a:prstGeom prst="rect">
            <a:avLst/>
          </a:prstGeom>
          <a:noFill/>
        </p:spPr>
        <p:txBody>
          <a:bodyPr wrap="square" lIns="36576" tIns="18288" rIns="36576" bIns="18288">
            <a:spAutoFit/>
          </a:bodyPr>
          <a:lstStyle/>
          <a:p>
            <a:pPr algn="l"/>
            <a:r>
              <a:rPr sz="1200" b="1">
                <a:solidFill>
                  <a:srgbClr val="FFFFFF"/>
                </a:solidFill>
                <a:latin typeface="Aptos"/>
              </a:rPr>
              <a:t>Area</a:t>
            </a:r>
          </a:p>
        </p:txBody>
      </p:sp>
      <p:sp>
        <p:nvSpPr>
          <p:cNvPr id="9" name="Rectangle 8"/>
          <p:cNvSpPr/>
          <p:nvPr/>
        </p:nvSpPr>
        <p:spPr>
          <a:xfrm>
            <a:off x="2743200" y="1828800"/>
            <a:ext cx="4846320" cy="502920"/>
          </a:xfrm>
          <a:prstGeom prst="rect">
            <a:avLst/>
          </a:prstGeom>
          <a:solidFill>
            <a:srgbClr val="0F1F38"/>
          </a:solidFill>
          <a:ln w="8890">
            <a:solidFill>
              <a:srgbClr val="0F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852928" y="1965960"/>
            <a:ext cx="4480560" cy="182880"/>
          </a:xfrm>
          <a:prstGeom prst="rect">
            <a:avLst/>
          </a:prstGeom>
          <a:noFill/>
        </p:spPr>
        <p:txBody>
          <a:bodyPr wrap="square" lIns="36576" tIns="18288" rIns="36576" bIns="18288">
            <a:spAutoFit/>
          </a:bodyPr>
          <a:lstStyle/>
          <a:p>
            <a:pPr algn="l"/>
            <a:r>
              <a:rPr sz="1200" b="1">
                <a:solidFill>
                  <a:srgbClr val="FFFFFF"/>
                </a:solidFill>
                <a:latin typeface="Aptos"/>
              </a:rPr>
              <a:t>Verified test intent</a:t>
            </a:r>
          </a:p>
        </p:txBody>
      </p:sp>
      <p:sp>
        <p:nvSpPr>
          <p:cNvPr id="11" name="Rectangle 10"/>
          <p:cNvSpPr/>
          <p:nvPr/>
        </p:nvSpPr>
        <p:spPr>
          <a:xfrm>
            <a:off x="7772400" y="1828800"/>
            <a:ext cx="3566160" cy="502920"/>
          </a:xfrm>
          <a:prstGeom prst="rect">
            <a:avLst/>
          </a:prstGeom>
          <a:solidFill>
            <a:srgbClr val="0F1F38"/>
          </a:solidFill>
          <a:ln w="8890">
            <a:solidFill>
              <a:srgbClr val="0F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882127" y="1965960"/>
            <a:ext cx="3200400" cy="182880"/>
          </a:xfrm>
          <a:prstGeom prst="rect">
            <a:avLst/>
          </a:prstGeom>
          <a:noFill/>
        </p:spPr>
        <p:txBody>
          <a:bodyPr wrap="square" lIns="36576" tIns="18288" rIns="36576" bIns="18288">
            <a:spAutoFit/>
          </a:bodyPr>
          <a:lstStyle/>
          <a:p>
            <a:pPr algn="l"/>
            <a:r>
              <a:rPr sz="1200" b="1">
                <a:solidFill>
                  <a:srgbClr val="FFFFFF"/>
                </a:solidFill>
                <a:latin typeface="Aptos"/>
              </a:rPr>
              <a:t>Evidence status</a:t>
            </a:r>
          </a:p>
        </p:txBody>
      </p:sp>
      <p:sp>
        <p:nvSpPr>
          <p:cNvPr id="13" name="Rectangle 12"/>
          <p:cNvSpPr/>
          <p:nvPr/>
        </p:nvSpPr>
        <p:spPr>
          <a:xfrm>
            <a:off x="731520" y="2331720"/>
            <a:ext cx="1828800" cy="502920"/>
          </a:xfrm>
          <a:prstGeom prst="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8" y="2459736"/>
            <a:ext cx="1627632" cy="201168"/>
          </a:xfrm>
          <a:prstGeom prst="rect">
            <a:avLst/>
          </a:prstGeom>
          <a:noFill/>
        </p:spPr>
        <p:txBody>
          <a:bodyPr wrap="square" lIns="36576" tIns="18288" rIns="36576" bIns="18288">
            <a:spAutoFit/>
          </a:bodyPr>
          <a:lstStyle/>
          <a:p>
            <a:pPr algn="l"/>
            <a:r>
              <a:rPr sz="1100" b="1">
                <a:solidFill>
                  <a:srgbClr val="202B38"/>
                </a:solidFill>
                <a:latin typeface="Aptos"/>
              </a:rPr>
              <a:t>Quiz scoring</a:t>
            </a:r>
          </a:p>
        </p:txBody>
      </p:sp>
      <p:sp>
        <p:nvSpPr>
          <p:cNvPr id="15" name="Rectangle 14"/>
          <p:cNvSpPr/>
          <p:nvPr/>
        </p:nvSpPr>
        <p:spPr>
          <a:xfrm>
            <a:off x="2743200" y="2331720"/>
            <a:ext cx="4846320" cy="502920"/>
          </a:xfrm>
          <a:prstGeom prst="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852928" y="2459736"/>
            <a:ext cx="4645152" cy="201168"/>
          </a:xfrm>
          <a:prstGeom prst="rect">
            <a:avLst/>
          </a:prstGeom>
          <a:noFill/>
        </p:spPr>
        <p:txBody>
          <a:bodyPr wrap="square" lIns="36576" tIns="18288" rIns="36576" bIns="18288">
            <a:spAutoFit/>
          </a:bodyPr>
          <a:lstStyle/>
          <a:p>
            <a:pPr algn="l"/>
            <a:r>
              <a:rPr sz="1100" b="1">
                <a:solidFill>
                  <a:srgbClr val="202B38"/>
                </a:solidFill>
                <a:latin typeface="Aptos"/>
              </a:rPr>
              <a:t>Perfect, zero, partial, rounding, zero-total</a:t>
            </a:r>
          </a:p>
        </p:txBody>
      </p:sp>
      <p:sp>
        <p:nvSpPr>
          <p:cNvPr id="17" name="Rectangle 16"/>
          <p:cNvSpPr/>
          <p:nvPr/>
        </p:nvSpPr>
        <p:spPr>
          <a:xfrm>
            <a:off x="7772400" y="2331720"/>
            <a:ext cx="3566160" cy="502920"/>
          </a:xfrm>
          <a:prstGeom prst="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882127" y="2459736"/>
            <a:ext cx="3364991" cy="201168"/>
          </a:xfrm>
          <a:prstGeom prst="rect">
            <a:avLst/>
          </a:prstGeom>
          <a:noFill/>
        </p:spPr>
        <p:txBody>
          <a:bodyPr wrap="square" lIns="36576" tIns="18288" rIns="36576" bIns="18288">
            <a:spAutoFit/>
          </a:bodyPr>
          <a:lstStyle/>
          <a:p>
            <a:pPr algn="l"/>
            <a:r>
              <a:rPr sz="1100" b="1">
                <a:solidFill>
                  <a:srgbClr val="202B38"/>
                </a:solidFill>
                <a:latin typeface="Aptos"/>
              </a:rPr>
              <a:t>Repository tests</a:t>
            </a:r>
          </a:p>
        </p:txBody>
      </p:sp>
      <p:sp>
        <p:nvSpPr>
          <p:cNvPr id="19" name="Rectangle 18"/>
          <p:cNvSpPr/>
          <p:nvPr/>
        </p:nvSpPr>
        <p:spPr>
          <a:xfrm>
            <a:off x="731520" y="2843784"/>
            <a:ext cx="1828800" cy="502920"/>
          </a:xfrm>
          <a:prstGeom prst="rect">
            <a:avLst/>
          </a:prstGeom>
          <a:solidFill>
            <a:srgbClr val="EFF3F7"/>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41248" y="2971800"/>
            <a:ext cx="1627632" cy="201168"/>
          </a:xfrm>
          <a:prstGeom prst="rect">
            <a:avLst/>
          </a:prstGeom>
          <a:noFill/>
        </p:spPr>
        <p:txBody>
          <a:bodyPr wrap="square" lIns="36576" tIns="18288" rIns="36576" bIns="18288">
            <a:spAutoFit/>
          </a:bodyPr>
          <a:lstStyle/>
          <a:p>
            <a:pPr algn="l"/>
            <a:r>
              <a:rPr sz="1100" b="1">
                <a:solidFill>
                  <a:srgbClr val="202B38"/>
                </a:solidFill>
                <a:latin typeface="Aptos"/>
              </a:rPr>
              <a:t>SM-2</a:t>
            </a:r>
          </a:p>
        </p:txBody>
      </p:sp>
      <p:sp>
        <p:nvSpPr>
          <p:cNvPr id="21" name="Rectangle 20"/>
          <p:cNvSpPr/>
          <p:nvPr/>
        </p:nvSpPr>
        <p:spPr>
          <a:xfrm>
            <a:off x="2743200" y="2843784"/>
            <a:ext cx="4846320" cy="502920"/>
          </a:xfrm>
          <a:prstGeom prst="rect">
            <a:avLst/>
          </a:prstGeom>
          <a:solidFill>
            <a:srgbClr val="EFF3F7"/>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852928" y="2971800"/>
            <a:ext cx="4645152" cy="201168"/>
          </a:xfrm>
          <a:prstGeom prst="rect">
            <a:avLst/>
          </a:prstGeom>
          <a:noFill/>
        </p:spPr>
        <p:txBody>
          <a:bodyPr wrap="square" lIns="36576" tIns="18288" rIns="36576" bIns="18288">
            <a:spAutoFit/>
          </a:bodyPr>
          <a:lstStyle/>
          <a:p>
            <a:pPr algn="l"/>
            <a:r>
              <a:rPr sz="1100" b="1">
                <a:solidFill>
                  <a:srgbClr val="202B38"/>
                </a:solidFill>
                <a:latin typeface="Aptos"/>
              </a:rPr>
              <a:t>Intervals, reset, ease factor, clamp, future date</a:t>
            </a:r>
          </a:p>
        </p:txBody>
      </p:sp>
      <p:sp>
        <p:nvSpPr>
          <p:cNvPr id="23" name="Rectangle 22"/>
          <p:cNvSpPr/>
          <p:nvPr/>
        </p:nvSpPr>
        <p:spPr>
          <a:xfrm>
            <a:off x="7772400" y="2843784"/>
            <a:ext cx="3566160" cy="502920"/>
          </a:xfrm>
          <a:prstGeom prst="rect">
            <a:avLst/>
          </a:prstGeom>
          <a:solidFill>
            <a:srgbClr val="EFF3F7"/>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882127" y="2971800"/>
            <a:ext cx="3364991" cy="201168"/>
          </a:xfrm>
          <a:prstGeom prst="rect">
            <a:avLst/>
          </a:prstGeom>
          <a:noFill/>
        </p:spPr>
        <p:txBody>
          <a:bodyPr wrap="square" lIns="36576" tIns="18288" rIns="36576" bIns="18288">
            <a:spAutoFit/>
          </a:bodyPr>
          <a:lstStyle/>
          <a:p>
            <a:pPr algn="l"/>
            <a:r>
              <a:rPr sz="1100" b="1">
                <a:solidFill>
                  <a:srgbClr val="202B38"/>
                </a:solidFill>
                <a:latin typeface="Aptos"/>
              </a:rPr>
              <a:t>Repository tests</a:t>
            </a:r>
          </a:p>
        </p:txBody>
      </p:sp>
      <p:sp>
        <p:nvSpPr>
          <p:cNvPr id="25" name="Rectangle 24"/>
          <p:cNvSpPr/>
          <p:nvPr/>
        </p:nvSpPr>
        <p:spPr>
          <a:xfrm>
            <a:off x="731520" y="3355848"/>
            <a:ext cx="1828800" cy="502920"/>
          </a:xfrm>
          <a:prstGeom prst="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1248" y="3483864"/>
            <a:ext cx="1627632" cy="201168"/>
          </a:xfrm>
          <a:prstGeom prst="rect">
            <a:avLst/>
          </a:prstGeom>
          <a:noFill/>
        </p:spPr>
        <p:txBody>
          <a:bodyPr wrap="square" lIns="36576" tIns="18288" rIns="36576" bIns="18288">
            <a:spAutoFit/>
          </a:bodyPr>
          <a:lstStyle/>
          <a:p>
            <a:pPr algn="l"/>
            <a:r>
              <a:rPr sz="1100" b="1">
                <a:solidFill>
                  <a:srgbClr val="202B38"/>
                </a:solidFill>
                <a:latin typeface="Aptos"/>
              </a:rPr>
              <a:t>Mastery</a:t>
            </a:r>
          </a:p>
        </p:txBody>
      </p:sp>
      <p:sp>
        <p:nvSpPr>
          <p:cNvPr id="27" name="Rectangle 26"/>
          <p:cNvSpPr/>
          <p:nvPr/>
        </p:nvSpPr>
        <p:spPr>
          <a:xfrm>
            <a:off x="2743200" y="3355848"/>
            <a:ext cx="4846320" cy="502920"/>
          </a:xfrm>
          <a:prstGeom prst="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852928" y="3483864"/>
            <a:ext cx="4645152" cy="201168"/>
          </a:xfrm>
          <a:prstGeom prst="rect">
            <a:avLst/>
          </a:prstGeom>
          <a:noFill/>
        </p:spPr>
        <p:txBody>
          <a:bodyPr wrap="square" lIns="36576" tIns="18288" rIns="36576" bIns="18288">
            <a:spAutoFit/>
          </a:bodyPr>
          <a:lstStyle/>
          <a:p>
            <a:pPr algn="l"/>
            <a:r>
              <a:rPr sz="1100" b="1">
                <a:solidFill>
                  <a:srgbClr val="202B38"/>
                </a:solidFill>
                <a:latin typeface="Aptos"/>
              </a:rPr>
              <a:t>First score and weighted moving average</a:t>
            </a:r>
          </a:p>
        </p:txBody>
      </p:sp>
      <p:sp>
        <p:nvSpPr>
          <p:cNvPr id="29" name="Rectangle 28"/>
          <p:cNvSpPr/>
          <p:nvPr/>
        </p:nvSpPr>
        <p:spPr>
          <a:xfrm>
            <a:off x="7772400" y="3355848"/>
            <a:ext cx="3566160" cy="502920"/>
          </a:xfrm>
          <a:prstGeom prst="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882127" y="3483864"/>
            <a:ext cx="3364991" cy="201168"/>
          </a:xfrm>
          <a:prstGeom prst="rect">
            <a:avLst/>
          </a:prstGeom>
          <a:noFill/>
        </p:spPr>
        <p:txBody>
          <a:bodyPr wrap="square" lIns="36576" tIns="18288" rIns="36576" bIns="18288">
            <a:spAutoFit/>
          </a:bodyPr>
          <a:lstStyle/>
          <a:p>
            <a:pPr algn="l"/>
            <a:r>
              <a:rPr sz="1100" b="1">
                <a:solidFill>
                  <a:srgbClr val="202B38"/>
                </a:solidFill>
                <a:latin typeface="Aptos"/>
              </a:rPr>
              <a:t>Repository tests</a:t>
            </a:r>
          </a:p>
        </p:txBody>
      </p:sp>
      <p:sp>
        <p:nvSpPr>
          <p:cNvPr id="31" name="Rectangle 30"/>
          <p:cNvSpPr/>
          <p:nvPr/>
        </p:nvSpPr>
        <p:spPr>
          <a:xfrm>
            <a:off x="731520" y="3867912"/>
            <a:ext cx="1828800" cy="502920"/>
          </a:xfrm>
          <a:prstGeom prst="rect">
            <a:avLst/>
          </a:prstGeom>
          <a:solidFill>
            <a:srgbClr val="EFF3F7"/>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41248" y="3995928"/>
            <a:ext cx="1627632" cy="201168"/>
          </a:xfrm>
          <a:prstGeom prst="rect">
            <a:avLst/>
          </a:prstGeom>
          <a:noFill/>
        </p:spPr>
        <p:txBody>
          <a:bodyPr wrap="square" lIns="36576" tIns="18288" rIns="36576" bIns="18288">
            <a:spAutoFit/>
          </a:bodyPr>
          <a:lstStyle/>
          <a:p>
            <a:pPr algn="l"/>
            <a:r>
              <a:rPr sz="1100" b="1">
                <a:solidFill>
                  <a:srgbClr val="202B38"/>
                </a:solidFill>
                <a:latin typeface="Aptos"/>
              </a:rPr>
              <a:t>File validation</a:t>
            </a:r>
          </a:p>
        </p:txBody>
      </p:sp>
      <p:sp>
        <p:nvSpPr>
          <p:cNvPr id="33" name="Rectangle 32"/>
          <p:cNvSpPr/>
          <p:nvPr/>
        </p:nvSpPr>
        <p:spPr>
          <a:xfrm>
            <a:off x="2743200" y="3867912"/>
            <a:ext cx="4846320" cy="502920"/>
          </a:xfrm>
          <a:prstGeom prst="rect">
            <a:avLst/>
          </a:prstGeom>
          <a:solidFill>
            <a:srgbClr val="EFF3F7"/>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852928" y="3995928"/>
            <a:ext cx="4645152" cy="201168"/>
          </a:xfrm>
          <a:prstGeom prst="rect">
            <a:avLst/>
          </a:prstGeom>
          <a:noFill/>
        </p:spPr>
        <p:txBody>
          <a:bodyPr wrap="square" lIns="36576" tIns="18288" rIns="36576" bIns="18288">
            <a:spAutoFit/>
          </a:bodyPr>
          <a:lstStyle/>
          <a:p>
            <a:pPr algn="l"/>
            <a:r>
              <a:rPr sz="1100" b="1">
                <a:solidFill>
                  <a:srgbClr val="202B38"/>
                </a:solidFill>
                <a:latin typeface="Aptos"/>
              </a:rPr>
              <a:t>Extensions, MIME types, sanitization</a:t>
            </a:r>
          </a:p>
        </p:txBody>
      </p:sp>
      <p:sp>
        <p:nvSpPr>
          <p:cNvPr id="35" name="Rectangle 34"/>
          <p:cNvSpPr/>
          <p:nvPr/>
        </p:nvSpPr>
        <p:spPr>
          <a:xfrm>
            <a:off x="7772400" y="3867912"/>
            <a:ext cx="3566160" cy="502920"/>
          </a:xfrm>
          <a:prstGeom prst="rect">
            <a:avLst/>
          </a:prstGeom>
          <a:solidFill>
            <a:srgbClr val="EFF3F7"/>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882127" y="3995928"/>
            <a:ext cx="3364991" cy="201168"/>
          </a:xfrm>
          <a:prstGeom prst="rect">
            <a:avLst/>
          </a:prstGeom>
          <a:noFill/>
        </p:spPr>
        <p:txBody>
          <a:bodyPr wrap="square" lIns="36576" tIns="18288" rIns="36576" bIns="18288">
            <a:spAutoFit/>
          </a:bodyPr>
          <a:lstStyle/>
          <a:p>
            <a:pPr algn="l"/>
            <a:r>
              <a:rPr sz="1100" b="1">
                <a:solidFill>
                  <a:srgbClr val="202B38"/>
                </a:solidFill>
                <a:latin typeface="Aptos"/>
              </a:rPr>
              <a:t>Repository tests</a:t>
            </a:r>
          </a:p>
        </p:txBody>
      </p:sp>
      <p:sp>
        <p:nvSpPr>
          <p:cNvPr id="37" name="Rectangle 36"/>
          <p:cNvSpPr/>
          <p:nvPr/>
        </p:nvSpPr>
        <p:spPr>
          <a:xfrm>
            <a:off x="731520" y="4379976"/>
            <a:ext cx="1828800" cy="502920"/>
          </a:xfrm>
          <a:prstGeom prst="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41248" y="4507992"/>
            <a:ext cx="1627632" cy="201168"/>
          </a:xfrm>
          <a:prstGeom prst="rect">
            <a:avLst/>
          </a:prstGeom>
          <a:noFill/>
        </p:spPr>
        <p:txBody>
          <a:bodyPr wrap="square" lIns="36576" tIns="18288" rIns="36576" bIns="18288">
            <a:spAutoFit/>
          </a:bodyPr>
          <a:lstStyle/>
          <a:p>
            <a:pPr algn="l"/>
            <a:r>
              <a:rPr sz="1100" b="1">
                <a:solidFill>
                  <a:srgbClr val="202B38"/>
                </a:solidFill>
                <a:latin typeface="Aptos"/>
              </a:rPr>
              <a:t>Text extraction</a:t>
            </a:r>
          </a:p>
        </p:txBody>
      </p:sp>
      <p:sp>
        <p:nvSpPr>
          <p:cNvPr id="39" name="Rectangle 38"/>
          <p:cNvSpPr/>
          <p:nvPr/>
        </p:nvSpPr>
        <p:spPr>
          <a:xfrm>
            <a:off x="2743200" y="4379976"/>
            <a:ext cx="4846320" cy="502920"/>
          </a:xfrm>
          <a:prstGeom prst="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852928" y="4507992"/>
            <a:ext cx="4645152" cy="201168"/>
          </a:xfrm>
          <a:prstGeom prst="rect">
            <a:avLst/>
          </a:prstGeom>
          <a:noFill/>
        </p:spPr>
        <p:txBody>
          <a:bodyPr wrap="square" lIns="36576" tIns="18288" rIns="36576" bIns="18288">
            <a:spAutoFit/>
          </a:bodyPr>
          <a:lstStyle/>
          <a:p>
            <a:pPr algn="l"/>
            <a:r>
              <a:rPr sz="1100" b="1">
                <a:solidFill>
                  <a:srgbClr val="202B38"/>
                </a:solidFill>
                <a:latin typeface="Aptos"/>
              </a:rPr>
              <a:t>Cleaning, text/Markdown, page estimate</a:t>
            </a:r>
          </a:p>
        </p:txBody>
      </p:sp>
      <p:sp>
        <p:nvSpPr>
          <p:cNvPr id="41" name="Rectangle 40"/>
          <p:cNvSpPr/>
          <p:nvPr/>
        </p:nvSpPr>
        <p:spPr>
          <a:xfrm>
            <a:off x="7772400" y="4379976"/>
            <a:ext cx="3566160" cy="502920"/>
          </a:xfrm>
          <a:prstGeom prst="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882127" y="4507992"/>
            <a:ext cx="3364991" cy="201168"/>
          </a:xfrm>
          <a:prstGeom prst="rect">
            <a:avLst/>
          </a:prstGeom>
          <a:noFill/>
        </p:spPr>
        <p:txBody>
          <a:bodyPr wrap="square" lIns="36576" tIns="18288" rIns="36576" bIns="18288">
            <a:spAutoFit/>
          </a:bodyPr>
          <a:lstStyle/>
          <a:p>
            <a:pPr algn="l"/>
            <a:r>
              <a:rPr sz="1100" b="1">
                <a:solidFill>
                  <a:srgbClr val="202B38"/>
                </a:solidFill>
                <a:latin typeface="Aptos"/>
              </a:rPr>
              <a:t>Repository tests</a:t>
            </a:r>
          </a:p>
        </p:txBody>
      </p:sp>
      <p:sp>
        <p:nvSpPr>
          <p:cNvPr id="43" name="Rectangle 42"/>
          <p:cNvSpPr/>
          <p:nvPr/>
        </p:nvSpPr>
        <p:spPr>
          <a:xfrm>
            <a:off x="731520" y="4892040"/>
            <a:ext cx="1828800" cy="502920"/>
          </a:xfrm>
          <a:prstGeom prst="rect">
            <a:avLst/>
          </a:prstGeom>
          <a:solidFill>
            <a:srgbClr val="EFF3F7"/>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41248" y="5020055"/>
            <a:ext cx="1627632" cy="201168"/>
          </a:xfrm>
          <a:prstGeom prst="rect">
            <a:avLst/>
          </a:prstGeom>
          <a:noFill/>
        </p:spPr>
        <p:txBody>
          <a:bodyPr wrap="square" lIns="36576" tIns="18288" rIns="36576" bIns="18288">
            <a:spAutoFit/>
          </a:bodyPr>
          <a:lstStyle/>
          <a:p>
            <a:pPr algn="l"/>
            <a:r>
              <a:rPr sz="1100" b="1">
                <a:solidFill>
                  <a:srgbClr val="202B38"/>
                </a:solidFill>
                <a:latin typeface="Aptos"/>
              </a:rPr>
              <a:t>API integration</a:t>
            </a:r>
          </a:p>
        </p:txBody>
      </p:sp>
      <p:sp>
        <p:nvSpPr>
          <p:cNvPr id="45" name="Rectangle 44"/>
          <p:cNvSpPr/>
          <p:nvPr/>
        </p:nvSpPr>
        <p:spPr>
          <a:xfrm>
            <a:off x="2743200" y="4892040"/>
            <a:ext cx="4846320" cy="502920"/>
          </a:xfrm>
          <a:prstGeom prst="rect">
            <a:avLst/>
          </a:prstGeom>
          <a:solidFill>
            <a:srgbClr val="EFF3F7"/>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2852928" y="5020055"/>
            <a:ext cx="4645152" cy="201168"/>
          </a:xfrm>
          <a:prstGeom prst="rect">
            <a:avLst/>
          </a:prstGeom>
          <a:noFill/>
        </p:spPr>
        <p:txBody>
          <a:bodyPr wrap="square" lIns="36576" tIns="18288" rIns="36576" bIns="18288">
            <a:spAutoFit/>
          </a:bodyPr>
          <a:lstStyle/>
          <a:p>
            <a:pPr algn="l"/>
            <a:r>
              <a:rPr sz="1100" b="1">
                <a:solidFill>
                  <a:srgbClr val="202B38"/>
                </a:solidFill>
                <a:latin typeface="Aptos"/>
              </a:rPr>
              <a:t>Routes with real DB/LLM/auth services</a:t>
            </a:r>
          </a:p>
        </p:txBody>
      </p:sp>
      <p:sp>
        <p:nvSpPr>
          <p:cNvPr id="47" name="Rectangle 46"/>
          <p:cNvSpPr/>
          <p:nvPr/>
        </p:nvSpPr>
        <p:spPr>
          <a:xfrm>
            <a:off x="7772400" y="4892040"/>
            <a:ext cx="3566160" cy="502920"/>
          </a:xfrm>
          <a:prstGeom prst="rect">
            <a:avLst/>
          </a:prstGeom>
          <a:solidFill>
            <a:srgbClr val="EFF3F7"/>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882127" y="5020055"/>
            <a:ext cx="3364991" cy="201168"/>
          </a:xfrm>
          <a:prstGeom prst="rect">
            <a:avLst/>
          </a:prstGeom>
          <a:noFill/>
        </p:spPr>
        <p:txBody>
          <a:bodyPr wrap="square" lIns="36576" tIns="18288" rIns="36576" bIns="18288">
            <a:spAutoFit/>
          </a:bodyPr>
          <a:lstStyle/>
          <a:p>
            <a:pPr algn="l"/>
            <a:r>
              <a:rPr sz="1100" b="0">
                <a:solidFill>
                  <a:srgbClr val="EB695B"/>
                </a:solidFill>
                <a:latin typeface="Aptos"/>
              </a:rPr>
              <a:t>[Information Required]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47472"/>
            <a:ext cx="4114800" cy="228600"/>
          </a:xfrm>
          <a:prstGeom prst="rect">
            <a:avLst/>
          </a:prstGeom>
          <a:noFill/>
        </p:spPr>
        <p:txBody>
          <a:bodyPr wrap="square" lIns="36576" tIns="18288" rIns="36576" bIns="18288">
            <a:spAutoFit/>
          </a:bodyPr>
          <a:lstStyle/>
          <a:p>
            <a:pPr algn="l"/>
            <a:r>
              <a:rPr sz="900" b="1">
                <a:solidFill>
                  <a:srgbClr val="009196"/>
                </a:solidFill>
                <a:latin typeface="Aptos"/>
              </a:rPr>
              <a:t>PROJECT DEFENSE</a:t>
            </a:r>
          </a:p>
        </p:txBody>
      </p:sp>
      <p:sp>
        <p:nvSpPr>
          <p:cNvPr id="4" name="TextBox 3"/>
          <p:cNvSpPr txBox="1"/>
          <p:nvPr/>
        </p:nvSpPr>
        <p:spPr>
          <a:xfrm>
            <a:off x="502920" y="658368"/>
            <a:ext cx="10881360" cy="502920"/>
          </a:xfrm>
          <a:prstGeom prst="rect">
            <a:avLst/>
          </a:prstGeom>
          <a:noFill/>
        </p:spPr>
        <p:txBody>
          <a:bodyPr wrap="square" lIns="36576" tIns="18288" rIns="36576" bIns="18288">
            <a:spAutoFit/>
          </a:bodyPr>
          <a:lstStyle/>
          <a:p>
            <a:pPr algn="l"/>
            <a:r>
              <a:rPr sz="2700" b="1">
                <a:solidFill>
                  <a:srgbClr val="0F1F38"/>
                </a:solidFill>
                <a:latin typeface="Aptos"/>
              </a:rPr>
              <a:t>Results and Demonstrated Outcomes</a:t>
            </a:r>
          </a:p>
        </p:txBody>
      </p:sp>
      <p:sp>
        <p:nvSpPr>
          <p:cNvPr id="5" name="TextBox 4"/>
          <p:cNvSpPr txBox="1"/>
          <p:nvPr/>
        </p:nvSpPr>
        <p:spPr>
          <a:xfrm>
            <a:off x="11201400" y="6473952"/>
            <a:ext cx="457200" cy="182880"/>
          </a:xfrm>
          <a:prstGeom prst="rect">
            <a:avLst/>
          </a:prstGeom>
          <a:noFill/>
        </p:spPr>
        <p:txBody>
          <a:bodyPr wrap="square" lIns="36576" tIns="18288" rIns="36576" bIns="18288">
            <a:spAutoFit/>
          </a:bodyPr>
          <a:lstStyle/>
          <a:p>
            <a:pPr algn="r"/>
            <a:r>
              <a:rPr sz="900" b="1">
                <a:solidFill>
                  <a:srgbClr val="5D6C7D"/>
                </a:solidFill>
                <a:latin typeface="Aptos"/>
              </a:rPr>
              <a:t>17</a:t>
            </a:r>
          </a:p>
        </p:txBody>
      </p:sp>
      <p:sp>
        <p:nvSpPr>
          <p:cNvPr id="6" name="Rounded Rectangle 5"/>
          <p:cNvSpPr/>
          <p:nvPr/>
        </p:nvSpPr>
        <p:spPr>
          <a:xfrm>
            <a:off x="731520" y="1417320"/>
            <a:ext cx="3383280" cy="3566160"/>
          </a:xfrm>
          <a:prstGeom prst="roundRect">
            <a:avLst/>
          </a:prstGeom>
          <a:solidFill>
            <a:srgbClr val="E1F6F5"/>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417320"/>
            <a:ext cx="73152" cy="3566160"/>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32688" y="1581912"/>
            <a:ext cx="3017520" cy="274320"/>
          </a:xfrm>
          <a:prstGeom prst="rect">
            <a:avLst/>
          </a:prstGeom>
          <a:noFill/>
        </p:spPr>
        <p:txBody>
          <a:bodyPr wrap="square" lIns="36576" tIns="18288" rIns="36576" bIns="18288">
            <a:spAutoFit/>
          </a:bodyPr>
          <a:lstStyle/>
          <a:p>
            <a:pPr algn="l"/>
            <a:r>
              <a:rPr sz="1500" b="1">
                <a:solidFill>
                  <a:srgbClr val="0F1F38"/>
                </a:solidFill>
                <a:latin typeface="Aptos"/>
              </a:rPr>
              <a:t>Implemented functional outcomes</a:t>
            </a:r>
          </a:p>
        </p:txBody>
      </p:sp>
      <p:sp>
        <p:nvSpPr>
          <p:cNvPr id="9" name="TextBox 8"/>
          <p:cNvSpPr txBox="1"/>
          <p:nvPr/>
        </p:nvSpPr>
        <p:spPr>
          <a:xfrm>
            <a:off x="932688" y="1984248"/>
            <a:ext cx="3017520" cy="2871215"/>
          </a:xfrm>
          <a:prstGeom prst="rect">
            <a:avLst/>
          </a:prstGeom>
          <a:noFill/>
        </p:spPr>
        <p:txBody>
          <a:bodyPr wrap="square" lIns="36576" tIns="18288" rIns="36576" bIns="18288">
            <a:spAutoFit/>
          </a:bodyPr>
          <a:lstStyle/>
          <a:p>
            <a:pPr algn="l"/>
            <a:r>
              <a:rPr sz="1500" b="0">
                <a:solidFill>
                  <a:srgbClr val="202B38"/>
                </a:solidFill>
                <a:latin typeface="Aptos"/>
              </a:rPr>
              <a:t>- Accepted file formats and processing states
- AI generation endpoints for summaries, quizzes, cards
- Streaming tutor response path
- Quiz scoring and persisted attempts
- SM-2 scheduling state
- Analytics aggregation endpoints</a:t>
            </a:r>
          </a:p>
        </p:txBody>
      </p:sp>
      <p:sp>
        <p:nvSpPr>
          <p:cNvPr id="10" name="Rounded Rectangle 9"/>
          <p:cNvSpPr/>
          <p:nvPr/>
        </p:nvSpPr>
        <p:spPr>
          <a:xfrm>
            <a:off x="4434840" y="1417320"/>
            <a:ext cx="3383280" cy="3566160"/>
          </a:xfrm>
          <a:prstGeom prst="roundRect">
            <a:avLst/>
          </a:prstGeom>
          <a:solidFill>
            <a:srgbClr val="FFF6DC"/>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434840" y="1417320"/>
            <a:ext cx="73152" cy="3566160"/>
          </a:xfrm>
          <a:prstGeom prst="rect">
            <a:avLst/>
          </a:prstGeom>
          <a:solidFill>
            <a:srgbClr val="EDB547"/>
          </a:solidFill>
          <a:ln w="8890">
            <a:solidFill>
              <a:srgbClr val="EDB5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36007" y="1581912"/>
            <a:ext cx="3017520" cy="274320"/>
          </a:xfrm>
          <a:prstGeom prst="rect">
            <a:avLst/>
          </a:prstGeom>
          <a:noFill/>
        </p:spPr>
        <p:txBody>
          <a:bodyPr wrap="square" lIns="36576" tIns="18288" rIns="36576" bIns="18288">
            <a:spAutoFit/>
          </a:bodyPr>
          <a:lstStyle/>
          <a:p>
            <a:pPr algn="l"/>
            <a:r>
              <a:rPr sz="1500" b="1">
                <a:solidFill>
                  <a:srgbClr val="0F1F38"/>
                </a:solidFill>
                <a:latin typeface="Aptos"/>
              </a:rPr>
              <a:t>Evidence currently available</a:t>
            </a:r>
          </a:p>
        </p:txBody>
      </p:sp>
      <p:sp>
        <p:nvSpPr>
          <p:cNvPr id="13" name="TextBox 12"/>
          <p:cNvSpPr txBox="1"/>
          <p:nvPr/>
        </p:nvSpPr>
        <p:spPr>
          <a:xfrm>
            <a:off x="4636007" y="1984248"/>
            <a:ext cx="3017520" cy="2871215"/>
          </a:xfrm>
          <a:prstGeom prst="rect">
            <a:avLst/>
          </a:prstGeom>
          <a:noFill/>
        </p:spPr>
        <p:txBody>
          <a:bodyPr wrap="square" lIns="36576" tIns="18288" rIns="36576" bIns="18288">
            <a:spAutoFit/>
          </a:bodyPr>
          <a:lstStyle/>
          <a:p>
            <a:pPr algn="l"/>
            <a:r>
              <a:rPr sz="1500" b="0">
                <a:solidFill>
                  <a:srgbClr val="202B38"/>
                </a:solidFill>
                <a:latin typeface="Aptos"/>
              </a:rPr>
              <a:t>- Source implementation
- Alembic schema
- Architecture documentation
- Repository test modules
- Frontend page structures
These support design and code claims, not measured user outcomes.</a:t>
            </a:r>
          </a:p>
        </p:txBody>
      </p:sp>
      <p:sp>
        <p:nvSpPr>
          <p:cNvPr id="14" name="Rounded Rectangle 13"/>
          <p:cNvSpPr/>
          <p:nvPr/>
        </p:nvSpPr>
        <p:spPr>
          <a:xfrm>
            <a:off x="8138160" y="1417320"/>
            <a:ext cx="3383280" cy="3566160"/>
          </a:xfrm>
          <a:prstGeom prst="roundRect">
            <a:avLst/>
          </a:prstGeom>
          <a:solidFill>
            <a:srgbClr val="FDEBE8"/>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38160" y="1417320"/>
            <a:ext cx="73152" cy="3566160"/>
          </a:xfrm>
          <a:prstGeom prst="rect">
            <a:avLst/>
          </a:prstGeom>
          <a:solidFill>
            <a:srgbClr val="EB695B"/>
          </a:solidFill>
          <a:ln w="8890">
            <a:solidFill>
              <a:srgbClr val="EB6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39328" y="1581912"/>
            <a:ext cx="3017520" cy="274320"/>
          </a:xfrm>
          <a:prstGeom prst="rect">
            <a:avLst/>
          </a:prstGeom>
          <a:noFill/>
        </p:spPr>
        <p:txBody>
          <a:bodyPr wrap="square" lIns="36576" tIns="18288" rIns="36576" bIns="18288">
            <a:spAutoFit/>
          </a:bodyPr>
          <a:lstStyle/>
          <a:p>
            <a:pPr algn="l"/>
            <a:r>
              <a:rPr sz="1500" b="1">
                <a:solidFill>
                  <a:srgbClr val="0F1F38"/>
                </a:solidFill>
                <a:latin typeface="Aptos"/>
              </a:rPr>
              <a:t>Required before submission</a:t>
            </a:r>
          </a:p>
        </p:txBody>
      </p:sp>
      <p:sp>
        <p:nvSpPr>
          <p:cNvPr id="17" name="TextBox 16"/>
          <p:cNvSpPr txBox="1"/>
          <p:nvPr/>
        </p:nvSpPr>
        <p:spPr>
          <a:xfrm>
            <a:off x="8339328" y="1984248"/>
            <a:ext cx="3017520" cy="2871215"/>
          </a:xfrm>
          <a:prstGeom prst="rect">
            <a:avLst/>
          </a:prstGeom>
          <a:noFill/>
        </p:spPr>
        <p:txBody>
          <a:bodyPr wrap="square" lIns="36576" tIns="18288" rIns="36576" bIns="18288">
            <a:spAutoFit/>
          </a:bodyPr>
          <a:lstStyle/>
          <a:p>
            <a:pPr algn="l"/>
            <a:r>
              <a:rPr sz="1500" b="0">
                <a:solidFill>
                  <a:srgbClr val="202B38"/>
                </a:solidFill>
                <a:latin typeface="Aptos"/>
              </a:rPr>
              <a:t>[Screenshot Required]
[Measured performance Required]
[Observed output examples Required]
[Evaluation dataset / user study Required, if applicable]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47472"/>
            <a:ext cx="4114800" cy="228600"/>
          </a:xfrm>
          <a:prstGeom prst="rect">
            <a:avLst/>
          </a:prstGeom>
          <a:noFill/>
        </p:spPr>
        <p:txBody>
          <a:bodyPr wrap="square" lIns="36576" tIns="18288" rIns="36576" bIns="18288">
            <a:spAutoFit/>
          </a:bodyPr>
          <a:lstStyle/>
          <a:p>
            <a:pPr algn="l"/>
            <a:r>
              <a:rPr sz="900" b="1">
                <a:solidFill>
                  <a:srgbClr val="009196"/>
                </a:solidFill>
                <a:latin typeface="Aptos"/>
              </a:rPr>
              <a:t>PROJECT DEFENSE</a:t>
            </a:r>
          </a:p>
        </p:txBody>
      </p:sp>
      <p:sp>
        <p:nvSpPr>
          <p:cNvPr id="4" name="TextBox 3"/>
          <p:cNvSpPr txBox="1"/>
          <p:nvPr/>
        </p:nvSpPr>
        <p:spPr>
          <a:xfrm>
            <a:off x="502920" y="658368"/>
            <a:ext cx="10881360" cy="502920"/>
          </a:xfrm>
          <a:prstGeom prst="rect">
            <a:avLst/>
          </a:prstGeom>
          <a:noFill/>
        </p:spPr>
        <p:txBody>
          <a:bodyPr wrap="square" lIns="36576" tIns="18288" rIns="36576" bIns="18288">
            <a:spAutoFit/>
          </a:bodyPr>
          <a:lstStyle/>
          <a:p>
            <a:pPr algn="l"/>
            <a:r>
              <a:rPr sz="2700" b="1">
                <a:solidFill>
                  <a:srgbClr val="0F1F38"/>
                </a:solidFill>
                <a:latin typeface="Aptos"/>
              </a:rPr>
              <a:t>Security and Reliability</a:t>
            </a:r>
          </a:p>
        </p:txBody>
      </p:sp>
      <p:sp>
        <p:nvSpPr>
          <p:cNvPr id="5" name="TextBox 4"/>
          <p:cNvSpPr txBox="1"/>
          <p:nvPr/>
        </p:nvSpPr>
        <p:spPr>
          <a:xfrm>
            <a:off x="11201400" y="6473952"/>
            <a:ext cx="457200" cy="182880"/>
          </a:xfrm>
          <a:prstGeom prst="rect">
            <a:avLst/>
          </a:prstGeom>
          <a:noFill/>
        </p:spPr>
        <p:txBody>
          <a:bodyPr wrap="square" lIns="36576" tIns="18288" rIns="36576" bIns="18288">
            <a:spAutoFit/>
          </a:bodyPr>
          <a:lstStyle/>
          <a:p>
            <a:pPr algn="r"/>
            <a:r>
              <a:rPr sz="900" b="1">
                <a:solidFill>
                  <a:srgbClr val="5D6C7D"/>
                </a:solidFill>
                <a:latin typeface="Aptos"/>
              </a:rPr>
              <a:t>18</a:t>
            </a:r>
          </a:p>
        </p:txBody>
      </p:sp>
      <p:sp>
        <p:nvSpPr>
          <p:cNvPr id="6" name="Rounded Rectangle 5"/>
          <p:cNvSpPr/>
          <p:nvPr/>
        </p:nvSpPr>
        <p:spPr>
          <a:xfrm>
            <a:off x="685800" y="1325880"/>
            <a:ext cx="5257800" cy="4297680"/>
          </a:xfrm>
          <a:prstGeom prst="roundRect">
            <a:avLst/>
          </a:prstGeom>
          <a:solidFill>
            <a:srgbClr val="E1F6F5"/>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325880"/>
            <a:ext cx="73152" cy="4297680"/>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490472"/>
            <a:ext cx="4892040" cy="274320"/>
          </a:xfrm>
          <a:prstGeom prst="rect">
            <a:avLst/>
          </a:prstGeom>
          <a:noFill/>
        </p:spPr>
        <p:txBody>
          <a:bodyPr wrap="square" lIns="36576" tIns="18288" rIns="36576" bIns="18288">
            <a:spAutoFit/>
          </a:bodyPr>
          <a:lstStyle/>
          <a:p>
            <a:pPr algn="l"/>
            <a:r>
              <a:rPr sz="1500" b="1">
                <a:solidFill>
                  <a:srgbClr val="0F1F38"/>
                </a:solidFill>
                <a:latin typeface="Aptos"/>
              </a:rPr>
              <a:t>Implemented in code</a:t>
            </a:r>
          </a:p>
        </p:txBody>
      </p:sp>
      <p:sp>
        <p:nvSpPr>
          <p:cNvPr id="9" name="TextBox 8"/>
          <p:cNvSpPr txBox="1"/>
          <p:nvPr/>
        </p:nvSpPr>
        <p:spPr>
          <a:xfrm>
            <a:off x="886968" y="1892807"/>
            <a:ext cx="4892040" cy="3602736"/>
          </a:xfrm>
          <a:prstGeom prst="rect">
            <a:avLst/>
          </a:prstGeom>
          <a:noFill/>
        </p:spPr>
        <p:txBody>
          <a:bodyPr wrap="square" lIns="36576" tIns="18288" rIns="36576" bIns="18288">
            <a:spAutoFit/>
          </a:bodyPr>
          <a:lstStyle/>
          <a:p>
            <a:pPr algn="l"/>
            <a:r>
              <a:rPr sz="1400" b="0">
                <a:solidFill>
                  <a:srgbClr val="202B38"/>
                </a:solidFill>
                <a:latin typeface="Aptos"/>
              </a:rPr>
              <a:t>- Clerk JWT verification using RS256 and JWKS
- User ownership checks on resources
- MIME allowlist and 50 MB configured limit
- UUID storage filenames and filename sanitization
- SQLAlchemy ORM parameterized queries
- Frontend HTML escaping helper
- CORS allowlist and SlowAPI rate limiting
- Standardized exception responses</a:t>
            </a:r>
          </a:p>
        </p:txBody>
      </p:sp>
      <p:sp>
        <p:nvSpPr>
          <p:cNvPr id="10" name="Rounded Rectangle 9"/>
          <p:cNvSpPr/>
          <p:nvPr/>
        </p:nvSpPr>
        <p:spPr>
          <a:xfrm>
            <a:off x="6217920" y="1325880"/>
            <a:ext cx="5257800" cy="4297680"/>
          </a:xfrm>
          <a:prstGeom prst="roundRect">
            <a:avLst/>
          </a:prstGeom>
          <a:solidFill>
            <a:srgbClr val="FDEBE8"/>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17920" y="1325880"/>
            <a:ext cx="73152" cy="4297680"/>
          </a:xfrm>
          <a:prstGeom prst="rect">
            <a:avLst/>
          </a:prstGeom>
          <a:solidFill>
            <a:srgbClr val="EB695B"/>
          </a:solidFill>
          <a:ln w="8890">
            <a:solidFill>
              <a:srgbClr val="EB6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19088" y="1490472"/>
            <a:ext cx="4892040" cy="274320"/>
          </a:xfrm>
          <a:prstGeom prst="rect">
            <a:avLst/>
          </a:prstGeom>
          <a:noFill/>
        </p:spPr>
        <p:txBody>
          <a:bodyPr wrap="square" lIns="36576" tIns="18288" rIns="36576" bIns="18288">
            <a:spAutoFit/>
          </a:bodyPr>
          <a:lstStyle/>
          <a:p>
            <a:pPr algn="l"/>
            <a:r>
              <a:rPr sz="1500" b="1">
                <a:solidFill>
                  <a:srgbClr val="0F1F38"/>
                </a:solidFill>
                <a:latin typeface="Aptos"/>
              </a:rPr>
              <a:t>Recommended verification / improvement</a:t>
            </a:r>
          </a:p>
        </p:txBody>
      </p:sp>
      <p:sp>
        <p:nvSpPr>
          <p:cNvPr id="13" name="TextBox 12"/>
          <p:cNvSpPr txBox="1"/>
          <p:nvPr/>
        </p:nvSpPr>
        <p:spPr>
          <a:xfrm>
            <a:off x="6419088" y="1892807"/>
            <a:ext cx="4892040" cy="3602736"/>
          </a:xfrm>
          <a:prstGeom prst="rect">
            <a:avLst/>
          </a:prstGeom>
          <a:noFill/>
        </p:spPr>
        <p:txBody>
          <a:bodyPr wrap="square" lIns="36576" tIns="18288" rIns="36576" bIns="18288">
            <a:spAutoFit/>
          </a:bodyPr>
          <a:lstStyle/>
          <a:p>
            <a:pPr algn="l"/>
            <a:r>
              <a:rPr sz="1400" b="0">
                <a:solidFill>
                  <a:srgbClr val="202B38"/>
                </a:solidFill>
                <a:latin typeface="Aptos"/>
              </a:rPr>
              <a:t>- Add integration tests for authorization across every route
- Confirm production HTTPS and secret management
- Verify upload content sniffing beyond client MIME claims
- Add durable job queue for scale beyond process-local BackgroundTasks
- Define backup, recovery, observability, and availability targets
- Validate prompt/data privacy policy with real provider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47472"/>
            <a:ext cx="4114800" cy="228600"/>
          </a:xfrm>
          <a:prstGeom prst="rect">
            <a:avLst/>
          </a:prstGeom>
          <a:noFill/>
        </p:spPr>
        <p:txBody>
          <a:bodyPr wrap="square" lIns="36576" tIns="18288" rIns="36576" bIns="18288">
            <a:spAutoFit/>
          </a:bodyPr>
          <a:lstStyle/>
          <a:p>
            <a:pPr algn="l"/>
            <a:r>
              <a:rPr sz="900" b="1">
                <a:solidFill>
                  <a:srgbClr val="009196"/>
                </a:solidFill>
                <a:latin typeface="Aptos"/>
              </a:rPr>
              <a:t>PROJECT DEFENSE</a:t>
            </a:r>
          </a:p>
        </p:txBody>
      </p:sp>
      <p:sp>
        <p:nvSpPr>
          <p:cNvPr id="4" name="TextBox 3"/>
          <p:cNvSpPr txBox="1"/>
          <p:nvPr/>
        </p:nvSpPr>
        <p:spPr>
          <a:xfrm>
            <a:off x="502920" y="658368"/>
            <a:ext cx="10881360" cy="502920"/>
          </a:xfrm>
          <a:prstGeom prst="rect">
            <a:avLst/>
          </a:prstGeom>
          <a:noFill/>
        </p:spPr>
        <p:txBody>
          <a:bodyPr wrap="square" lIns="36576" tIns="18288" rIns="36576" bIns="18288">
            <a:spAutoFit/>
          </a:bodyPr>
          <a:lstStyle/>
          <a:p>
            <a:pPr algn="l"/>
            <a:r>
              <a:rPr sz="2700" b="1">
                <a:solidFill>
                  <a:srgbClr val="0F1F38"/>
                </a:solidFill>
                <a:latin typeface="Aptos"/>
              </a:rPr>
              <a:t>Limitations</a:t>
            </a:r>
          </a:p>
        </p:txBody>
      </p:sp>
      <p:sp>
        <p:nvSpPr>
          <p:cNvPr id="5" name="TextBox 4"/>
          <p:cNvSpPr txBox="1"/>
          <p:nvPr/>
        </p:nvSpPr>
        <p:spPr>
          <a:xfrm>
            <a:off x="11201400" y="6473952"/>
            <a:ext cx="457200" cy="182880"/>
          </a:xfrm>
          <a:prstGeom prst="rect">
            <a:avLst/>
          </a:prstGeom>
          <a:noFill/>
        </p:spPr>
        <p:txBody>
          <a:bodyPr wrap="square" lIns="36576" tIns="18288" rIns="36576" bIns="18288">
            <a:spAutoFit/>
          </a:bodyPr>
          <a:lstStyle/>
          <a:p>
            <a:pPr algn="r"/>
            <a:r>
              <a:rPr sz="900" b="1">
                <a:solidFill>
                  <a:srgbClr val="5D6C7D"/>
                </a:solidFill>
                <a:latin typeface="Aptos"/>
              </a:rPr>
              <a:t>19</a:t>
            </a:r>
          </a:p>
        </p:txBody>
      </p:sp>
      <p:sp>
        <p:nvSpPr>
          <p:cNvPr id="6" name="Rounded Rectangle 5"/>
          <p:cNvSpPr/>
          <p:nvPr/>
        </p:nvSpPr>
        <p:spPr>
          <a:xfrm>
            <a:off x="731520" y="1371600"/>
            <a:ext cx="4983480" cy="1024128"/>
          </a:xfrm>
          <a:prstGeom prst="round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371600"/>
            <a:ext cx="73152" cy="1024128"/>
          </a:xfrm>
          <a:prstGeom prst="rect">
            <a:avLst/>
          </a:prstGeom>
          <a:solidFill>
            <a:srgbClr val="EB695B"/>
          </a:solidFill>
          <a:ln w="8890">
            <a:solidFill>
              <a:srgbClr val="EB6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32688" y="1536192"/>
            <a:ext cx="4617720" cy="274320"/>
          </a:xfrm>
          <a:prstGeom prst="rect">
            <a:avLst/>
          </a:prstGeom>
          <a:noFill/>
        </p:spPr>
        <p:txBody>
          <a:bodyPr wrap="square" lIns="36576" tIns="18288" rIns="36576" bIns="18288">
            <a:spAutoFit/>
          </a:bodyPr>
          <a:lstStyle/>
          <a:p>
            <a:pPr algn="l"/>
            <a:r>
              <a:rPr sz="1500" b="1">
                <a:solidFill>
                  <a:srgbClr val="0F1F38"/>
                </a:solidFill>
                <a:latin typeface="Aptos"/>
              </a:rPr>
              <a:t>Evidence gap</a:t>
            </a:r>
          </a:p>
        </p:txBody>
      </p:sp>
      <p:sp>
        <p:nvSpPr>
          <p:cNvPr id="9" name="TextBox 8"/>
          <p:cNvSpPr txBox="1"/>
          <p:nvPr/>
        </p:nvSpPr>
        <p:spPr>
          <a:xfrm>
            <a:off x="932688" y="1938528"/>
            <a:ext cx="4617720" cy="329184"/>
          </a:xfrm>
          <a:prstGeom prst="rect">
            <a:avLst/>
          </a:prstGeom>
          <a:noFill/>
        </p:spPr>
        <p:txBody>
          <a:bodyPr wrap="square" lIns="36576" tIns="18288" rIns="36576" bIns="18288">
            <a:spAutoFit/>
          </a:bodyPr>
          <a:lstStyle/>
          <a:p>
            <a:pPr algn="l"/>
            <a:r>
              <a:rPr sz="1300" b="0">
                <a:solidFill>
                  <a:srgbClr val="202B38"/>
                </a:solidFill>
                <a:latin typeface="Aptos"/>
              </a:rPr>
              <a:t>No screenshots, measured performance, or evaluation dataset supplied.</a:t>
            </a:r>
          </a:p>
        </p:txBody>
      </p:sp>
      <p:sp>
        <p:nvSpPr>
          <p:cNvPr id="10" name="Rounded Rectangle 9"/>
          <p:cNvSpPr/>
          <p:nvPr/>
        </p:nvSpPr>
        <p:spPr>
          <a:xfrm>
            <a:off x="6263640" y="1371600"/>
            <a:ext cx="4983480" cy="1024128"/>
          </a:xfrm>
          <a:prstGeom prst="round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63640" y="1371600"/>
            <a:ext cx="73152" cy="1024128"/>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64807" y="1536192"/>
            <a:ext cx="4617720" cy="274320"/>
          </a:xfrm>
          <a:prstGeom prst="rect">
            <a:avLst/>
          </a:prstGeom>
          <a:noFill/>
        </p:spPr>
        <p:txBody>
          <a:bodyPr wrap="square" lIns="36576" tIns="18288" rIns="36576" bIns="18288">
            <a:spAutoFit/>
          </a:bodyPr>
          <a:lstStyle/>
          <a:p>
            <a:pPr algn="l"/>
            <a:r>
              <a:rPr sz="1500" b="1">
                <a:solidFill>
                  <a:srgbClr val="0F1F38"/>
                </a:solidFill>
                <a:latin typeface="Aptos"/>
              </a:rPr>
              <a:t>AI dependency</a:t>
            </a:r>
          </a:p>
        </p:txBody>
      </p:sp>
      <p:sp>
        <p:nvSpPr>
          <p:cNvPr id="13" name="TextBox 12"/>
          <p:cNvSpPr txBox="1"/>
          <p:nvPr/>
        </p:nvSpPr>
        <p:spPr>
          <a:xfrm>
            <a:off x="6464807" y="1938528"/>
            <a:ext cx="4617720" cy="329184"/>
          </a:xfrm>
          <a:prstGeom prst="rect">
            <a:avLst/>
          </a:prstGeom>
          <a:noFill/>
        </p:spPr>
        <p:txBody>
          <a:bodyPr wrap="square" lIns="36576" tIns="18288" rIns="36576" bIns="18288">
            <a:spAutoFit/>
          </a:bodyPr>
          <a:lstStyle/>
          <a:p>
            <a:pPr algn="l"/>
            <a:r>
              <a:rPr sz="1300" b="0">
                <a:solidFill>
                  <a:srgbClr val="202B38"/>
                </a:solidFill>
                <a:latin typeface="Aptos"/>
              </a:rPr>
              <a:t>Generation quality depends on the configured external or local LLM provider.</a:t>
            </a:r>
          </a:p>
        </p:txBody>
      </p:sp>
      <p:sp>
        <p:nvSpPr>
          <p:cNvPr id="14" name="Rounded Rectangle 13"/>
          <p:cNvSpPr/>
          <p:nvPr/>
        </p:nvSpPr>
        <p:spPr>
          <a:xfrm>
            <a:off x="731520" y="2788920"/>
            <a:ext cx="4983480" cy="1024128"/>
          </a:xfrm>
          <a:prstGeom prst="round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31520" y="2788920"/>
            <a:ext cx="73152" cy="1024128"/>
          </a:xfrm>
          <a:prstGeom prst="rect">
            <a:avLst/>
          </a:prstGeom>
          <a:solidFill>
            <a:srgbClr val="EDB547"/>
          </a:solidFill>
          <a:ln w="8890">
            <a:solidFill>
              <a:srgbClr val="EDB5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32688" y="2953512"/>
            <a:ext cx="4617720" cy="274320"/>
          </a:xfrm>
          <a:prstGeom prst="rect">
            <a:avLst/>
          </a:prstGeom>
          <a:noFill/>
        </p:spPr>
        <p:txBody>
          <a:bodyPr wrap="square" lIns="36576" tIns="18288" rIns="36576" bIns="18288">
            <a:spAutoFit/>
          </a:bodyPr>
          <a:lstStyle/>
          <a:p>
            <a:pPr algn="l"/>
            <a:r>
              <a:rPr sz="1500" b="1">
                <a:solidFill>
                  <a:srgbClr val="0F1F38"/>
                </a:solidFill>
                <a:latin typeface="Aptos"/>
              </a:rPr>
              <a:t>Processing model</a:t>
            </a:r>
          </a:p>
        </p:txBody>
      </p:sp>
      <p:sp>
        <p:nvSpPr>
          <p:cNvPr id="17" name="TextBox 16"/>
          <p:cNvSpPr txBox="1"/>
          <p:nvPr/>
        </p:nvSpPr>
        <p:spPr>
          <a:xfrm>
            <a:off x="932688" y="3355848"/>
            <a:ext cx="4617720" cy="329184"/>
          </a:xfrm>
          <a:prstGeom prst="rect">
            <a:avLst/>
          </a:prstGeom>
          <a:noFill/>
        </p:spPr>
        <p:txBody>
          <a:bodyPr wrap="square" lIns="36576" tIns="18288" rIns="36576" bIns="18288">
            <a:spAutoFit/>
          </a:bodyPr>
          <a:lstStyle/>
          <a:p>
            <a:pPr algn="l"/>
            <a:r>
              <a:rPr sz="1300" b="0">
                <a:solidFill>
                  <a:srgbClr val="202B38"/>
                </a:solidFill>
                <a:latin typeface="Aptos"/>
              </a:rPr>
              <a:t>FastAPI BackgroundTasks are process-local; durable job orchestration is not shown.</a:t>
            </a:r>
          </a:p>
        </p:txBody>
      </p:sp>
      <p:sp>
        <p:nvSpPr>
          <p:cNvPr id="18" name="Rounded Rectangle 17"/>
          <p:cNvSpPr/>
          <p:nvPr/>
        </p:nvSpPr>
        <p:spPr>
          <a:xfrm>
            <a:off x="6263640" y="2788920"/>
            <a:ext cx="4983480" cy="1024128"/>
          </a:xfrm>
          <a:prstGeom prst="round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63640" y="2788920"/>
            <a:ext cx="73152" cy="1024128"/>
          </a:xfrm>
          <a:prstGeom prst="rect">
            <a:avLst/>
          </a:prstGeom>
          <a:solidFill>
            <a:srgbClr val="EB695B"/>
          </a:solidFill>
          <a:ln w="8890">
            <a:solidFill>
              <a:srgbClr val="EB6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64807" y="2953512"/>
            <a:ext cx="4617720" cy="274320"/>
          </a:xfrm>
          <a:prstGeom prst="rect">
            <a:avLst/>
          </a:prstGeom>
          <a:noFill/>
        </p:spPr>
        <p:txBody>
          <a:bodyPr wrap="square" lIns="36576" tIns="18288" rIns="36576" bIns="18288">
            <a:spAutoFit/>
          </a:bodyPr>
          <a:lstStyle/>
          <a:p>
            <a:pPr algn="l"/>
            <a:r>
              <a:rPr sz="1500" b="1">
                <a:solidFill>
                  <a:srgbClr val="0F1F38"/>
                </a:solidFill>
                <a:latin typeface="Aptos"/>
              </a:rPr>
              <a:t>Scope</a:t>
            </a:r>
          </a:p>
        </p:txBody>
      </p:sp>
      <p:sp>
        <p:nvSpPr>
          <p:cNvPr id="21" name="TextBox 20"/>
          <p:cNvSpPr txBox="1"/>
          <p:nvPr/>
        </p:nvSpPr>
        <p:spPr>
          <a:xfrm>
            <a:off x="6464807" y="3355848"/>
            <a:ext cx="4617720" cy="329184"/>
          </a:xfrm>
          <a:prstGeom prst="rect">
            <a:avLst/>
          </a:prstGeom>
          <a:noFill/>
        </p:spPr>
        <p:txBody>
          <a:bodyPr wrap="square" lIns="36576" tIns="18288" rIns="36576" bIns="18288">
            <a:spAutoFit/>
          </a:bodyPr>
          <a:lstStyle/>
          <a:p>
            <a:pPr algn="l"/>
            <a:r>
              <a:rPr sz="1300" b="0">
                <a:solidFill>
                  <a:srgbClr val="202B38"/>
                </a:solidFill>
                <a:latin typeface="Aptos"/>
              </a:rPr>
              <a:t>Repository documents local Docker development; production deployment is not verified.</a:t>
            </a:r>
          </a:p>
        </p:txBody>
      </p:sp>
      <p:sp>
        <p:nvSpPr>
          <p:cNvPr id="22" name="Rounded Rectangle 21"/>
          <p:cNvSpPr/>
          <p:nvPr/>
        </p:nvSpPr>
        <p:spPr>
          <a:xfrm>
            <a:off x="731520" y="4206240"/>
            <a:ext cx="4983480" cy="1024128"/>
          </a:xfrm>
          <a:prstGeom prst="round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31520" y="4206240"/>
            <a:ext cx="73152" cy="1024128"/>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32688" y="4370831"/>
            <a:ext cx="4617720" cy="274320"/>
          </a:xfrm>
          <a:prstGeom prst="rect">
            <a:avLst/>
          </a:prstGeom>
          <a:noFill/>
        </p:spPr>
        <p:txBody>
          <a:bodyPr wrap="square" lIns="36576" tIns="18288" rIns="36576" bIns="18288">
            <a:spAutoFit/>
          </a:bodyPr>
          <a:lstStyle/>
          <a:p>
            <a:pPr algn="l"/>
            <a:r>
              <a:rPr sz="1500" b="1">
                <a:solidFill>
                  <a:srgbClr val="0F1F38"/>
                </a:solidFill>
                <a:latin typeface="Aptos"/>
              </a:rPr>
              <a:t>Analytics</a:t>
            </a:r>
          </a:p>
        </p:txBody>
      </p:sp>
      <p:sp>
        <p:nvSpPr>
          <p:cNvPr id="25" name="TextBox 24"/>
          <p:cNvSpPr txBox="1"/>
          <p:nvPr/>
        </p:nvSpPr>
        <p:spPr>
          <a:xfrm>
            <a:off x="932688" y="4773168"/>
            <a:ext cx="4617720" cy="329184"/>
          </a:xfrm>
          <a:prstGeom prst="rect">
            <a:avLst/>
          </a:prstGeom>
          <a:noFill/>
        </p:spPr>
        <p:txBody>
          <a:bodyPr wrap="square" lIns="36576" tIns="18288" rIns="36576" bIns="18288">
            <a:spAutoFit/>
          </a:bodyPr>
          <a:lstStyle/>
          <a:p>
            <a:pPr algn="l"/>
            <a:r>
              <a:rPr sz="1300" b="0">
                <a:solidFill>
                  <a:srgbClr val="202B38"/>
                </a:solidFill>
                <a:latin typeface="Aptos"/>
              </a:rPr>
              <a:t>Progress is activity-based and no learning-effectiveness study is included.</a:t>
            </a:r>
          </a:p>
        </p:txBody>
      </p:sp>
      <p:sp>
        <p:nvSpPr>
          <p:cNvPr id="26" name="Rounded Rectangle 25"/>
          <p:cNvSpPr/>
          <p:nvPr/>
        </p:nvSpPr>
        <p:spPr>
          <a:xfrm>
            <a:off x="6263640" y="4206240"/>
            <a:ext cx="4983480" cy="1024128"/>
          </a:xfrm>
          <a:prstGeom prst="round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263640" y="4206240"/>
            <a:ext cx="73152" cy="1024128"/>
          </a:xfrm>
          <a:prstGeom prst="rect">
            <a:avLst/>
          </a:prstGeom>
          <a:solidFill>
            <a:srgbClr val="EDB547"/>
          </a:solidFill>
          <a:ln w="8890">
            <a:solidFill>
              <a:srgbClr val="EDB5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64807" y="4370831"/>
            <a:ext cx="4617720" cy="274320"/>
          </a:xfrm>
          <a:prstGeom prst="rect">
            <a:avLst/>
          </a:prstGeom>
          <a:noFill/>
        </p:spPr>
        <p:txBody>
          <a:bodyPr wrap="square" lIns="36576" tIns="18288" rIns="36576" bIns="18288">
            <a:spAutoFit/>
          </a:bodyPr>
          <a:lstStyle/>
          <a:p>
            <a:pPr algn="l"/>
            <a:r>
              <a:rPr sz="1500" b="1">
                <a:solidFill>
                  <a:srgbClr val="0F1F38"/>
                </a:solidFill>
                <a:latin typeface="Aptos"/>
              </a:rPr>
              <a:t>Documentation mismatch</a:t>
            </a:r>
          </a:p>
        </p:txBody>
      </p:sp>
      <p:sp>
        <p:nvSpPr>
          <p:cNvPr id="29" name="TextBox 28"/>
          <p:cNvSpPr txBox="1"/>
          <p:nvPr/>
        </p:nvSpPr>
        <p:spPr>
          <a:xfrm>
            <a:off x="6464807" y="4773168"/>
            <a:ext cx="4617720" cy="329184"/>
          </a:xfrm>
          <a:prstGeom prst="rect">
            <a:avLst/>
          </a:prstGeom>
          <a:noFill/>
        </p:spPr>
        <p:txBody>
          <a:bodyPr wrap="square" lIns="36576" tIns="18288" rIns="36576" bIns="18288">
            <a:spAutoFit/>
          </a:bodyPr>
          <a:lstStyle/>
          <a:p>
            <a:pPr algn="l"/>
            <a:r>
              <a:rPr sz="1300" b="0">
                <a:solidFill>
                  <a:srgbClr val="202B38"/>
                </a:solidFill>
                <a:latin typeface="Aptos"/>
              </a:rPr>
              <a:t>README sketch says 10 tables; initial migration defines 11.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47472"/>
            <a:ext cx="4114800" cy="228600"/>
          </a:xfrm>
          <a:prstGeom prst="rect">
            <a:avLst/>
          </a:prstGeom>
          <a:noFill/>
        </p:spPr>
        <p:txBody>
          <a:bodyPr wrap="square" lIns="36576" tIns="18288" rIns="36576" bIns="18288">
            <a:spAutoFit/>
          </a:bodyPr>
          <a:lstStyle/>
          <a:p>
            <a:pPr algn="l"/>
            <a:r>
              <a:rPr sz="900" b="1">
                <a:solidFill>
                  <a:srgbClr val="009196"/>
                </a:solidFill>
                <a:latin typeface="Aptos"/>
              </a:rPr>
              <a:t>PROJECT DEFENSE</a:t>
            </a:r>
          </a:p>
        </p:txBody>
      </p:sp>
      <p:sp>
        <p:nvSpPr>
          <p:cNvPr id="4" name="TextBox 3"/>
          <p:cNvSpPr txBox="1"/>
          <p:nvPr/>
        </p:nvSpPr>
        <p:spPr>
          <a:xfrm>
            <a:off x="502920" y="658368"/>
            <a:ext cx="10881360" cy="502920"/>
          </a:xfrm>
          <a:prstGeom prst="rect">
            <a:avLst/>
          </a:prstGeom>
          <a:noFill/>
        </p:spPr>
        <p:txBody>
          <a:bodyPr wrap="square" lIns="36576" tIns="18288" rIns="36576" bIns="18288">
            <a:spAutoFit/>
          </a:bodyPr>
          <a:lstStyle/>
          <a:p>
            <a:pPr algn="l"/>
            <a:r>
              <a:rPr sz="2700" b="1">
                <a:solidFill>
                  <a:srgbClr val="0F1F38"/>
                </a:solidFill>
                <a:latin typeface="Aptos"/>
              </a:rPr>
              <a:t>Future Scope</a:t>
            </a:r>
          </a:p>
        </p:txBody>
      </p:sp>
      <p:sp>
        <p:nvSpPr>
          <p:cNvPr id="5" name="TextBox 4"/>
          <p:cNvSpPr txBox="1"/>
          <p:nvPr/>
        </p:nvSpPr>
        <p:spPr>
          <a:xfrm>
            <a:off x="11201400" y="6473952"/>
            <a:ext cx="457200" cy="182880"/>
          </a:xfrm>
          <a:prstGeom prst="rect">
            <a:avLst/>
          </a:prstGeom>
          <a:noFill/>
        </p:spPr>
        <p:txBody>
          <a:bodyPr wrap="square" lIns="36576" tIns="18288" rIns="36576" bIns="18288">
            <a:spAutoFit/>
          </a:bodyPr>
          <a:lstStyle/>
          <a:p>
            <a:pPr algn="r"/>
            <a:r>
              <a:rPr sz="900" b="1">
                <a:solidFill>
                  <a:srgbClr val="5D6C7D"/>
                </a:solidFill>
                <a:latin typeface="Aptos"/>
              </a:rPr>
              <a:t>20</a:t>
            </a:r>
          </a:p>
        </p:txBody>
      </p:sp>
      <p:sp>
        <p:nvSpPr>
          <p:cNvPr id="6" name="Rounded Rectangle 5"/>
          <p:cNvSpPr/>
          <p:nvPr/>
        </p:nvSpPr>
        <p:spPr>
          <a:xfrm>
            <a:off x="731520" y="1371600"/>
            <a:ext cx="3383280" cy="4069080"/>
          </a:xfrm>
          <a:prstGeom prst="roundRect">
            <a:avLst/>
          </a:prstGeom>
          <a:solidFill>
            <a:srgbClr val="E1F6F5"/>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371600"/>
            <a:ext cx="73152" cy="4069080"/>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32688" y="1536192"/>
            <a:ext cx="3017520" cy="274320"/>
          </a:xfrm>
          <a:prstGeom prst="rect">
            <a:avLst/>
          </a:prstGeom>
          <a:noFill/>
        </p:spPr>
        <p:txBody>
          <a:bodyPr wrap="square" lIns="36576" tIns="18288" rIns="36576" bIns="18288">
            <a:spAutoFit/>
          </a:bodyPr>
          <a:lstStyle/>
          <a:p>
            <a:pPr algn="l"/>
            <a:r>
              <a:rPr sz="1500" b="1">
                <a:solidFill>
                  <a:srgbClr val="0F1F38"/>
                </a:solidFill>
                <a:latin typeface="Aptos"/>
              </a:rPr>
              <a:t>Short-term</a:t>
            </a:r>
          </a:p>
        </p:txBody>
      </p:sp>
      <p:sp>
        <p:nvSpPr>
          <p:cNvPr id="9" name="TextBox 8"/>
          <p:cNvSpPr txBox="1"/>
          <p:nvPr/>
        </p:nvSpPr>
        <p:spPr>
          <a:xfrm>
            <a:off x="932688" y="1938528"/>
            <a:ext cx="3017520" cy="3374136"/>
          </a:xfrm>
          <a:prstGeom prst="rect">
            <a:avLst/>
          </a:prstGeom>
          <a:noFill/>
        </p:spPr>
        <p:txBody>
          <a:bodyPr wrap="square" lIns="36576" tIns="18288" rIns="36576" bIns="18288">
            <a:spAutoFit/>
          </a:bodyPr>
          <a:lstStyle/>
          <a:p>
            <a:pPr algn="l"/>
            <a:r>
              <a:rPr sz="1500" b="0">
                <a:solidFill>
                  <a:srgbClr val="202B38"/>
                </a:solidFill>
                <a:latin typeface="Aptos"/>
              </a:rPr>
              <a:t>- Add route-level integration tests
- Capture UI and output evidence
- Reconcile schema documentation
- Add richer profile data validation
- Improve document error reporting</a:t>
            </a:r>
          </a:p>
        </p:txBody>
      </p:sp>
      <p:sp>
        <p:nvSpPr>
          <p:cNvPr id="10" name="Rounded Rectangle 9"/>
          <p:cNvSpPr/>
          <p:nvPr/>
        </p:nvSpPr>
        <p:spPr>
          <a:xfrm>
            <a:off x="4434840" y="1371600"/>
            <a:ext cx="3383280" cy="4069080"/>
          </a:xfrm>
          <a:prstGeom prst="roundRect">
            <a:avLst/>
          </a:prstGeom>
          <a:solidFill>
            <a:srgbClr val="FFF6DC"/>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434840" y="1371600"/>
            <a:ext cx="73152" cy="4069080"/>
          </a:xfrm>
          <a:prstGeom prst="rect">
            <a:avLst/>
          </a:prstGeom>
          <a:solidFill>
            <a:srgbClr val="EDB547"/>
          </a:solidFill>
          <a:ln w="8890">
            <a:solidFill>
              <a:srgbClr val="EDB5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36007" y="1536192"/>
            <a:ext cx="3017520" cy="274320"/>
          </a:xfrm>
          <a:prstGeom prst="rect">
            <a:avLst/>
          </a:prstGeom>
          <a:noFill/>
        </p:spPr>
        <p:txBody>
          <a:bodyPr wrap="square" lIns="36576" tIns="18288" rIns="36576" bIns="18288">
            <a:spAutoFit/>
          </a:bodyPr>
          <a:lstStyle/>
          <a:p>
            <a:pPr algn="l"/>
            <a:r>
              <a:rPr sz="1500" b="1">
                <a:solidFill>
                  <a:srgbClr val="0F1F38"/>
                </a:solidFill>
                <a:latin typeface="Aptos"/>
              </a:rPr>
              <a:t>Medium-term</a:t>
            </a:r>
          </a:p>
        </p:txBody>
      </p:sp>
      <p:sp>
        <p:nvSpPr>
          <p:cNvPr id="13" name="TextBox 12"/>
          <p:cNvSpPr txBox="1"/>
          <p:nvPr/>
        </p:nvSpPr>
        <p:spPr>
          <a:xfrm>
            <a:off x="4636007" y="1938528"/>
            <a:ext cx="3017520" cy="3374136"/>
          </a:xfrm>
          <a:prstGeom prst="rect">
            <a:avLst/>
          </a:prstGeom>
          <a:noFill/>
        </p:spPr>
        <p:txBody>
          <a:bodyPr wrap="square" lIns="36576" tIns="18288" rIns="36576" bIns="18288">
            <a:spAutoFit/>
          </a:bodyPr>
          <a:lstStyle/>
          <a:p>
            <a:pPr algn="l"/>
            <a:r>
              <a:rPr sz="1500" b="0">
                <a:solidFill>
                  <a:srgbClr val="202B38"/>
                </a:solidFill>
                <a:latin typeface="Aptos"/>
              </a:rPr>
              <a:t>- Durable background job queue
- Conversation history persistence
- Better topic extraction and tagging
- Expanded analytics visualizations
- Export of summaries and study plans</a:t>
            </a:r>
          </a:p>
        </p:txBody>
      </p:sp>
      <p:sp>
        <p:nvSpPr>
          <p:cNvPr id="14" name="Rounded Rectangle 13"/>
          <p:cNvSpPr/>
          <p:nvPr/>
        </p:nvSpPr>
        <p:spPr>
          <a:xfrm>
            <a:off x="8138160" y="1371600"/>
            <a:ext cx="3383280" cy="4069080"/>
          </a:xfrm>
          <a:prstGeom prst="roundRect">
            <a:avLst/>
          </a:prstGeom>
          <a:solidFill>
            <a:srgbClr val="FDEBE8"/>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38160" y="1371600"/>
            <a:ext cx="73152" cy="4069080"/>
          </a:xfrm>
          <a:prstGeom prst="rect">
            <a:avLst/>
          </a:prstGeom>
          <a:solidFill>
            <a:srgbClr val="EB695B"/>
          </a:solidFill>
          <a:ln w="8890">
            <a:solidFill>
              <a:srgbClr val="EB6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39328" y="1536192"/>
            <a:ext cx="3017520" cy="274320"/>
          </a:xfrm>
          <a:prstGeom prst="rect">
            <a:avLst/>
          </a:prstGeom>
          <a:noFill/>
        </p:spPr>
        <p:txBody>
          <a:bodyPr wrap="square" lIns="36576" tIns="18288" rIns="36576" bIns="18288">
            <a:spAutoFit/>
          </a:bodyPr>
          <a:lstStyle/>
          <a:p>
            <a:pPr algn="l"/>
            <a:r>
              <a:rPr sz="1500" b="1">
                <a:solidFill>
                  <a:srgbClr val="0F1F38"/>
                </a:solidFill>
                <a:latin typeface="Aptos"/>
              </a:rPr>
              <a:t>Long-term</a:t>
            </a:r>
          </a:p>
        </p:txBody>
      </p:sp>
      <p:sp>
        <p:nvSpPr>
          <p:cNvPr id="17" name="TextBox 16"/>
          <p:cNvSpPr txBox="1"/>
          <p:nvPr/>
        </p:nvSpPr>
        <p:spPr>
          <a:xfrm>
            <a:off x="8339328" y="1938528"/>
            <a:ext cx="3017520" cy="3374136"/>
          </a:xfrm>
          <a:prstGeom prst="rect">
            <a:avLst/>
          </a:prstGeom>
          <a:noFill/>
        </p:spPr>
        <p:txBody>
          <a:bodyPr wrap="square" lIns="36576" tIns="18288" rIns="36576" bIns="18288">
            <a:spAutoFit/>
          </a:bodyPr>
          <a:lstStyle/>
          <a:p>
            <a:pPr algn="l"/>
            <a:r>
              <a:rPr sz="1500" b="0">
                <a:solidFill>
                  <a:srgbClr val="202B38"/>
                </a:solidFill>
                <a:latin typeface="Aptos"/>
              </a:rPr>
              <a:t>- Production deployment and observability
- Provider-level privacy controls
- Multi-device experience
- Evaluation of learning outcomes
- Scale and reliability engineering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47472"/>
            <a:ext cx="4114800" cy="228600"/>
          </a:xfrm>
          <a:prstGeom prst="rect">
            <a:avLst/>
          </a:prstGeom>
          <a:noFill/>
        </p:spPr>
        <p:txBody>
          <a:bodyPr wrap="square" lIns="36576" tIns="18288" rIns="36576" bIns="18288">
            <a:spAutoFit/>
          </a:bodyPr>
          <a:lstStyle/>
          <a:p>
            <a:pPr algn="l"/>
            <a:r>
              <a:rPr sz="900" b="1">
                <a:solidFill>
                  <a:srgbClr val="009196"/>
                </a:solidFill>
                <a:latin typeface="Aptos"/>
              </a:rPr>
              <a:t>PROJECT DEFENSE</a:t>
            </a:r>
          </a:p>
        </p:txBody>
      </p:sp>
      <p:sp>
        <p:nvSpPr>
          <p:cNvPr id="4" name="TextBox 3"/>
          <p:cNvSpPr txBox="1"/>
          <p:nvPr/>
        </p:nvSpPr>
        <p:spPr>
          <a:xfrm>
            <a:off x="502920" y="658368"/>
            <a:ext cx="10881360" cy="502920"/>
          </a:xfrm>
          <a:prstGeom prst="rect">
            <a:avLst/>
          </a:prstGeom>
          <a:noFill/>
        </p:spPr>
        <p:txBody>
          <a:bodyPr wrap="square" lIns="36576" tIns="18288" rIns="36576" bIns="18288">
            <a:spAutoFit/>
          </a:bodyPr>
          <a:lstStyle/>
          <a:p>
            <a:pPr algn="l"/>
            <a:r>
              <a:rPr sz="2700" b="1">
                <a:solidFill>
                  <a:srgbClr val="0F1F38"/>
                </a:solidFill>
                <a:latin typeface="Aptos"/>
              </a:rPr>
              <a:t>Project Contribution and Learning</a:t>
            </a:r>
          </a:p>
        </p:txBody>
      </p:sp>
      <p:sp>
        <p:nvSpPr>
          <p:cNvPr id="5" name="TextBox 4"/>
          <p:cNvSpPr txBox="1"/>
          <p:nvPr/>
        </p:nvSpPr>
        <p:spPr>
          <a:xfrm>
            <a:off x="11201400" y="6473952"/>
            <a:ext cx="457200" cy="182880"/>
          </a:xfrm>
          <a:prstGeom prst="rect">
            <a:avLst/>
          </a:prstGeom>
          <a:noFill/>
        </p:spPr>
        <p:txBody>
          <a:bodyPr wrap="square" lIns="36576" tIns="18288" rIns="36576" bIns="18288">
            <a:spAutoFit/>
          </a:bodyPr>
          <a:lstStyle/>
          <a:p>
            <a:pPr algn="r"/>
            <a:r>
              <a:rPr sz="900" b="1">
                <a:solidFill>
                  <a:srgbClr val="5D6C7D"/>
                </a:solidFill>
                <a:latin typeface="Aptos"/>
              </a:rPr>
              <a:t>21</a:t>
            </a:r>
          </a:p>
        </p:txBody>
      </p:sp>
      <p:sp>
        <p:nvSpPr>
          <p:cNvPr id="6" name="TextBox 5"/>
          <p:cNvSpPr txBox="1"/>
          <p:nvPr/>
        </p:nvSpPr>
        <p:spPr>
          <a:xfrm>
            <a:off x="731520" y="1325880"/>
            <a:ext cx="10607040" cy="411480"/>
          </a:xfrm>
          <a:prstGeom prst="rect">
            <a:avLst/>
          </a:prstGeom>
          <a:noFill/>
        </p:spPr>
        <p:txBody>
          <a:bodyPr wrap="square" lIns="36576" tIns="18288" rIns="36576" bIns="18288">
            <a:spAutoFit/>
          </a:bodyPr>
          <a:lstStyle/>
          <a:p>
            <a:pPr algn="l"/>
            <a:r>
              <a:rPr sz="1700" b="1">
                <a:solidFill>
                  <a:srgbClr val="EB695B"/>
                </a:solidFill>
                <a:latin typeface="Aptos"/>
              </a:rPr>
              <a:t>[Information Required] Replace this slide with the student's verified individual contribution and learning reflection.</a:t>
            </a:r>
          </a:p>
        </p:txBody>
      </p:sp>
      <p:sp>
        <p:nvSpPr>
          <p:cNvPr id="7" name="Rounded Rectangle 6"/>
          <p:cNvSpPr/>
          <p:nvPr/>
        </p:nvSpPr>
        <p:spPr>
          <a:xfrm>
            <a:off x="731520" y="2148840"/>
            <a:ext cx="3337560" cy="2560320"/>
          </a:xfrm>
          <a:prstGeom prst="roundRect">
            <a:avLst/>
          </a:prstGeom>
          <a:solidFill>
            <a:srgbClr val="E1F6F5"/>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2148840"/>
            <a:ext cx="73152" cy="2560320"/>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2313432"/>
            <a:ext cx="2971800" cy="274320"/>
          </a:xfrm>
          <a:prstGeom prst="rect">
            <a:avLst/>
          </a:prstGeom>
          <a:noFill/>
        </p:spPr>
        <p:txBody>
          <a:bodyPr wrap="square" lIns="36576" tIns="18288" rIns="36576" bIns="18288">
            <a:spAutoFit/>
          </a:bodyPr>
          <a:lstStyle/>
          <a:p>
            <a:pPr algn="l"/>
            <a:r>
              <a:rPr sz="1500" b="1">
                <a:solidFill>
                  <a:srgbClr val="0F1F38"/>
                </a:solidFill>
                <a:latin typeface="Aptos"/>
              </a:rPr>
              <a:t>Technical areas evidenced</a:t>
            </a:r>
          </a:p>
        </p:txBody>
      </p:sp>
      <p:sp>
        <p:nvSpPr>
          <p:cNvPr id="10" name="TextBox 9"/>
          <p:cNvSpPr txBox="1"/>
          <p:nvPr/>
        </p:nvSpPr>
        <p:spPr>
          <a:xfrm>
            <a:off x="932688" y="2715768"/>
            <a:ext cx="2971800" cy="1865376"/>
          </a:xfrm>
          <a:prstGeom prst="rect">
            <a:avLst/>
          </a:prstGeom>
          <a:noFill/>
        </p:spPr>
        <p:txBody>
          <a:bodyPr wrap="square" lIns="36576" tIns="18288" rIns="36576" bIns="18288">
            <a:spAutoFit/>
          </a:bodyPr>
          <a:lstStyle/>
          <a:p>
            <a:pPr algn="l"/>
            <a:r>
              <a:rPr sz="1500" b="0">
                <a:solidFill>
                  <a:srgbClr val="202B38"/>
                </a:solidFill>
                <a:latin typeface="Aptos"/>
              </a:rPr>
              <a:t>Async API design
Relational schema and migrations
Browser-to-API integration
LLM prompt integration
Testing and input validation</a:t>
            </a:r>
          </a:p>
        </p:txBody>
      </p:sp>
      <p:sp>
        <p:nvSpPr>
          <p:cNvPr id="11" name="Rounded Rectangle 10"/>
          <p:cNvSpPr/>
          <p:nvPr/>
        </p:nvSpPr>
        <p:spPr>
          <a:xfrm>
            <a:off x="4434840" y="2148840"/>
            <a:ext cx="3337560" cy="2560320"/>
          </a:xfrm>
          <a:prstGeom prst="roundRect">
            <a:avLst/>
          </a:prstGeom>
          <a:solidFill>
            <a:srgbClr val="FFF6DC"/>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34840" y="2148840"/>
            <a:ext cx="73152" cy="2560320"/>
          </a:xfrm>
          <a:prstGeom prst="rect">
            <a:avLst/>
          </a:prstGeom>
          <a:solidFill>
            <a:srgbClr val="EDB547"/>
          </a:solidFill>
          <a:ln w="8890">
            <a:solidFill>
              <a:srgbClr val="EDB5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36007" y="2313432"/>
            <a:ext cx="2971800" cy="274320"/>
          </a:xfrm>
          <a:prstGeom prst="rect">
            <a:avLst/>
          </a:prstGeom>
          <a:noFill/>
        </p:spPr>
        <p:txBody>
          <a:bodyPr wrap="square" lIns="36576" tIns="18288" rIns="36576" bIns="18288">
            <a:spAutoFit/>
          </a:bodyPr>
          <a:lstStyle/>
          <a:p>
            <a:pPr algn="l"/>
            <a:r>
              <a:rPr sz="1500" b="1">
                <a:solidFill>
                  <a:srgbClr val="0F1F38"/>
                </a:solidFill>
                <a:latin typeface="Aptos"/>
              </a:rPr>
              <a:t>Engineering practices</a:t>
            </a:r>
          </a:p>
        </p:txBody>
      </p:sp>
      <p:sp>
        <p:nvSpPr>
          <p:cNvPr id="14" name="TextBox 13"/>
          <p:cNvSpPr txBox="1"/>
          <p:nvPr/>
        </p:nvSpPr>
        <p:spPr>
          <a:xfrm>
            <a:off x="4636007" y="2715768"/>
            <a:ext cx="2971800" cy="1865376"/>
          </a:xfrm>
          <a:prstGeom prst="rect">
            <a:avLst/>
          </a:prstGeom>
          <a:noFill/>
        </p:spPr>
        <p:txBody>
          <a:bodyPr wrap="square" lIns="36576" tIns="18288" rIns="36576" bIns="18288">
            <a:spAutoFit/>
          </a:bodyPr>
          <a:lstStyle/>
          <a:p>
            <a:pPr algn="l"/>
            <a:r>
              <a:rPr sz="1500" b="0">
                <a:solidFill>
                  <a:srgbClr val="202B38"/>
                </a:solidFill>
                <a:latin typeface="Aptos"/>
              </a:rPr>
              <a:t>Separation of routes and services
User-scoped resources
Structured error responses
Configuration through environment variables
Docker-based local setup</a:t>
            </a:r>
          </a:p>
        </p:txBody>
      </p:sp>
      <p:sp>
        <p:nvSpPr>
          <p:cNvPr id="15" name="Rounded Rectangle 14"/>
          <p:cNvSpPr/>
          <p:nvPr/>
        </p:nvSpPr>
        <p:spPr>
          <a:xfrm>
            <a:off x="8138160" y="2148840"/>
            <a:ext cx="3337560" cy="2560320"/>
          </a:xfrm>
          <a:prstGeom prst="roundRect">
            <a:avLst/>
          </a:prstGeom>
          <a:solidFill>
            <a:srgbClr val="FDEBE8"/>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38160" y="2148840"/>
            <a:ext cx="73152" cy="2560320"/>
          </a:xfrm>
          <a:prstGeom prst="rect">
            <a:avLst/>
          </a:prstGeom>
          <a:solidFill>
            <a:srgbClr val="EB695B"/>
          </a:solidFill>
          <a:ln w="8890">
            <a:solidFill>
              <a:srgbClr val="EB6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39328" y="2313432"/>
            <a:ext cx="2971800" cy="274320"/>
          </a:xfrm>
          <a:prstGeom prst="rect">
            <a:avLst/>
          </a:prstGeom>
          <a:noFill/>
        </p:spPr>
        <p:txBody>
          <a:bodyPr wrap="square" lIns="36576" tIns="18288" rIns="36576" bIns="18288">
            <a:spAutoFit/>
          </a:bodyPr>
          <a:lstStyle/>
          <a:p>
            <a:pPr algn="l"/>
            <a:r>
              <a:rPr sz="1500" b="1">
                <a:solidFill>
                  <a:srgbClr val="0F1F38"/>
                </a:solidFill>
                <a:latin typeface="Aptos"/>
              </a:rPr>
              <a:t>Add before submission</a:t>
            </a:r>
          </a:p>
        </p:txBody>
      </p:sp>
      <p:sp>
        <p:nvSpPr>
          <p:cNvPr id="18" name="TextBox 17"/>
          <p:cNvSpPr txBox="1"/>
          <p:nvPr/>
        </p:nvSpPr>
        <p:spPr>
          <a:xfrm>
            <a:off x="8339328" y="2715768"/>
            <a:ext cx="2971800" cy="1865376"/>
          </a:xfrm>
          <a:prstGeom prst="rect">
            <a:avLst/>
          </a:prstGeom>
          <a:noFill/>
        </p:spPr>
        <p:txBody>
          <a:bodyPr wrap="square" lIns="36576" tIns="18288" rIns="36576" bIns="18288">
            <a:spAutoFit/>
          </a:bodyPr>
          <a:lstStyle/>
          <a:p>
            <a:pPr algn="l"/>
            <a:r>
              <a:rPr sz="1500" b="0">
                <a:solidFill>
                  <a:srgbClr val="202B38"/>
                </a:solidFill>
                <a:latin typeface="Aptos"/>
              </a:rPr>
              <a:t>Student role / module ownership
Challenges encountered
Decisions defended
Skills learned
Team contribution split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47472"/>
            <a:ext cx="4114800" cy="228600"/>
          </a:xfrm>
          <a:prstGeom prst="rect">
            <a:avLst/>
          </a:prstGeom>
          <a:noFill/>
        </p:spPr>
        <p:txBody>
          <a:bodyPr wrap="square" lIns="36576" tIns="18288" rIns="36576" bIns="18288">
            <a:spAutoFit/>
          </a:bodyPr>
          <a:lstStyle/>
          <a:p>
            <a:pPr algn="l"/>
            <a:r>
              <a:rPr sz="900" b="1">
                <a:solidFill>
                  <a:srgbClr val="009196"/>
                </a:solidFill>
                <a:latin typeface="Aptos"/>
              </a:rPr>
              <a:t>PROJECT DEFENSE</a:t>
            </a:r>
          </a:p>
        </p:txBody>
      </p:sp>
      <p:sp>
        <p:nvSpPr>
          <p:cNvPr id="4" name="TextBox 3"/>
          <p:cNvSpPr txBox="1"/>
          <p:nvPr/>
        </p:nvSpPr>
        <p:spPr>
          <a:xfrm>
            <a:off x="502920" y="658368"/>
            <a:ext cx="10881360" cy="502920"/>
          </a:xfrm>
          <a:prstGeom prst="rect">
            <a:avLst/>
          </a:prstGeom>
          <a:noFill/>
        </p:spPr>
        <p:txBody>
          <a:bodyPr wrap="square" lIns="36576" tIns="18288" rIns="36576" bIns="18288">
            <a:spAutoFit/>
          </a:bodyPr>
          <a:lstStyle/>
          <a:p>
            <a:pPr algn="l"/>
            <a:r>
              <a:rPr sz="2700" b="1">
                <a:solidFill>
                  <a:srgbClr val="0F1F38"/>
                </a:solidFill>
                <a:latin typeface="Aptos"/>
              </a:rPr>
              <a:t>Conclusion</a:t>
            </a:r>
          </a:p>
        </p:txBody>
      </p:sp>
      <p:sp>
        <p:nvSpPr>
          <p:cNvPr id="5" name="TextBox 4"/>
          <p:cNvSpPr txBox="1"/>
          <p:nvPr/>
        </p:nvSpPr>
        <p:spPr>
          <a:xfrm>
            <a:off x="11201400" y="6473952"/>
            <a:ext cx="457200" cy="182880"/>
          </a:xfrm>
          <a:prstGeom prst="rect">
            <a:avLst/>
          </a:prstGeom>
          <a:noFill/>
        </p:spPr>
        <p:txBody>
          <a:bodyPr wrap="square" lIns="36576" tIns="18288" rIns="36576" bIns="18288">
            <a:spAutoFit/>
          </a:bodyPr>
          <a:lstStyle/>
          <a:p>
            <a:pPr algn="r"/>
            <a:r>
              <a:rPr sz="900" b="1">
                <a:solidFill>
                  <a:srgbClr val="5D6C7D"/>
                </a:solidFill>
                <a:latin typeface="Aptos"/>
              </a:rPr>
              <a:t>22</a:t>
            </a:r>
          </a:p>
        </p:txBody>
      </p:sp>
      <p:sp>
        <p:nvSpPr>
          <p:cNvPr id="6" name="TextBox 5"/>
          <p:cNvSpPr txBox="1"/>
          <p:nvPr/>
        </p:nvSpPr>
        <p:spPr>
          <a:xfrm>
            <a:off x="731520" y="1325880"/>
            <a:ext cx="10515600" cy="457200"/>
          </a:xfrm>
          <a:prstGeom prst="rect">
            <a:avLst/>
          </a:prstGeom>
          <a:noFill/>
        </p:spPr>
        <p:txBody>
          <a:bodyPr wrap="square" lIns="36576" tIns="18288" rIns="36576" bIns="18288">
            <a:spAutoFit/>
          </a:bodyPr>
          <a:lstStyle/>
          <a:p>
            <a:pPr algn="l"/>
            <a:r>
              <a:rPr sz="2400" b="1">
                <a:solidFill>
                  <a:srgbClr val="0F1F38"/>
                </a:solidFill>
                <a:latin typeface="Aptos"/>
              </a:rPr>
              <a:t>Study Buddy implements a connected study workflow around a student's own material.</a:t>
            </a:r>
          </a:p>
        </p:txBody>
      </p:sp>
      <p:sp>
        <p:nvSpPr>
          <p:cNvPr id="7" name="Rounded Rectangle 6"/>
          <p:cNvSpPr/>
          <p:nvPr/>
        </p:nvSpPr>
        <p:spPr>
          <a:xfrm>
            <a:off x="914400" y="2240280"/>
            <a:ext cx="10241280" cy="566928"/>
          </a:xfrm>
          <a:prstGeom prst="round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3000" y="2395728"/>
            <a:ext cx="2103120" cy="201168"/>
          </a:xfrm>
          <a:prstGeom prst="rect">
            <a:avLst/>
          </a:prstGeom>
          <a:noFill/>
        </p:spPr>
        <p:txBody>
          <a:bodyPr wrap="square" lIns="36576" tIns="18288" rIns="36576" bIns="18288">
            <a:spAutoFit/>
          </a:bodyPr>
          <a:lstStyle/>
          <a:p>
            <a:pPr algn="l"/>
            <a:r>
              <a:rPr sz="1300" b="1">
                <a:solidFill>
                  <a:srgbClr val="EB695B"/>
                </a:solidFill>
                <a:latin typeface="Aptos"/>
              </a:rPr>
              <a:t>Problem addressed</a:t>
            </a:r>
          </a:p>
        </p:txBody>
      </p:sp>
      <p:sp>
        <p:nvSpPr>
          <p:cNvPr id="9" name="TextBox 8"/>
          <p:cNvSpPr txBox="1"/>
          <p:nvPr/>
        </p:nvSpPr>
        <p:spPr>
          <a:xfrm>
            <a:off x="3474720" y="2377440"/>
            <a:ext cx="7223760" cy="228600"/>
          </a:xfrm>
          <a:prstGeom prst="rect">
            <a:avLst/>
          </a:prstGeom>
          <a:noFill/>
        </p:spPr>
        <p:txBody>
          <a:bodyPr wrap="square" lIns="36576" tIns="18288" rIns="36576" bIns="18288">
            <a:spAutoFit/>
          </a:bodyPr>
          <a:lstStyle/>
          <a:p>
            <a:pPr algn="l"/>
            <a:r>
              <a:rPr sz="1500" b="1">
                <a:solidFill>
                  <a:srgbClr val="202B38"/>
                </a:solidFill>
                <a:latin typeface="Aptos"/>
              </a:rPr>
              <a:t>Fragmented preparation and practice workflow</a:t>
            </a:r>
          </a:p>
        </p:txBody>
      </p:sp>
      <p:sp>
        <p:nvSpPr>
          <p:cNvPr id="10" name="Rounded Rectangle 9"/>
          <p:cNvSpPr/>
          <p:nvPr/>
        </p:nvSpPr>
        <p:spPr>
          <a:xfrm>
            <a:off x="914400" y="2990088"/>
            <a:ext cx="10241280" cy="566928"/>
          </a:xfrm>
          <a:prstGeom prst="round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43000" y="3145536"/>
            <a:ext cx="2103120" cy="201168"/>
          </a:xfrm>
          <a:prstGeom prst="rect">
            <a:avLst/>
          </a:prstGeom>
          <a:noFill/>
        </p:spPr>
        <p:txBody>
          <a:bodyPr wrap="square" lIns="36576" tIns="18288" rIns="36576" bIns="18288">
            <a:spAutoFit/>
          </a:bodyPr>
          <a:lstStyle/>
          <a:p>
            <a:pPr algn="l"/>
            <a:r>
              <a:rPr sz="1300" b="1">
                <a:solidFill>
                  <a:srgbClr val="009196"/>
                </a:solidFill>
                <a:latin typeface="Aptos"/>
              </a:rPr>
              <a:t>System delivered</a:t>
            </a:r>
          </a:p>
        </p:txBody>
      </p:sp>
      <p:sp>
        <p:nvSpPr>
          <p:cNvPr id="12" name="TextBox 11"/>
          <p:cNvSpPr txBox="1"/>
          <p:nvPr/>
        </p:nvSpPr>
        <p:spPr>
          <a:xfrm>
            <a:off x="3474720" y="3127248"/>
            <a:ext cx="7223760" cy="228600"/>
          </a:xfrm>
          <a:prstGeom prst="rect">
            <a:avLst/>
          </a:prstGeom>
          <a:noFill/>
        </p:spPr>
        <p:txBody>
          <a:bodyPr wrap="square" lIns="36576" tIns="18288" rIns="36576" bIns="18288">
            <a:spAutoFit/>
          </a:bodyPr>
          <a:lstStyle/>
          <a:p>
            <a:pPr algn="l"/>
            <a:r>
              <a:rPr sz="1500" b="1">
                <a:solidFill>
                  <a:srgbClr val="202B38"/>
                </a:solidFill>
                <a:latin typeface="Aptos"/>
              </a:rPr>
              <a:t>Authenticated full-stack learning assistant</a:t>
            </a:r>
          </a:p>
        </p:txBody>
      </p:sp>
      <p:sp>
        <p:nvSpPr>
          <p:cNvPr id="13" name="Rounded Rectangle 12"/>
          <p:cNvSpPr/>
          <p:nvPr/>
        </p:nvSpPr>
        <p:spPr>
          <a:xfrm>
            <a:off x="914400" y="3739896"/>
            <a:ext cx="10241280" cy="566928"/>
          </a:xfrm>
          <a:prstGeom prst="round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43000" y="3895344"/>
            <a:ext cx="2103120" cy="201168"/>
          </a:xfrm>
          <a:prstGeom prst="rect">
            <a:avLst/>
          </a:prstGeom>
          <a:noFill/>
        </p:spPr>
        <p:txBody>
          <a:bodyPr wrap="square" lIns="36576" tIns="18288" rIns="36576" bIns="18288">
            <a:spAutoFit/>
          </a:bodyPr>
          <a:lstStyle/>
          <a:p>
            <a:pPr algn="l"/>
            <a:r>
              <a:rPr sz="1300" b="1">
                <a:solidFill>
                  <a:srgbClr val="EDB547"/>
                </a:solidFill>
                <a:latin typeface="Aptos"/>
              </a:rPr>
              <a:t>Technical contribution</a:t>
            </a:r>
          </a:p>
        </p:txBody>
      </p:sp>
      <p:sp>
        <p:nvSpPr>
          <p:cNvPr id="15" name="TextBox 14"/>
          <p:cNvSpPr txBox="1"/>
          <p:nvPr/>
        </p:nvSpPr>
        <p:spPr>
          <a:xfrm>
            <a:off x="3474720" y="3877056"/>
            <a:ext cx="7223760" cy="228600"/>
          </a:xfrm>
          <a:prstGeom prst="rect">
            <a:avLst/>
          </a:prstGeom>
          <a:noFill/>
        </p:spPr>
        <p:txBody>
          <a:bodyPr wrap="square" lIns="36576" tIns="18288" rIns="36576" bIns="18288">
            <a:spAutoFit/>
          </a:bodyPr>
          <a:lstStyle/>
          <a:p>
            <a:pPr algn="l"/>
            <a:r>
              <a:rPr sz="1500" b="1">
                <a:solidFill>
                  <a:srgbClr val="202B38"/>
                </a:solidFill>
                <a:latin typeface="Aptos"/>
              </a:rPr>
              <a:t>Async API, relational persistence, LLM integration, SM-2 review</a:t>
            </a:r>
          </a:p>
        </p:txBody>
      </p:sp>
      <p:sp>
        <p:nvSpPr>
          <p:cNvPr id="16" name="Rounded Rectangle 15"/>
          <p:cNvSpPr/>
          <p:nvPr/>
        </p:nvSpPr>
        <p:spPr>
          <a:xfrm>
            <a:off x="914400" y="4489704"/>
            <a:ext cx="10241280" cy="566928"/>
          </a:xfrm>
          <a:prstGeom prst="roundRect">
            <a:avLst/>
          </a:prstGeom>
          <a:solidFill>
            <a:srgbClr val="FFFFFF"/>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43000" y="4645152"/>
            <a:ext cx="2103120" cy="201168"/>
          </a:xfrm>
          <a:prstGeom prst="rect">
            <a:avLst/>
          </a:prstGeom>
          <a:noFill/>
        </p:spPr>
        <p:txBody>
          <a:bodyPr wrap="square" lIns="36576" tIns="18288" rIns="36576" bIns="18288">
            <a:spAutoFit/>
          </a:bodyPr>
          <a:lstStyle/>
          <a:p>
            <a:pPr algn="l"/>
            <a:r>
              <a:rPr sz="1300" b="1">
                <a:solidFill>
                  <a:srgbClr val="EB695B"/>
                </a:solidFill>
                <a:latin typeface="Aptos"/>
              </a:rPr>
              <a:t>Evidence position</a:t>
            </a:r>
          </a:p>
        </p:txBody>
      </p:sp>
      <p:sp>
        <p:nvSpPr>
          <p:cNvPr id="18" name="TextBox 17"/>
          <p:cNvSpPr txBox="1"/>
          <p:nvPr/>
        </p:nvSpPr>
        <p:spPr>
          <a:xfrm>
            <a:off x="3474720" y="4626864"/>
            <a:ext cx="7223760" cy="228600"/>
          </a:xfrm>
          <a:prstGeom prst="rect">
            <a:avLst/>
          </a:prstGeom>
          <a:noFill/>
        </p:spPr>
        <p:txBody>
          <a:bodyPr wrap="square" lIns="36576" tIns="18288" rIns="36576" bIns="18288">
            <a:spAutoFit/>
          </a:bodyPr>
          <a:lstStyle/>
          <a:p>
            <a:pPr algn="l"/>
            <a:r>
              <a:rPr sz="1500" b="1">
                <a:solidFill>
                  <a:srgbClr val="202B38"/>
                </a:solidFill>
                <a:latin typeface="Aptos"/>
              </a:rPr>
              <a:t>Core implementation is present; screenshots and outcome measurements remain required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47472"/>
            <a:ext cx="4114800" cy="228600"/>
          </a:xfrm>
          <a:prstGeom prst="rect">
            <a:avLst/>
          </a:prstGeom>
          <a:noFill/>
        </p:spPr>
        <p:txBody>
          <a:bodyPr wrap="square" lIns="36576" tIns="18288" rIns="36576" bIns="18288">
            <a:spAutoFit/>
          </a:bodyPr>
          <a:lstStyle/>
          <a:p>
            <a:pPr algn="l"/>
            <a:r>
              <a:rPr sz="900" b="1">
                <a:solidFill>
                  <a:srgbClr val="009196"/>
                </a:solidFill>
                <a:latin typeface="Aptos"/>
              </a:rPr>
              <a:t>PROJECT DEFENSE</a:t>
            </a:r>
          </a:p>
        </p:txBody>
      </p:sp>
      <p:sp>
        <p:nvSpPr>
          <p:cNvPr id="4" name="TextBox 3"/>
          <p:cNvSpPr txBox="1"/>
          <p:nvPr/>
        </p:nvSpPr>
        <p:spPr>
          <a:xfrm>
            <a:off x="502920" y="658368"/>
            <a:ext cx="10881360" cy="502920"/>
          </a:xfrm>
          <a:prstGeom prst="rect">
            <a:avLst/>
          </a:prstGeom>
          <a:noFill/>
        </p:spPr>
        <p:txBody>
          <a:bodyPr wrap="square" lIns="36576" tIns="18288" rIns="36576" bIns="18288">
            <a:spAutoFit/>
          </a:bodyPr>
          <a:lstStyle/>
          <a:p>
            <a:pPr algn="l"/>
            <a:r>
              <a:rPr sz="2700" b="1">
                <a:solidFill>
                  <a:srgbClr val="0F1F38"/>
                </a:solidFill>
                <a:latin typeface="Aptos"/>
              </a:rPr>
              <a:t>References and Evidence Sources</a:t>
            </a:r>
          </a:p>
        </p:txBody>
      </p:sp>
      <p:sp>
        <p:nvSpPr>
          <p:cNvPr id="5" name="TextBox 4"/>
          <p:cNvSpPr txBox="1"/>
          <p:nvPr/>
        </p:nvSpPr>
        <p:spPr>
          <a:xfrm>
            <a:off x="11201400" y="6473952"/>
            <a:ext cx="457200" cy="182880"/>
          </a:xfrm>
          <a:prstGeom prst="rect">
            <a:avLst/>
          </a:prstGeom>
          <a:noFill/>
        </p:spPr>
        <p:txBody>
          <a:bodyPr wrap="square" lIns="36576" tIns="18288" rIns="36576" bIns="18288">
            <a:spAutoFit/>
          </a:bodyPr>
          <a:lstStyle/>
          <a:p>
            <a:pPr algn="r"/>
            <a:r>
              <a:rPr sz="900" b="1">
                <a:solidFill>
                  <a:srgbClr val="5D6C7D"/>
                </a:solidFill>
                <a:latin typeface="Aptos"/>
              </a:rPr>
              <a:t>23</a:t>
            </a:r>
          </a:p>
        </p:txBody>
      </p:sp>
      <p:sp>
        <p:nvSpPr>
          <p:cNvPr id="6" name="TextBox 5"/>
          <p:cNvSpPr txBox="1"/>
          <p:nvPr/>
        </p:nvSpPr>
        <p:spPr>
          <a:xfrm>
            <a:off x="822960" y="1325880"/>
            <a:ext cx="10424160" cy="4480560"/>
          </a:xfrm>
          <a:prstGeom prst="rect">
            <a:avLst/>
          </a:prstGeom>
          <a:noFill/>
        </p:spPr>
        <p:txBody>
          <a:bodyPr wrap="square" lIns="54864">
            <a:spAutoFit/>
          </a:bodyPr>
          <a:lstStyle/>
          <a:p>
            <a:pPr>
              <a:spcAft>
                <a:spcPts val="179"/>
              </a:spcAft>
              <a:defRPr sz="1500">
                <a:solidFill>
                  <a:srgbClr val="202B38"/>
                </a:solidFill>
                <a:latin typeface="Aptos"/>
              </a:defRPr>
            </a:pPr>
            <a:r>
              <a:t>Project README.md - product overview, features, stack, setup, and reported test badge.</a:t>
            </a:r>
          </a:p>
          <a:p>
            <a:pPr>
              <a:spcAft>
                <a:spcPts val="179"/>
              </a:spcAft>
              <a:defRPr sz="1500">
                <a:solidFill>
                  <a:srgbClr val="202B38"/>
                </a:solidFill>
                <a:latin typeface="Aptos"/>
              </a:defRPr>
            </a:pPr>
            <a:r>
              <a:t>docs/architecture.md - architecture, request flows, security model, and design decisions.</a:t>
            </a:r>
          </a:p>
          <a:p>
            <a:pPr>
              <a:spcAft>
                <a:spcPts val="179"/>
              </a:spcAft>
              <a:defRPr sz="1500">
                <a:solidFill>
                  <a:srgbClr val="202B38"/>
                </a:solidFill>
                <a:latin typeface="Aptos"/>
              </a:defRPr>
            </a:pPr>
            <a:r>
              <a:t>backend/alembic/versions/001_initial_migration.py - database tables, keys, and relationships.</a:t>
            </a:r>
          </a:p>
          <a:p>
            <a:pPr>
              <a:spcAft>
                <a:spcPts val="179"/>
              </a:spcAft>
              <a:defRPr sz="1500">
                <a:solidFill>
                  <a:srgbClr val="202B38"/>
                </a:solidFill>
                <a:latin typeface="Aptos"/>
              </a:defRPr>
            </a:pPr>
            <a:r>
              <a:t>backend/app/main.py and backend/app/api/routes/ - API registration and implemented route behavior.</a:t>
            </a:r>
          </a:p>
          <a:p>
            <a:pPr>
              <a:spcAft>
                <a:spcPts val="179"/>
              </a:spcAft>
              <a:defRPr sz="1500">
                <a:solidFill>
                  <a:srgbClr val="202B38"/>
                </a:solidFill>
                <a:latin typeface="Aptos"/>
              </a:defRPr>
            </a:pPr>
            <a:r>
              <a:t>backend/app/services/learning_service.py - mastery calculations and learning progress behavior.</a:t>
            </a:r>
          </a:p>
          <a:p>
            <a:pPr>
              <a:spcAft>
                <a:spcPts val="179"/>
              </a:spcAft>
              <a:defRPr sz="1500">
                <a:solidFill>
                  <a:srgbClr val="202B38"/>
                </a:solidFill>
                <a:latin typeface="Aptos"/>
              </a:defRPr>
            </a:pPr>
            <a:r>
              <a:t>backend/app/api/routes/flashcards.py - SM-2 scheduling implementation.</a:t>
            </a:r>
          </a:p>
          <a:p>
            <a:pPr>
              <a:spcAft>
                <a:spcPts val="179"/>
              </a:spcAft>
              <a:defRPr sz="1500">
                <a:solidFill>
                  <a:srgbClr val="202B38"/>
                </a:solidFill>
                <a:latin typeface="Aptos"/>
              </a:defRPr>
            </a:pPr>
            <a:r>
              <a:t>backend/app/core/security.py and backend/app/api/deps.py - Clerk token verification and ownership dependency.</a:t>
            </a:r>
          </a:p>
          <a:p>
            <a:pPr>
              <a:spcAft>
                <a:spcPts val="179"/>
              </a:spcAft>
              <a:defRPr sz="1500">
                <a:solidFill>
                  <a:srgbClr val="202B38"/>
                </a:solidFill>
                <a:latin typeface="Aptos"/>
              </a:defRPr>
            </a:pPr>
            <a:r>
              <a:t>tests/ - standalone validation, extraction, scoring, SM-2, mastery, and security-oriented checks.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47472"/>
            <a:ext cx="4114800" cy="228600"/>
          </a:xfrm>
          <a:prstGeom prst="rect">
            <a:avLst/>
          </a:prstGeom>
          <a:noFill/>
        </p:spPr>
        <p:txBody>
          <a:bodyPr wrap="square" lIns="36576" tIns="18288" rIns="36576" bIns="18288">
            <a:spAutoFit/>
          </a:bodyPr>
          <a:lstStyle/>
          <a:p>
            <a:pPr algn="l"/>
            <a:r>
              <a:rPr sz="900" b="1">
                <a:solidFill>
                  <a:srgbClr val="009196"/>
                </a:solidFill>
                <a:latin typeface="Aptos"/>
              </a:rPr>
              <a:t>PROJECT DEFENSE</a:t>
            </a:r>
          </a:p>
        </p:txBody>
      </p:sp>
      <p:sp>
        <p:nvSpPr>
          <p:cNvPr id="4" name="TextBox 3"/>
          <p:cNvSpPr txBox="1"/>
          <p:nvPr/>
        </p:nvSpPr>
        <p:spPr>
          <a:xfrm>
            <a:off x="502920" y="658368"/>
            <a:ext cx="10881360" cy="502920"/>
          </a:xfrm>
          <a:prstGeom prst="rect">
            <a:avLst/>
          </a:prstGeom>
          <a:noFill/>
        </p:spPr>
        <p:txBody>
          <a:bodyPr wrap="square" lIns="36576" tIns="18288" rIns="36576" bIns="18288">
            <a:spAutoFit/>
          </a:bodyPr>
          <a:lstStyle/>
          <a:p>
            <a:pPr algn="l"/>
            <a:r>
              <a:rPr sz="2700" b="1">
                <a:solidFill>
                  <a:srgbClr val="0F1F38"/>
                </a:solidFill>
                <a:latin typeface="Aptos"/>
              </a:rPr>
              <a:t>Viva Preparation: Likely Questions</a:t>
            </a:r>
          </a:p>
        </p:txBody>
      </p:sp>
      <p:sp>
        <p:nvSpPr>
          <p:cNvPr id="5" name="TextBox 4"/>
          <p:cNvSpPr txBox="1"/>
          <p:nvPr/>
        </p:nvSpPr>
        <p:spPr>
          <a:xfrm>
            <a:off x="11201400" y="6473952"/>
            <a:ext cx="457200" cy="182880"/>
          </a:xfrm>
          <a:prstGeom prst="rect">
            <a:avLst/>
          </a:prstGeom>
          <a:noFill/>
        </p:spPr>
        <p:txBody>
          <a:bodyPr wrap="square" lIns="36576" tIns="18288" rIns="36576" bIns="18288">
            <a:spAutoFit/>
          </a:bodyPr>
          <a:lstStyle/>
          <a:p>
            <a:pPr algn="r"/>
            <a:r>
              <a:rPr sz="900" b="1">
                <a:solidFill>
                  <a:srgbClr val="5D6C7D"/>
                </a:solidFill>
                <a:latin typeface="Aptos"/>
              </a:rPr>
              <a:t>24</a:t>
            </a:r>
          </a:p>
        </p:txBody>
      </p:sp>
      <p:sp>
        <p:nvSpPr>
          <p:cNvPr id="6" name="Rounded Rectangle 5"/>
          <p:cNvSpPr/>
          <p:nvPr/>
        </p:nvSpPr>
        <p:spPr>
          <a:xfrm>
            <a:off x="685800" y="1280160"/>
            <a:ext cx="3520440" cy="4480560"/>
          </a:xfrm>
          <a:prstGeom prst="roundRect">
            <a:avLst/>
          </a:prstGeom>
          <a:solidFill>
            <a:srgbClr val="E1F6F5"/>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280160"/>
            <a:ext cx="73152" cy="4480560"/>
          </a:xfrm>
          <a:prstGeom prst="rect">
            <a:avLst/>
          </a:prstGeom>
          <a:solidFill>
            <a:srgbClr val="009196"/>
          </a:solidFill>
          <a:ln w="8890">
            <a:solidFill>
              <a:srgbClr val="0091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444751"/>
            <a:ext cx="3154680" cy="274320"/>
          </a:xfrm>
          <a:prstGeom prst="rect">
            <a:avLst/>
          </a:prstGeom>
          <a:noFill/>
        </p:spPr>
        <p:txBody>
          <a:bodyPr wrap="square" lIns="36576" tIns="18288" rIns="36576" bIns="18288">
            <a:spAutoFit/>
          </a:bodyPr>
          <a:lstStyle/>
          <a:p>
            <a:pPr algn="l"/>
            <a:r>
              <a:rPr sz="1500" b="1">
                <a:solidFill>
                  <a:srgbClr val="0F1F38"/>
                </a:solidFill>
                <a:latin typeface="Aptos"/>
              </a:rPr>
              <a:t>Basic</a:t>
            </a:r>
          </a:p>
        </p:txBody>
      </p:sp>
      <p:sp>
        <p:nvSpPr>
          <p:cNvPr id="9" name="TextBox 8"/>
          <p:cNvSpPr txBox="1"/>
          <p:nvPr/>
        </p:nvSpPr>
        <p:spPr>
          <a:xfrm>
            <a:off x="886968" y="1847088"/>
            <a:ext cx="3154680" cy="3785616"/>
          </a:xfrm>
          <a:prstGeom prst="rect">
            <a:avLst/>
          </a:prstGeom>
          <a:noFill/>
        </p:spPr>
        <p:txBody>
          <a:bodyPr wrap="square" lIns="36576" tIns="18288" rIns="36576" bIns="18288">
            <a:spAutoFit/>
          </a:bodyPr>
          <a:lstStyle/>
          <a:p>
            <a:pPr algn="l"/>
            <a:r>
              <a:rPr sz="1300" b="0">
                <a:solidFill>
                  <a:srgbClr val="202B38"/>
                </a:solidFill>
                <a:latin typeface="Aptos"/>
              </a:rPr>
              <a:t>Q: What is the project?
A: An AI-powered learning assistant that turns uploaded study material into summaries, quizzes, flashcards, and tutor interactions.
Q: Why this topic?
A: To connect content preparation, active recall, and progress tracking in one workflow.</a:t>
            </a:r>
          </a:p>
        </p:txBody>
      </p:sp>
      <p:sp>
        <p:nvSpPr>
          <p:cNvPr id="10" name="Rounded Rectangle 9"/>
          <p:cNvSpPr/>
          <p:nvPr/>
        </p:nvSpPr>
        <p:spPr>
          <a:xfrm>
            <a:off x="4343400" y="1280160"/>
            <a:ext cx="3520440" cy="4480560"/>
          </a:xfrm>
          <a:prstGeom prst="roundRect">
            <a:avLst/>
          </a:prstGeom>
          <a:solidFill>
            <a:srgbClr val="FFF6DC"/>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43400" y="1280160"/>
            <a:ext cx="73152" cy="4480560"/>
          </a:xfrm>
          <a:prstGeom prst="rect">
            <a:avLst/>
          </a:prstGeom>
          <a:solidFill>
            <a:srgbClr val="EDB547"/>
          </a:solidFill>
          <a:ln w="8890">
            <a:solidFill>
              <a:srgbClr val="EDB5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44568" y="1444751"/>
            <a:ext cx="3154680" cy="274320"/>
          </a:xfrm>
          <a:prstGeom prst="rect">
            <a:avLst/>
          </a:prstGeom>
          <a:noFill/>
        </p:spPr>
        <p:txBody>
          <a:bodyPr wrap="square" lIns="36576" tIns="18288" rIns="36576" bIns="18288">
            <a:spAutoFit/>
          </a:bodyPr>
          <a:lstStyle/>
          <a:p>
            <a:pPr algn="l"/>
            <a:r>
              <a:rPr sz="1500" b="1">
                <a:solidFill>
                  <a:srgbClr val="0F1F38"/>
                </a:solidFill>
                <a:latin typeface="Aptos"/>
              </a:rPr>
              <a:t>Technical</a:t>
            </a:r>
          </a:p>
        </p:txBody>
      </p:sp>
      <p:sp>
        <p:nvSpPr>
          <p:cNvPr id="13" name="TextBox 12"/>
          <p:cNvSpPr txBox="1"/>
          <p:nvPr/>
        </p:nvSpPr>
        <p:spPr>
          <a:xfrm>
            <a:off x="4544568" y="1847088"/>
            <a:ext cx="3154680" cy="3785616"/>
          </a:xfrm>
          <a:prstGeom prst="rect">
            <a:avLst/>
          </a:prstGeom>
          <a:noFill/>
        </p:spPr>
        <p:txBody>
          <a:bodyPr wrap="square" lIns="36576" tIns="18288" rIns="36576" bIns="18288">
            <a:spAutoFit/>
          </a:bodyPr>
          <a:lstStyle/>
          <a:p>
            <a:pPr algn="l"/>
            <a:r>
              <a:rPr sz="1300" b="0">
                <a:solidFill>
                  <a:srgbClr val="202B38"/>
                </a:solidFill>
                <a:latin typeface="Aptos"/>
              </a:rPr>
              <a:t>Q: Why FastAPI?
A: It fits the async REST and streaming API design.
Q: Why Clerk?
A: It provides signed identity tokens while the backend enforces local ownership.
Q: How does SM-2 work?
A: Quality ratings update repetitions, ease factor, interval, and next review date.</a:t>
            </a:r>
          </a:p>
        </p:txBody>
      </p:sp>
      <p:sp>
        <p:nvSpPr>
          <p:cNvPr id="14" name="Rounded Rectangle 13"/>
          <p:cNvSpPr/>
          <p:nvPr/>
        </p:nvSpPr>
        <p:spPr>
          <a:xfrm>
            <a:off x="8001000" y="1280160"/>
            <a:ext cx="3520440" cy="4480560"/>
          </a:xfrm>
          <a:prstGeom prst="roundRect">
            <a:avLst/>
          </a:prstGeom>
          <a:solidFill>
            <a:srgbClr val="FDEBE8"/>
          </a:solidFill>
          <a:ln w="8890">
            <a:solidFill>
              <a:srgbClr val="E0E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01000" y="1280160"/>
            <a:ext cx="73152" cy="4480560"/>
          </a:xfrm>
          <a:prstGeom prst="rect">
            <a:avLst/>
          </a:prstGeom>
          <a:solidFill>
            <a:srgbClr val="EB695B"/>
          </a:solidFill>
          <a:ln w="8890">
            <a:solidFill>
              <a:srgbClr val="EB6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02168" y="1444751"/>
            <a:ext cx="3154680" cy="274320"/>
          </a:xfrm>
          <a:prstGeom prst="rect">
            <a:avLst/>
          </a:prstGeom>
          <a:noFill/>
        </p:spPr>
        <p:txBody>
          <a:bodyPr wrap="square" lIns="36576" tIns="18288" rIns="36576" bIns="18288">
            <a:spAutoFit/>
          </a:bodyPr>
          <a:lstStyle/>
          <a:p>
            <a:pPr algn="l"/>
            <a:r>
              <a:rPr sz="1500" b="1">
                <a:solidFill>
                  <a:srgbClr val="0F1F38"/>
                </a:solidFill>
                <a:latin typeface="Aptos"/>
              </a:rPr>
              <a:t>Critical</a:t>
            </a:r>
          </a:p>
        </p:txBody>
      </p:sp>
      <p:sp>
        <p:nvSpPr>
          <p:cNvPr id="17" name="TextBox 16"/>
          <p:cNvSpPr txBox="1"/>
          <p:nvPr/>
        </p:nvSpPr>
        <p:spPr>
          <a:xfrm>
            <a:off x="8202168" y="1847088"/>
            <a:ext cx="3154680" cy="3785616"/>
          </a:xfrm>
          <a:prstGeom prst="rect">
            <a:avLst/>
          </a:prstGeom>
          <a:noFill/>
        </p:spPr>
        <p:txBody>
          <a:bodyPr wrap="square" lIns="36576" tIns="18288" rIns="36576" bIns="18288">
            <a:spAutoFit/>
          </a:bodyPr>
          <a:lstStyle/>
          <a:p>
            <a:pPr algn="l"/>
            <a:r>
              <a:rPr sz="1300" b="0">
                <a:solidFill>
                  <a:srgbClr val="202B38"/>
                </a:solidFill>
                <a:latin typeface="Aptos"/>
              </a:rPr>
              <a:t>Q: What are limitations?
A: No measured outcome study, production deployment evidence, or durable job queue is supplied.
Q: How would you improve it?
A: Add integration evidence, durable processing, privacy controls, observability, and learning evaluation.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F1F38"/>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82880"/>
          </a:xfrm>
          <a:prstGeom prst="rect">
            <a:avLst/>
          </a:prstGeom>
          <a:solidFill>
            <a:srgbClr val="EB695B"/>
          </a:solidFill>
          <a:ln w="8890">
            <a:solidFill>
              <a:srgbClr val="EB6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508760"/>
            <a:ext cx="10698480" cy="640080"/>
          </a:xfrm>
          <a:prstGeom prst="rect">
            <a:avLst/>
          </a:prstGeom>
          <a:noFill/>
        </p:spPr>
        <p:txBody>
          <a:bodyPr wrap="square" lIns="36576" tIns="18288" rIns="36576" bIns="18288">
            <a:spAutoFit/>
          </a:bodyPr>
          <a:lstStyle/>
          <a:p>
            <a:pPr algn="ctr"/>
            <a:r>
              <a:rPr sz="4200" b="1">
                <a:solidFill>
                  <a:srgbClr val="FFFFFF"/>
                </a:solidFill>
                <a:latin typeface="Aptos"/>
              </a:rPr>
              <a:t>THANK YOU</a:t>
            </a:r>
          </a:p>
        </p:txBody>
      </p:sp>
      <p:sp>
        <p:nvSpPr>
          <p:cNvPr id="4" name="TextBox 3"/>
          <p:cNvSpPr txBox="1"/>
          <p:nvPr/>
        </p:nvSpPr>
        <p:spPr>
          <a:xfrm>
            <a:off x="731520" y="2423160"/>
            <a:ext cx="10698480" cy="411480"/>
          </a:xfrm>
          <a:prstGeom prst="rect">
            <a:avLst/>
          </a:prstGeom>
          <a:noFill/>
        </p:spPr>
        <p:txBody>
          <a:bodyPr wrap="square" lIns="36576" tIns="18288" rIns="36576" bIns="18288">
            <a:spAutoFit/>
          </a:bodyPr>
          <a:lstStyle/>
          <a:p>
            <a:pPr algn="ctr"/>
            <a:r>
              <a:rPr sz="2200" b="0">
                <a:solidFill>
                  <a:srgbClr val="CEDCE8"/>
                </a:solidFill>
                <a:latin typeface="Aptos"/>
              </a:rPr>
              <a:t>Questions and discussion</a:t>
            </a:r>
          </a:p>
        </p:txBody>
      </p:sp>
      <p:sp>
        <p:nvSpPr>
          <p:cNvPr id="5" name="TextBox 4"/>
          <p:cNvSpPr txBox="1"/>
          <p:nvPr/>
        </p:nvSpPr>
        <p:spPr>
          <a:xfrm>
            <a:off x="731520" y="4343400"/>
            <a:ext cx="10698480" cy="529376"/>
          </a:xfrm>
          <a:prstGeom prst="rect">
            <a:avLst/>
          </a:prstGeom>
          <a:noFill/>
        </p:spPr>
        <p:txBody>
          <a:bodyPr wrap="square" lIns="36576" tIns="18288" rIns="36576" bIns="18288">
            <a:spAutoFit/>
          </a:bodyPr>
          <a:lstStyle/>
          <a:p>
            <a:pPr algn="ctr"/>
            <a:r>
              <a:rPr sz="1600" b="1" dirty="0">
                <a:solidFill>
                  <a:srgbClr val="EDB547"/>
                </a:solidFill>
                <a:latin typeface="Aptos"/>
              </a:rPr>
              <a:t>AI-Powered Study Buddy
</a:t>
            </a:r>
            <a:r>
              <a:rPr lang="en-US" sz="1600" b="1" dirty="0">
                <a:solidFill>
                  <a:srgbClr val="EDB547"/>
                </a:solidFill>
                <a:latin typeface="Aptos"/>
              </a:rPr>
              <a:t>Nitin Mali.  Mail to: </a:t>
            </a:r>
            <a:r>
              <a:rPr lang="en-US" sz="1600" b="1" dirty="0">
                <a:solidFill>
                  <a:srgbClr val="EDB547"/>
                </a:solidFill>
                <a:latin typeface="Aptos"/>
                <a:hlinkClick r:id="rId3"/>
              </a:rPr>
              <a:t>malinitin.jd@gmail.com</a:t>
            </a:r>
            <a:endParaRPr sz="1600" b="1" dirty="0">
              <a:solidFill>
                <a:srgbClr val="EDB547"/>
              </a:solidFill>
              <a:latin typeface="Apto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3045</Words>
  <Application>Microsoft Office PowerPoint</Application>
  <PresentationFormat>Widescreen</PresentationFormat>
  <Paragraphs>337</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Study Buddy - Academic Project Presentation</dc:title>
  <dc:subject>Project-aligned technical presentation</dc:subject>
  <dc:creator>Generated from repository evidence</dc:creator>
  <cp:keywords/>
  <dc:description>generated using python-pptx</dc:description>
  <cp:lastModifiedBy>Nitin Mali</cp:lastModifiedBy>
  <cp:revision>1</cp:revision>
  <dcterms:created xsi:type="dcterms:W3CDTF">2013-01-27T09:14:16Z</dcterms:created>
  <dcterms:modified xsi:type="dcterms:W3CDTF">2026-08-24T14:28:48Z</dcterms:modified>
  <cp:category/>
</cp:coreProperties>
</file>